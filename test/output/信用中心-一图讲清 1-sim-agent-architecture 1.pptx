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slideLayout" Target="../slideLayouts/slideLayout1.xml"/><Relationship Id="rId4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665" y="590904"/>
            <a:ext cx="1746398" cy="19138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65" y="590904"/>
            <a:ext cx="1746398" cy="2488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31353" y="605258"/>
            <a:ext cx="350236" cy="13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endParaRPr lang="en-US" sz="904" dirty="0"/>
          </a:p>
        </p:txBody>
      </p:sp>
      <p:sp>
        <p:nvSpPr>
          <p:cNvPr id="5" name="Text 1"/>
          <p:cNvSpPr/>
          <p:nvPr/>
        </p:nvSpPr>
        <p:spPr>
          <a:xfrm>
            <a:off x="1556713" y="753583"/>
            <a:ext cx="499518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E5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为什么做 · 必要性</a:t>
            </a:r>
            <a:endParaRPr lang="en-US" sz="414" dirty="0"/>
          </a:p>
        </p:txBody>
      </p:sp>
      <p:sp>
        <p:nvSpPr>
          <p:cNvPr id="6" name="Text 2"/>
          <p:cNvSpPr/>
          <p:nvPr/>
        </p:nvSpPr>
        <p:spPr>
          <a:xfrm>
            <a:off x="1378724" y="887553"/>
            <a:ext cx="855496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时代的治理空白</a:t>
            </a:r>
            <a:endParaRPr lang="en-US" sz="49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35" y="1011954"/>
            <a:ext cx="1602858" cy="2583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9205" y="1050231"/>
            <a:ext cx="44784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这个 AI 是谁？</a:t>
            </a:r>
            <a:endParaRPr lang="en-US" sz="452" dirty="0"/>
          </a:p>
        </p:txBody>
      </p:sp>
      <p:sp>
        <p:nvSpPr>
          <p:cNvPr id="9" name="Text 4"/>
          <p:cNvSpPr/>
          <p:nvPr/>
        </p:nvSpPr>
        <p:spPr>
          <a:xfrm>
            <a:off x="1079205" y="1150709"/>
            <a:ext cx="94161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没有统一身份基础设施 · 互不认账</a:t>
            </a:r>
            <a:endParaRPr lang="en-US" sz="41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35" y="1308602"/>
            <a:ext cx="1602858" cy="2583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9205" y="1346879"/>
            <a:ext cx="48229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出了事谁负责？</a:t>
            </a:r>
            <a:endParaRPr lang="en-US" sz="452" dirty="0"/>
          </a:p>
        </p:txBody>
      </p:sp>
      <p:sp>
        <p:nvSpPr>
          <p:cNvPr id="12" name="Text 6"/>
          <p:cNvSpPr/>
          <p:nvPr/>
        </p:nvSpPr>
        <p:spPr>
          <a:xfrm>
            <a:off x="1079205" y="1447357"/>
            <a:ext cx="889945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没有法人资格 · 行为无法追责</a:t>
            </a:r>
            <a:endParaRPr lang="en-US" sz="41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35" y="1605250"/>
            <a:ext cx="1602858" cy="2583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79205" y="1643528"/>
            <a:ext cx="48229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凭什么相信它？</a:t>
            </a:r>
            <a:endParaRPr lang="en-US" sz="452" dirty="0"/>
          </a:p>
        </p:txBody>
      </p:sp>
      <p:sp>
        <p:nvSpPr>
          <p:cNvPr id="15" name="Text 8"/>
          <p:cNvSpPr/>
          <p:nvPr/>
        </p:nvSpPr>
        <p:spPr>
          <a:xfrm>
            <a:off x="1079205" y="1744005"/>
            <a:ext cx="68899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C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行为黑盒 · 没有信用积累</a:t>
            </a:r>
            <a:endParaRPr lang="en-US" sz="414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35" y="1911468"/>
            <a:ext cx="1602858" cy="5263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01690" y="1968884"/>
            <a:ext cx="80956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让每个 AI Agent 像人一样</a:t>
            </a:r>
            <a:endParaRPr lang="en-US" sz="452" dirty="0"/>
          </a:p>
        </p:txBody>
      </p:sp>
      <p:sp>
        <p:nvSpPr>
          <p:cNvPr id="18" name="Text 10"/>
          <p:cNvSpPr/>
          <p:nvPr/>
        </p:nvSpPr>
        <p:spPr>
          <a:xfrm>
            <a:off x="1103128" y="2088500"/>
            <a:ext cx="625832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有身份证 → 可识别</a:t>
            </a:r>
            <a:endParaRPr lang="en-US" sz="452" dirty="0"/>
          </a:p>
        </p:txBody>
      </p:sp>
      <p:sp>
        <p:nvSpPr>
          <p:cNvPr id="19" name="Text 11"/>
          <p:cNvSpPr/>
          <p:nvPr/>
        </p:nvSpPr>
        <p:spPr>
          <a:xfrm>
            <a:off x="1868672" y="2088500"/>
            <a:ext cx="55693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有档案 → 可追溯</a:t>
            </a:r>
            <a:endParaRPr lang="en-US" sz="452" dirty="0"/>
          </a:p>
        </p:txBody>
      </p:sp>
      <p:sp>
        <p:nvSpPr>
          <p:cNvPr id="20" name="Text 12"/>
          <p:cNvSpPr/>
          <p:nvPr/>
        </p:nvSpPr>
        <p:spPr>
          <a:xfrm>
            <a:off x="1103128" y="2193763"/>
            <a:ext cx="55693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有信用 → 可验证</a:t>
            </a:r>
            <a:endParaRPr lang="en-US" sz="452" dirty="0"/>
          </a:p>
        </p:txBody>
      </p:sp>
      <p:sp>
        <p:nvSpPr>
          <p:cNvPr id="21" name="Text 13"/>
          <p:cNvSpPr/>
          <p:nvPr/>
        </p:nvSpPr>
        <p:spPr>
          <a:xfrm>
            <a:off x="1868672" y="2193763"/>
            <a:ext cx="55693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有归属 → 可协作</a:t>
            </a:r>
            <a:endParaRPr lang="en-US" sz="452" dirty="0"/>
          </a:p>
        </p:txBody>
      </p:sp>
      <p:sp>
        <p:nvSpPr>
          <p:cNvPr id="22" name="Text 14"/>
          <p:cNvSpPr/>
          <p:nvPr/>
        </p:nvSpPr>
        <p:spPr>
          <a:xfrm>
            <a:off x="1441881" y="2327733"/>
            <a:ext cx="729181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从"治理盲区"→"治理对象"</a:t>
            </a:r>
            <a:endParaRPr lang="en-US" sz="414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6847" y="1547835"/>
            <a:ext cx="47847" cy="11962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9909" y="590904"/>
            <a:ext cx="1746398" cy="191386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9909" y="590904"/>
            <a:ext cx="1746398" cy="24880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385407" y="605258"/>
            <a:ext cx="430619" cy="13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</a:t>
            </a:r>
            <a:endParaRPr lang="en-US" sz="904" dirty="0"/>
          </a:p>
        </p:txBody>
      </p:sp>
      <p:sp>
        <p:nvSpPr>
          <p:cNvPr id="27" name="Text 16"/>
          <p:cNvSpPr/>
          <p:nvPr/>
        </p:nvSpPr>
        <p:spPr>
          <a:xfrm>
            <a:off x="3350957" y="753583"/>
            <a:ext cx="499518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DCE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是什么 · 核心能力</a:t>
            </a:r>
            <a:endParaRPr lang="en-US" sz="414" dirty="0"/>
          </a:p>
        </p:txBody>
      </p:sp>
      <p:sp>
        <p:nvSpPr>
          <p:cNvPr id="28" name="Text 17"/>
          <p:cNvSpPr/>
          <p:nvPr/>
        </p:nvSpPr>
        <p:spPr>
          <a:xfrm>
            <a:off x="3078232" y="887553"/>
            <a:ext cx="1044968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身份签发、行为档案与可信协作</a:t>
            </a:r>
            <a:endParaRPr lang="en-US" sz="49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1679" y="1011954"/>
            <a:ext cx="1602858" cy="315787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2873449" y="1050231"/>
            <a:ext cx="459327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身份与凭证</a:t>
            </a:r>
            <a:endParaRPr lang="en-US" sz="452" dirty="0"/>
          </a:p>
        </p:txBody>
      </p:sp>
      <p:sp>
        <p:nvSpPr>
          <p:cNvPr id="31" name="Text 19"/>
          <p:cNvSpPr/>
          <p:nvPr/>
        </p:nvSpPr>
        <p:spPr>
          <a:xfrm>
            <a:off x="2873449" y="1145924"/>
            <a:ext cx="105070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novo_id（系统内唯一）+ 数字身份证</a:t>
            </a:r>
            <a:endParaRPr lang="en-US" sz="414" dirty="0"/>
          </a:p>
        </p:txBody>
      </p:sp>
      <p:sp>
        <p:nvSpPr>
          <p:cNvPr id="32" name="Text 20"/>
          <p:cNvSpPr/>
          <p:nvPr/>
        </p:nvSpPr>
        <p:spPr>
          <a:xfrm>
            <a:off x="2873449" y="1232048"/>
            <a:ext cx="79808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根密钥签发 · 公开可验</a:t>
            </a:r>
            <a:endParaRPr lang="en-US" sz="414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1679" y="1366018"/>
            <a:ext cx="1602858" cy="315787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873449" y="1404295"/>
            <a:ext cx="746406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生命周期 + 演化日志</a:t>
            </a:r>
            <a:endParaRPr lang="en-US" sz="452" dirty="0"/>
          </a:p>
        </p:txBody>
      </p:sp>
      <p:sp>
        <p:nvSpPr>
          <p:cNvPr id="35" name="Text 22"/>
          <p:cNvSpPr/>
          <p:nvPr/>
        </p:nvSpPr>
        <p:spPr>
          <a:xfrm>
            <a:off x="2873449" y="1499988"/>
            <a:ext cx="90717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活跃/暂停/撤销/归档 + 顺序存证</a:t>
            </a:r>
            <a:endParaRPr lang="en-US" sz="414" dirty="0"/>
          </a:p>
        </p:txBody>
      </p:sp>
      <p:sp>
        <p:nvSpPr>
          <p:cNvPr id="36" name="Text 23"/>
          <p:cNvSpPr/>
          <p:nvPr/>
        </p:nvSpPr>
        <p:spPr>
          <a:xfrm>
            <a:off x="2873449" y="1586112"/>
            <a:ext cx="694731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行为可验证、可追溯机制</a:t>
            </a:r>
            <a:endParaRPr lang="en-US" sz="414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1679" y="1720082"/>
            <a:ext cx="1602858" cy="315787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2873449" y="1758359"/>
            <a:ext cx="528225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信用评价机制</a:t>
            </a:r>
            <a:endParaRPr lang="en-US" sz="452" dirty="0"/>
          </a:p>
        </p:txBody>
      </p:sp>
      <p:sp>
        <p:nvSpPr>
          <p:cNvPr id="39" name="Text 25"/>
          <p:cNvSpPr/>
          <p:nvPr/>
        </p:nvSpPr>
        <p:spPr>
          <a:xfrm>
            <a:off x="2873449" y="1854052"/>
            <a:ext cx="86123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 Agent 评分 + 群体信用传播</a:t>
            </a:r>
            <a:endParaRPr lang="en-US" sz="414" dirty="0"/>
          </a:p>
        </p:txBody>
      </p:sp>
      <p:sp>
        <p:nvSpPr>
          <p:cNvPr id="40" name="Text 26"/>
          <p:cNvSpPr/>
          <p:nvPr/>
        </p:nvSpPr>
        <p:spPr>
          <a:xfrm>
            <a:off x="2873449" y="1940176"/>
            <a:ext cx="68899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实时画像门户 · 时间衰减</a:t>
            </a:r>
            <a:endParaRPr lang="en-US" sz="414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01679" y="2074146"/>
            <a:ext cx="1602858" cy="315787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2873449" y="2112423"/>
            <a:ext cx="39042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对外服务</a:t>
            </a:r>
            <a:endParaRPr lang="en-US" sz="452" dirty="0"/>
          </a:p>
        </p:txBody>
      </p:sp>
      <p:sp>
        <p:nvSpPr>
          <p:cNvPr id="43" name="Text 28"/>
          <p:cNvSpPr/>
          <p:nvPr/>
        </p:nvSpPr>
        <p:spPr>
          <a:xfrm>
            <a:off x="2873449" y="2208117"/>
            <a:ext cx="815305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状态查询 · 第三方独立可验证</a:t>
            </a:r>
            <a:endParaRPr lang="en-US" sz="414" dirty="0"/>
          </a:p>
        </p:txBody>
      </p:sp>
      <p:sp>
        <p:nvSpPr>
          <p:cNvPr id="44" name="Text 29"/>
          <p:cNvSpPr/>
          <p:nvPr/>
        </p:nvSpPr>
        <p:spPr>
          <a:xfrm>
            <a:off x="2873449" y="2294240"/>
            <a:ext cx="86697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2E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失信惩戒 · 历史档案 · 监管取证</a:t>
            </a:r>
            <a:endParaRPr lang="en-US" sz="414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1092" y="1547835"/>
            <a:ext cx="47847" cy="11962"/>
          </a:xfrm>
          <a:prstGeom prst="rect">
            <a:avLst/>
          </a:prstGeom>
        </p:spPr>
      </p:pic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4153" y="590904"/>
            <a:ext cx="1746398" cy="1913860"/>
          </a:xfrm>
          <a:prstGeom prst="rect">
            <a:avLst/>
          </a:prstGeom>
        </p:spPr>
      </p:pic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153" y="590904"/>
            <a:ext cx="1746398" cy="248802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5219842" y="605258"/>
            <a:ext cx="350236" cy="13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904" dirty="0"/>
          </a:p>
        </p:txBody>
      </p:sp>
      <p:sp>
        <p:nvSpPr>
          <p:cNvPr id="49" name="Text 31"/>
          <p:cNvSpPr/>
          <p:nvPr/>
        </p:nvSpPr>
        <p:spPr>
          <a:xfrm>
            <a:off x="5145201" y="753583"/>
            <a:ext cx="499518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EAE0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怎么做 · 思路原则</a:t>
            </a:r>
            <a:endParaRPr lang="en-US" sz="414" dirty="0"/>
          </a:p>
        </p:txBody>
      </p:sp>
      <p:sp>
        <p:nvSpPr>
          <p:cNvPr id="50" name="Text 32"/>
          <p:cNvSpPr/>
          <p:nvPr/>
        </p:nvSpPr>
        <p:spPr>
          <a:xfrm>
            <a:off x="4860993" y="887553"/>
            <a:ext cx="1067934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多方共建 + 国密优先 + 闭环治理</a:t>
            </a:r>
            <a:endParaRPr lang="en-US" sz="49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5923" y="1011954"/>
            <a:ext cx="1602858" cy="315787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4667693" y="1050231"/>
            <a:ext cx="666023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与运营商深度合作</a:t>
            </a:r>
            <a:endParaRPr lang="en-US" sz="452" dirty="0"/>
          </a:p>
        </p:txBody>
      </p:sp>
      <p:sp>
        <p:nvSpPr>
          <p:cNvPr id="53" name="Text 34"/>
          <p:cNvSpPr/>
          <p:nvPr/>
        </p:nvSpPr>
        <p:spPr>
          <a:xfrm>
            <a:off x="4667693" y="1145924"/>
            <a:ext cx="105070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运营商负责卡真实性 · Novo 负责身份</a:t>
            </a:r>
            <a:endParaRPr lang="en-US" sz="414" dirty="0"/>
          </a:p>
        </p:txBody>
      </p:sp>
      <p:sp>
        <p:nvSpPr>
          <p:cNvPr id="54" name="Text 35"/>
          <p:cNvSpPr/>
          <p:nvPr/>
        </p:nvSpPr>
        <p:spPr>
          <a:xfrm>
            <a:off x="4667693" y="1232048"/>
            <a:ext cx="671765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AI-eSIM 是 AI 身份载体</a:t>
            </a:r>
            <a:endParaRPr lang="en-US" sz="414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5923" y="1366018"/>
            <a:ext cx="1602858" cy="315787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4667693" y="1404295"/>
            <a:ext cx="39042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三道防线</a:t>
            </a:r>
            <a:endParaRPr lang="en-US" sz="452" dirty="0"/>
          </a:p>
        </p:txBody>
      </p:sp>
      <p:sp>
        <p:nvSpPr>
          <p:cNvPr id="57" name="Text 37"/>
          <p:cNvSpPr/>
          <p:nvPr/>
        </p:nvSpPr>
        <p:spPr>
          <a:xfrm>
            <a:off x="4667693" y="1499988"/>
            <a:ext cx="97606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ICCID 白名单 + 公钥比对 + 卡签名</a:t>
            </a:r>
            <a:endParaRPr lang="en-US" sz="414" dirty="0"/>
          </a:p>
        </p:txBody>
      </p:sp>
      <p:sp>
        <p:nvSpPr>
          <p:cNvPr id="58" name="Text 38"/>
          <p:cNvSpPr/>
          <p:nvPr/>
        </p:nvSpPr>
        <p:spPr>
          <a:xfrm>
            <a:off x="4667693" y="1586112"/>
            <a:ext cx="815305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任一不过即拒绝 · 挡批量造假</a:t>
            </a:r>
            <a:endParaRPr lang="en-US" sz="414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95923" y="1720082"/>
            <a:ext cx="1602858" cy="315787"/>
          </a:xfrm>
          <a:prstGeom prst="rect">
            <a:avLst/>
          </a:prstGeom>
        </p:spPr>
      </p:pic>
      <p:sp>
        <p:nvSpPr>
          <p:cNvPr id="60" name="Text 39"/>
          <p:cNvSpPr/>
          <p:nvPr/>
        </p:nvSpPr>
        <p:spPr>
          <a:xfrm>
            <a:off x="4667693" y="1758359"/>
            <a:ext cx="71769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国密优先 · 密码敏捷</a:t>
            </a:r>
            <a:endParaRPr lang="en-US" sz="452" dirty="0"/>
          </a:p>
        </p:txBody>
      </p:sp>
      <p:sp>
        <p:nvSpPr>
          <p:cNvPr id="61" name="Text 40"/>
          <p:cNvSpPr/>
          <p:nvPr/>
        </p:nvSpPr>
        <p:spPr>
          <a:xfrm>
            <a:off x="4667693" y="1854052"/>
            <a:ext cx="1067934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SM2/SM3/SM4-GCM + ECDSA 兼容</a:t>
            </a:r>
            <a:endParaRPr lang="en-US" sz="414" dirty="0"/>
          </a:p>
        </p:txBody>
      </p:sp>
      <p:sp>
        <p:nvSpPr>
          <p:cNvPr id="62" name="Text 41"/>
          <p:cNvSpPr/>
          <p:nvPr/>
        </p:nvSpPr>
        <p:spPr>
          <a:xfrm>
            <a:off x="4667693" y="1940176"/>
            <a:ext cx="75214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抗量子 · 档案根时间戳锚定</a:t>
            </a:r>
            <a:endParaRPr lang="en-US" sz="414" dirty="0"/>
          </a:p>
        </p:txBody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95923" y="2074146"/>
            <a:ext cx="1602858" cy="315787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4667693" y="2112423"/>
            <a:ext cx="861237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SHIELD 四中心协同闭环</a:t>
            </a:r>
            <a:endParaRPr lang="en-US" sz="452" dirty="0"/>
          </a:p>
        </p:txBody>
      </p:sp>
      <p:sp>
        <p:nvSpPr>
          <p:cNvPr id="65" name="Text 43"/>
          <p:cNvSpPr/>
          <p:nvPr/>
        </p:nvSpPr>
        <p:spPr>
          <a:xfrm>
            <a:off x="4667693" y="2208117"/>
            <a:ext cx="844012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病毒/疫苗/体检/信用 四方汇聚</a:t>
            </a:r>
            <a:endParaRPr lang="en-US" sz="414" dirty="0"/>
          </a:p>
        </p:txBody>
      </p:sp>
      <p:sp>
        <p:nvSpPr>
          <p:cNvPr id="66" name="Text 44"/>
          <p:cNvSpPr/>
          <p:nvPr/>
        </p:nvSpPr>
        <p:spPr>
          <a:xfrm>
            <a:off x="4667693" y="2294240"/>
            <a:ext cx="79808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4A37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 → 算法 → 决策 → 反馈</a:t>
            </a:r>
            <a:endParaRPr lang="en-US" sz="414" dirty="0"/>
          </a:p>
        </p:txBody>
      </p:sp>
      <p:pic>
        <p:nvPicPr>
          <p:cNvPr id="6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75336" y="1547835"/>
            <a:ext cx="47847" cy="11962"/>
          </a:xfrm>
          <a:prstGeom prst="rect">
            <a:avLst/>
          </a:prstGeom>
        </p:spPr>
      </p:pic>
      <p:pic>
        <p:nvPicPr>
          <p:cNvPr id="6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18398" y="590904"/>
            <a:ext cx="1746398" cy="1913860"/>
          </a:xfrm>
          <a:prstGeom prst="rect">
            <a:avLst/>
          </a:prstGeom>
        </p:spPr>
      </p:pic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8398" y="590904"/>
            <a:ext cx="1746398" cy="248802"/>
          </a:xfrm>
          <a:prstGeom prst="rect">
            <a:avLst/>
          </a:prstGeom>
        </p:spPr>
      </p:pic>
      <p:sp>
        <p:nvSpPr>
          <p:cNvPr id="70" name="Text 45"/>
          <p:cNvSpPr/>
          <p:nvPr/>
        </p:nvSpPr>
        <p:spPr>
          <a:xfrm>
            <a:off x="7082985" y="605258"/>
            <a:ext cx="212439" cy="13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904" dirty="0"/>
          </a:p>
        </p:txBody>
      </p:sp>
      <p:sp>
        <p:nvSpPr>
          <p:cNvPr id="71" name="Text 46"/>
          <p:cNvSpPr/>
          <p:nvPr/>
        </p:nvSpPr>
        <p:spPr>
          <a:xfrm>
            <a:off x="6939445" y="753583"/>
            <a:ext cx="499518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F1E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怎么用 · 核心动作</a:t>
            </a:r>
            <a:endParaRPr lang="en-US" sz="414" dirty="0"/>
          </a:p>
        </p:txBody>
      </p:sp>
      <p:sp>
        <p:nvSpPr>
          <p:cNvPr id="72" name="Text 47"/>
          <p:cNvSpPr/>
          <p:nvPr/>
        </p:nvSpPr>
        <p:spPr>
          <a:xfrm>
            <a:off x="6965283" y="887553"/>
            <a:ext cx="447843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四类核心动作</a:t>
            </a:r>
            <a:endParaRPr lang="en-US" sz="490" dirty="0"/>
          </a:p>
        </p:txBody>
      </p:sp>
      <p:pic>
        <p:nvPicPr>
          <p:cNvPr id="7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90167" y="1011954"/>
            <a:ext cx="1602858" cy="315787"/>
          </a:xfrm>
          <a:prstGeom prst="rect">
            <a:avLst/>
          </a:prstGeom>
        </p:spPr>
      </p:pic>
      <p:sp>
        <p:nvSpPr>
          <p:cNvPr id="74" name="Text 48"/>
          <p:cNvSpPr/>
          <p:nvPr/>
        </p:nvSpPr>
        <p:spPr>
          <a:xfrm>
            <a:off x="6461937" y="1050231"/>
            <a:ext cx="459327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接入与入驻</a:t>
            </a:r>
            <a:endParaRPr lang="en-US" sz="452" dirty="0"/>
          </a:p>
        </p:txBody>
      </p:sp>
      <p:sp>
        <p:nvSpPr>
          <p:cNvPr id="75" name="Text 49"/>
          <p:cNvSpPr/>
          <p:nvPr/>
        </p:nvSpPr>
        <p:spPr>
          <a:xfrm>
            <a:off x="6461937" y="1145924"/>
            <a:ext cx="476551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持卡 → 三步验证</a:t>
            </a:r>
            <a:endParaRPr lang="en-US" sz="414" dirty="0"/>
          </a:p>
        </p:txBody>
      </p:sp>
      <p:sp>
        <p:nvSpPr>
          <p:cNvPr id="76" name="Text 50"/>
          <p:cNvSpPr/>
          <p:nvPr/>
        </p:nvSpPr>
        <p:spPr>
          <a:xfrm>
            <a:off x="6461937" y="1232048"/>
            <a:ext cx="95310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颁发接入凭证 · 注册方资格成立</a:t>
            </a:r>
            <a:endParaRPr lang="en-US" sz="414" dirty="0"/>
          </a:p>
        </p:txBody>
      </p:sp>
      <p:pic>
        <p:nvPicPr>
          <p:cNvPr id="7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90167" y="1366018"/>
            <a:ext cx="1602858" cy="315787"/>
          </a:xfrm>
          <a:prstGeom prst="rect">
            <a:avLst/>
          </a:prstGeom>
        </p:spPr>
      </p:pic>
      <p:sp>
        <p:nvSpPr>
          <p:cNvPr id="78" name="Text 51"/>
          <p:cNvSpPr/>
          <p:nvPr/>
        </p:nvSpPr>
        <p:spPr>
          <a:xfrm>
            <a:off x="6461937" y="1404295"/>
            <a:ext cx="597124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身份颁发与互证</a:t>
            </a:r>
            <a:endParaRPr lang="en-US" sz="452" dirty="0"/>
          </a:p>
        </p:txBody>
      </p:sp>
      <p:sp>
        <p:nvSpPr>
          <p:cNvPr id="79" name="Text 52"/>
          <p:cNvSpPr/>
          <p:nvPr/>
        </p:nvSpPr>
        <p:spPr>
          <a:xfrm>
            <a:off x="6461937" y="1499988"/>
            <a:ext cx="97606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注册方申请 → novo_id + 创世声明</a:t>
            </a:r>
            <a:endParaRPr lang="en-US" sz="414" dirty="0"/>
          </a:p>
        </p:txBody>
      </p:sp>
      <p:sp>
        <p:nvSpPr>
          <p:cNvPr id="80" name="Text 53"/>
          <p:cNvSpPr/>
          <p:nvPr/>
        </p:nvSpPr>
        <p:spPr>
          <a:xfrm>
            <a:off x="6461937" y="1586112"/>
            <a:ext cx="95310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智能体互联协议 NMAP · 加密协作</a:t>
            </a:r>
            <a:endParaRPr lang="en-US" sz="414" dirty="0"/>
          </a:p>
        </p:txBody>
      </p:sp>
      <p:pic>
        <p:nvPicPr>
          <p:cNvPr id="8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90167" y="1720082"/>
            <a:ext cx="1602858" cy="315787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461937" y="1758359"/>
            <a:ext cx="597124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异常处置与修复</a:t>
            </a:r>
            <a:endParaRPr lang="en-US" sz="452" dirty="0"/>
          </a:p>
        </p:txBody>
      </p:sp>
      <p:sp>
        <p:nvSpPr>
          <p:cNvPr id="83" name="Text 55"/>
          <p:cNvSpPr/>
          <p:nvPr/>
        </p:nvSpPr>
        <p:spPr>
          <a:xfrm>
            <a:off x="6461937" y="1854052"/>
            <a:ext cx="101626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告警 → 暂停 → 修复 → 复检 → 恢复</a:t>
            </a:r>
            <a:endParaRPr lang="en-US" sz="414" dirty="0"/>
          </a:p>
        </p:txBody>
      </p:sp>
      <p:sp>
        <p:nvSpPr>
          <p:cNvPr id="84" name="Text 56"/>
          <p:cNvSpPr/>
          <p:nvPr/>
        </p:nvSpPr>
        <p:spPr>
          <a:xfrm>
            <a:off x="6461937" y="1940176"/>
            <a:ext cx="100477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全程演化日志留痕 · 可恢复但不抹除</a:t>
            </a:r>
            <a:endParaRPr lang="en-US" sz="414" dirty="0"/>
          </a:p>
        </p:txBody>
      </p:sp>
      <p:pic>
        <p:nvPicPr>
          <p:cNvPr id="8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90167" y="2074146"/>
            <a:ext cx="1602858" cy="315787"/>
          </a:xfrm>
          <a:prstGeom prst="rect">
            <a:avLst/>
          </a:prstGeom>
        </p:spPr>
      </p:pic>
      <p:sp>
        <p:nvSpPr>
          <p:cNvPr id="86" name="Text 57"/>
          <p:cNvSpPr/>
          <p:nvPr/>
        </p:nvSpPr>
        <p:spPr>
          <a:xfrm>
            <a:off x="6461937" y="2112423"/>
            <a:ext cx="597124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2" b="1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追溯与信用查询</a:t>
            </a:r>
            <a:endParaRPr lang="en-US" sz="452" dirty="0"/>
          </a:p>
        </p:txBody>
      </p:sp>
      <p:sp>
        <p:nvSpPr>
          <p:cNvPr id="87" name="Text 58"/>
          <p:cNvSpPr/>
          <p:nvPr/>
        </p:nvSpPr>
        <p:spPr>
          <a:xfrm>
            <a:off x="6461937" y="2208117"/>
            <a:ext cx="100477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完整事件链调取 · 第三方独立可验证</a:t>
            </a:r>
            <a:endParaRPr lang="en-US" sz="414" dirty="0"/>
          </a:p>
        </p:txBody>
      </p:sp>
      <p:sp>
        <p:nvSpPr>
          <p:cNvPr id="88" name="Text 59"/>
          <p:cNvSpPr/>
          <p:nvPr/>
        </p:nvSpPr>
        <p:spPr>
          <a:xfrm>
            <a:off x="6461937" y="2294240"/>
            <a:ext cx="105070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4" dirty="0">
                <a:solidFill>
                  <a:srgbClr val="5E3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实时信用画像 · 监管/客户/合作方可查</a:t>
            </a:r>
            <a:endParaRPr lang="en-US" sz="414" dirty="0"/>
          </a:p>
        </p:txBody>
      </p:sp>
      <p:sp>
        <p:nvSpPr>
          <p:cNvPr id="89" name="Text 60"/>
          <p:cNvSpPr/>
          <p:nvPr/>
        </p:nvSpPr>
        <p:spPr>
          <a:xfrm>
            <a:off x="3687796" y="2571750"/>
            <a:ext cx="1768407" cy="9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3" b="1" dirty="0">
                <a:solidFill>
                  <a:srgbClr val="DADA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与现有身份体系对比 —— Novo 的独特定位</a:t>
            </a:r>
            <a:endParaRPr lang="en-US" sz="603" dirty="0"/>
          </a:p>
        </p:txBody>
      </p:sp>
      <p:pic>
        <p:nvPicPr>
          <p:cNvPr id="9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5665" y="2705720"/>
            <a:ext cx="5406656" cy="1339702"/>
          </a:xfrm>
          <a:prstGeom prst="rect">
            <a:avLst/>
          </a:prstGeom>
        </p:spPr>
      </p:pic>
      <p:pic>
        <p:nvPicPr>
          <p:cNvPr id="9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5665" y="2705720"/>
            <a:ext cx="574158" cy="191386"/>
          </a:xfrm>
          <a:prstGeom prst="rect">
            <a:avLst/>
          </a:prstGeom>
        </p:spPr>
      </p:pic>
      <p:pic>
        <p:nvPicPr>
          <p:cNvPr id="9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09823" y="2705720"/>
            <a:ext cx="1124393" cy="191386"/>
          </a:xfrm>
          <a:prstGeom prst="rect">
            <a:avLst/>
          </a:prstGeom>
        </p:spPr>
      </p:pic>
      <p:pic>
        <p:nvPicPr>
          <p:cNvPr id="9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34216" y="2705720"/>
            <a:ext cx="1124393" cy="191386"/>
          </a:xfrm>
          <a:prstGeom prst="rect">
            <a:avLst/>
          </a:prstGeom>
        </p:spPr>
      </p:pic>
      <p:pic>
        <p:nvPicPr>
          <p:cNvPr id="9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758609" y="2705720"/>
            <a:ext cx="1124393" cy="191386"/>
          </a:xfrm>
          <a:prstGeom prst="rect">
            <a:avLst/>
          </a:prstGeom>
        </p:spPr>
      </p:pic>
      <p:pic>
        <p:nvPicPr>
          <p:cNvPr id="9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883002" y="2705720"/>
            <a:ext cx="1459319" cy="191386"/>
          </a:xfrm>
          <a:prstGeom prst="rect">
            <a:avLst/>
          </a:prstGeom>
        </p:spPr>
      </p:pic>
      <p:sp>
        <p:nvSpPr>
          <p:cNvPr id="96" name="Text 61"/>
          <p:cNvSpPr/>
          <p:nvPr/>
        </p:nvSpPr>
        <p:spPr>
          <a:xfrm>
            <a:off x="1073463" y="2767921"/>
            <a:ext cx="298562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对比维度</a:t>
            </a:r>
            <a:endParaRPr lang="en-US" sz="490" dirty="0"/>
          </a:p>
        </p:txBody>
      </p:sp>
      <p:sp>
        <p:nvSpPr>
          <p:cNvPr id="97" name="Text 62"/>
          <p:cNvSpPr/>
          <p:nvPr/>
        </p:nvSpPr>
        <p:spPr>
          <a:xfrm>
            <a:off x="1871543" y="2739213"/>
            <a:ext cx="396169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(W3C)</a:t>
            </a:r>
            <a:endParaRPr lang="en-US" sz="490" dirty="0"/>
          </a:p>
        </p:txBody>
      </p:sp>
      <p:sp>
        <p:nvSpPr>
          <p:cNvPr id="98" name="Text 63"/>
          <p:cNvSpPr/>
          <p:nvPr/>
        </p:nvSpPr>
        <p:spPr>
          <a:xfrm>
            <a:off x="1914605" y="2825337"/>
            <a:ext cx="310045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去中心化身份</a:t>
            </a:r>
            <a:endParaRPr lang="en-US" sz="339" dirty="0"/>
          </a:p>
        </p:txBody>
      </p:sp>
      <p:sp>
        <p:nvSpPr>
          <p:cNvPr id="99" name="Text 64"/>
          <p:cNvSpPr/>
          <p:nvPr/>
        </p:nvSpPr>
        <p:spPr>
          <a:xfrm>
            <a:off x="3127992" y="2739213"/>
            <a:ext cx="132056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NHI</a:t>
            </a:r>
            <a:endParaRPr lang="en-US" sz="490" dirty="0"/>
          </a:p>
        </p:txBody>
      </p:sp>
      <p:sp>
        <p:nvSpPr>
          <p:cNvPr id="100" name="Text 65"/>
          <p:cNvSpPr/>
          <p:nvPr/>
        </p:nvSpPr>
        <p:spPr>
          <a:xfrm>
            <a:off x="2987324" y="2825337"/>
            <a:ext cx="413394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非人身份（企业）</a:t>
            </a:r>
            <a:endParaRPr lang="en-US" sz="339" dirty="0"/>
          </a:p>
        </p:txBody>
      </p:sp>
      <p:sp>
        <p:nvSpPr>
          <p:cNvPr id="101" name="Text 66"/>
          <p:cNvSpPr/>
          <p:nvPr/>
        </p:nvSpPr>
        <p:spPr>
          <a:xfrm>
            <a:off x="4111717" y="2739213"/>
            <a:ext cx="413394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PKI / X.509</a:t>
            </a:r>
            <a:endParaRPr lang="en-US" sz="490" dirty="0"/>
          </a:p>
        </p:txBody>
      </p:sp>
      <p:sp>
        <p:nvSpPr>
          <p:cNvPr id="102" name="Text 67"/>
          <p:cNvSpPr/>
          <p:nvPr/>
        </p:nvSpPr>
        <p:spPr>
          <a:xfrm>
            <a:off x="4215065" y="2825337"/>
            <a:ext cx="206697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CFDC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传统证书</a:t>
            </a:r>
            <a:endParaRPr lang="en-US" sz="339" dirty="0"/>
          </a:p>
        </p:txBody>
      </p:sp>
      <p:sp>
        <p:nvSpPr>
          <p:cNvPr id="103" name="Text 68"/>
          <p:cNvSpPr/>
          <p:nvPr/>
        </p:nvSpPr>
        <p:spPr>
          <a:xfrm>
            <a:off x="5234196" y="2739213"/>
            <a:ext cx="752147" cy="76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Credit 信用中心</a:t>
            </a:r>
            <a:endParaRPr lang="en-US" sz="490" dirty="0"/>
          </a:p>
        </p:txBody>
      </p:sp>
      <p:sp>
        <p:nvSpPr>
          <p:cNvPr id="104" name="Text 69"/>
          <p:cNvSpPr/>
          <p:nvPr/>
        </p:nvSpPr>
        <p:spPr>
          <a:xfrm>
            <a:off x="5489696" y="2825337"/>
            <a:ext cx="241146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FFF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我们 ★</a:t>
            </a:r>
            <a:endParaRPr lang="en-US" sz="339" dirty="0"/>
          </a:p>
        </p:txBody>
      </p:sp>
      <p:pic>
        <p:nvPicPr>
          <p:cNvPr id="10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5665" y="2897106"/>
            <a:ext cx="574158" cy="191386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1027530" y="2959307"/>
            <a:ext cx="39042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适用对象</a:t>
            </a:r>
            <a:endParaRPr lang="en-US" sz="452" dirty="0"/>
          </a:p>
        </p:txBody>
      </p:sp>
      <p:sp>
        <p:nvSpPr>
          <p:cNvPr id="107" name="Text 71"/>
          <p:cNvSpPr/>
          <p:nvPr/>
        </p:nvSpPr>
        <p:spPr>
          <a:xfrm>
            <a:off x="1974891" y="2964091"/>
            <a:ext cx="189472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人为主</a:t>
            </a:r>
            <a:endParaRPr lang="en-US" sz="414" dirty="0"/>
          </a:p>
        </p:txBody>
      </p:sp>
      <p:sp>
        <p:nvSpPr>
          <p:cNvPr id="108" name="Text 72"/>
          <p:cNvSpPr/>
          <p:nvPr/>
        </p:nvSpPr>
        <p:spPr>
          <a:xfrm>
            <a:off x="3036127" y="2964091"/>
            <a:ext cx="31578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 / 机器</a:t>
            </a:r>
            <a:endParaRPr lang="en-US" sz="414" dirty="0"/>
          </a:p>
        </p:txBody>
      </p:sp>
      <p:sp>
        <p:nvSpPr>
          <p:cNvPr id="109" name="Text 73"/>
          <p:cNvSpPr/>
          <p:nvPr/>
        </p:nvSpPr>
        <p:spPr>
          <a:xfrm>
            <a:off x="4042818" y="2964091"/>
            <a:ext cx="551192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通用（人/机/网站）</a:t>
            </a:r>
            <a:endParaRPr lang="en-US" sz="414" dirty="0"/>
          </a:p>
        </p:txBody>
      </p:sp>
      <p:pic>
        <p:nvPicPr>
          <p:cNvPr id="11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83002" y="2897106"/>
            <a:ext cx="1459319" cy="191386"/>
          </a:xfrm>
          <a:prstGeom prst="rect">
            <a:avLst/>
          </a:prstGeom>
        </p:spPr>
      </p:pic>
      <p:sp>
        <p:nvSpPr>
          <p:cNvPr id="111" name="Text 74"/>
          <p:cNvSpPr/>
          <p:nvPr/>
        </p:nvSpPr>
        <p:spPr>
          <a:xfrm>
            <a:off x="5403572" y="2964091"/>
            <a:ext cx="413394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专用</a:t>
            </a:r>
            <a:endParaRPr lang="en-US" sz="414" dirty="0"/>
          </a:p>
        </p:txBody>
      </p:sp>
      <p:pic>
        <p:nvPicPr>
          <p:cNvPr id="11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35665" y="3088492"/>
            <a:ext cx="574158" cy="191386"/>
          </a:xfrm>
          <a:prstGeom prst="rect">
            <a:avLst/>
          </a:prstGeom>
        </p:spPr>
      </p:pic>
      <p:sp>
        <p:nvSpPr>
          <p:cNvPr id="113" name="Text 75"/>
          <p:cNvSpPr/>
          <p:nvPr/>
        </p:nvSpPr>
        <p:spPr>
          <a:xfrm>
            <a:off x="1027530" y="3150693"/>
            <a:ext cx="39042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信任模型</a:t>
            </a:r>
            <a:endParaRPr lang="en-US" sz="452" dirty="0"/>
          </a:p>
        </p:txBody>
      </p:sp>
      <p:sp>
        <p:nvSpPr>
          <p:cNvPr id="114" name="Text 76"/>
          <p:cNvSpPr/>
          <p:nvPr/>
        </p:nvSpPr>
        <p:spPr>
          <a:xfrm>
            <a:off x="1943313" y="3155477"/>
            <a:ext cx="25263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去中心化</a:t>
            </a:r>
            <a:endParaRPr lang="en-US" sz="414" dirty="0"/>
          </a:p>
        </p:txBody>
      </p:sp>
      <p:sp>
        <p:nvSpPr>
          <p:cNvPr id="115" name="Text 77"/>
          <p:cNvSpPr/>
          <p:nvPr/>
        </p:nvSpPr>
        <p:spPr>
          <a:xfrm>
            <a:off x="3067706" y="3155477"/>
            <a:ext cx="25263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企业边界</a:t>
            </a:r>
            <a:endParaRPr lang="en-US" sz="414" dirty="0"/>
          </a:p>
        </p:txBody>
      </p:sp>
      <p:sp>
        <p:nvSpPr>
          <p:cNvPr id="116" name="Text 78"/>
          <p:cNvSpPr/>
          <p:nvPr/>
        </p:nvSpPr>
        <p:spPr>
          <a:xfrm>
            <a:off x="4200711" y="3155477"/>
            <a:ext cx="235405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层级 CA</a:t>
            </a:r>
            <a:endParaRPr lang="en-US" sz="414" dirty="0"/>
          </a:p>
        </p:txBody>
      </p:sp>
      <p:pic>
        <p:nvPicPr>
          <p:cNvPr id="117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883002" y="3088492"/>
            <a:ext cx="1459319" cy="191386"/>
          </a:xfrm>
          <a:prstGeom prst="rect">
            <a:avLst/>
          </a:prstGeom>
        </p:spPr>
      </p:pic>
      <p:sp>
        <p:nvSpPr>
          <p:cNvPr id="118" name="Text 79"/>
          <p:cNvSpPr/>
          <p:nvPr/>
        </p:nvSpPr>
        <p:spPr>
          <a:xfrm>
            <a:off x="5483955" y="3121985"/>
            <a:ext cx="25263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多方共建</a:t>
            </a:r>
            <a:endParaRPr lang="en-US" sz="414" dirty="0"/>
          </a:p>
        </p:txBody>
      </p:sp>
      <p:sp>
        <p:nvSpPr>
          <p:cNvPr id="119" name="Text 80"/>
          <p:cNvSpPr/>
          <p:nvPr/>
        </p:nvSpPr>
        <p:spPr>
          <a:xfrm>
            <a:off x="5242808" y="3208109"/>
            <a:ext cx="734922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 + Novo + 监管 + 注册方</a:t>
            </a:r>
            <a:endParaRPr lang="en-US" sz="339" dirty="0"/>
          </a:p>
        </p:txBody>
      </p:sp>
      <p:pic>
        <p:nvPicPr>
          <p:cNvPr id="12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5665" y="3279878"/>
            <a:ext cx="574158" cy="191386"/>
          </a:xfrm>
          <a:prstGeom prst="rect">
            <a:avLst/>
          </a:prstGeom>
        </p:spPr>
      </p:pic>
      <p:sp>
        <p:nvSpPr>
          <p:cNvPr id="121" name="Text 81"/>
          <p:cNvSpPr/>
          <p:nvPr/>
        </p:nvSpPr>
        <p:spPr>
          <a:xfrm>
            <a:off x="1027530" y="3342079"/>
            <a:ext cx="39042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监管适配</a:t>
            </a:r>
            <a:endParaRPr lang="en-US" sz="452" dirty="0"/>
          </a:p>
        </p:txBody>
      </p:sp>
      <p:sp>
        <p:nvSpPr>
          <p:cNvPr id="122" name="Text 82"/>
          <p:cNvSpPr/>
          <p:nvPr/>
        </p:nvSpPr>
        <p:spPr>
          <a:xfrm>
            <a:off x="1814127" y="3346863"/>
            <a:ext cx="511001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低（误为 Web3）</a:t>
            </a:r>
            <a:endParaRPr lang="en-US" sz="414" dirty="0"/>
          </a:p>
        </p:txBody>
      </p:sp>
      <p:sp>
        <p:nvSpPr>
          <p:cNvPr id="123" name="Text 83"/>
          <p:cNvSpPr/>
          <p:nvPr/>
        </p:nvSpPr>
        <p:spPr>
          <a:xfrm>
            <a:off x="3004548" y="3346863"/>
            <a:ext cx="378944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C896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中（企业内）</a:t>
            </a:r>
            <a:endParaRPr lang="en-US" sz="414" dirty="0"/>
          </a:p>
        </p:txBody>
      </p:sp>
      <p:sp>
        <p:nvSpPr>
          <p:cNvPr id="124" name="Text 84"/>
          <p:cNvSpPr/>
          <p:nvPr/>
        </p:nvSpPr>
        <p:spPr>
          <a:xfrm>
            <a:off x="4105975" y="3346863"/>
            <a:ext cx="42487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4F75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高（国密 CA）</a:t>
            </a:r>
            <a:endParaRPr lang="en-US" sz="414" dirty="0"/>
          </a:p>
        </p:txBody>
      </p:sp>
      <p:pic>
        <p:nvPicPr>
          <p:cNvPr id="12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883002" y="3279878"/>
            <a:ext cx="1459319" cy="191386"/>
          </a:xfrm>
          <a:prstGeom prst="rect">
            <a:avLst/>
          </a:prstGeom>
        </p:spPr>
      </p:pic>
      <p:sp>
        <p:nvSpPr>
          <p:cNvPr id="126" name="Text 85"/>
          <p:cNvSpPr/>
          <p:nvPr/>
        </p:nvSpPr>
        <p:spPr>
          <a:xfrm>
            <a:off x="5211229" y="3313371"/>
            <a:ext cx="79808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4F75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高（国密 + 等保 + 关基）</a:t>
            </a:r>
            <a:endParaRPr lang="en-US" sz="414" dirty="0"/>
          </a:p>
        </p:txBody>
      </p:sp>
      <p:sp>
        <p:nvSpPr>
          <p:cNvPr id="127" name="Text 86"/>
          <p:cNvSpPr/>
          <p:nvPr/>
        </p:nvSpPr>
        <p:spPr>
          <a:xfrm>
            <a:off x="5455247" y="3399495"/>
            <a:ext cx="310045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监管直接接入</a:t>
            </a:r>
            <a:endParaRPr lang="en-US" sz="339" dirty="0"/>
          </a:p>
        </p:txBody>
      </p:sp>
      <p:pic>
        <p:nvPicPr>
          <p:cNvPr id="128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35665" y="3471264"/>
            <a:ext cx="574158" cy="191386"/>
          </a:xfrm>
          <a:prstGeom prst="rect">
            <a:avLst/>
          </a:prstGeom>
        </p:spPr>
      </p:pic>
      <p:sp>
        <p:nvSpPr>
          <p:cNvPr id="129" name="Text 87"/>
          <p:cNvSpPr/>
          <p:nvPr/>
        </p:nvSpPr>
        <p:spPr>
          <a:xfrm>
            <a:off x="1027530" y="3533465"/>
            <a:ext cx="390428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行为档案</a:t>
            </a:r>
            <a:endParaRPr lang="en-US" sz="452" dirty="0"/>
          </a:p>
        </p:txBody>
      </p:sp>
      <p:sp>
        <p:nvSpPr>
          <p:cNvPr id="130" name="Text 88"/>
          <p:cNvSpPr/>
          <p:nvPr/>
        </p:nvSpPr>
        <p:spPr>
          <a:xfrm>
            <a:off x="1937571" y="3538250"/>
            <a:ext cx="26411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仅身份</a:t>
            </a:r>
            <a:endParaRPr lang="en-US" sz="414" dirty="0"/>
          </a:p>
        </p:txBody>
      </p:sp>
      <p:sp>
        <p:nvSpPr>
          <p:cNvPr id="131" name="Text 89"/>
          <p:cNvSpPr/>
          <p:nvPr/>
        </p:nvSpPr>
        <p:spPr>
          <a:xfrm>
            <a:off x="3061964" y="3538250"/>
            <a:ext cx="26411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仅凭证</a:t>
            </a:r>
            <a:endParaRPr lang="en-US" sz="414" dirty="0"/>
          </a:p>
        </p:txBody>
      </p:sp>
      <p:sp>
        <p:nvSpPr>
          <p:cNvPr id="132" name="Text 90"/>
          <p:cNvSpPr/>
          <p:nvPr/>
        </p:nvSpPr>
        <p:spPr>
          <a:xfrm>
            <a:off x="4186357" y="3538250"/>
            <a:ext cx="26411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仅证书</a:t>
            </a:r>
            <a:endParaRPr lang="en-US" sz="414" dirty="0"/>
          </a:p>
        </p:txBody>
      </p:sp>
      <p:pic>
        <p:nvPicPr>
          <p:cNvPr id="13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883002" y="3471264"/>
            <a:ext cx="1459319" cy="191386"/>
          </a:xfrm>
          <a:prstGeom prst="rect">
            <a:avLst/>
          </a:prstGeom>
        </p:spPr>
      </p:pic>
      <p:sp>
        <p:nvSpPr>
          <p:cNvPr id="134" name="Text 91"/>
          <p:cNvSpPr/>
          <p:nvPr/>
        </p:nvSpPr>
        <p:spPr>
          <a:xfrm>
            <a:off x="5446634" y="3504757"/>
            <a:ext cx="327270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4F75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演化日志</a:t>
            </a:r>
            <a:endParaRPr lang="en-US" sz="414" dirty="0"/>
          </a:p>
        </p:txBody>
      </p:sp>
      <p:sp>
        <p:nvSpPr>
          <p:cNvPr id="135" name="Text 92"/>
          <p:cNvSpPr/>
          <p:nvPr/>
        </p:nvSpPr>
        <p:spPr>
          <a:xfrm>
            <a:off x="5326061" y="3590881"/>
            <a:ext cx="568417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全生命周期不可篡改档案</a:t>
            </a:r>
            <a:endParaRPr lang="en-US" sz="339" dirty="0"/>
          </a:p>
        </p:txBody>
      </p:sp>
      <p:pic>
        <p:nvPicPr>
          <p:cNvPr id="13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35665" y="3662650"/>
            <a:ext cx="574158" cy="191386"/>
          </a:xfrm>
          <a:prstGeom prst="rect">
            <a:avLst/>
          </a:prstGeom>
        </p:spPr>
      </p:pic>
      <p:sp>
        <p:nvSpPr>
          <p:cNvPr id="137" name="Text 93"/>
          <p:cNvSpPr/>
          <p:nvPr/>
        </p:nvSpPr>
        <p:spPr>
          <a:xfrm>
            <a:off x="993081" y="3724851"/>
            <a:ext cx="459327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跨厂商互信</a:t>
            </a:r>
            <a:endParaRPr lang="en-US" sz="452" dirty="0"/>
          </a:p>
        </p:txBody>
      </p:sp>
      <p:sp>
        <p:nvSpPr>
          <p:cNvPr id="138" name="Text 94"/>
          <p:cNvSpPr/>
          <p:nvPr/>
        </p:nvSpPr>
        <p:spPr>
          <a:xfrm>
            <a:off x="1837093" y="3729636"/>
            <a:ext cx="465068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C896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△ 标准存生态弱</a:t>
            </a:r>
            <a:endParaRPr lang="en-US" sz="414" dirty="0"/>
          </a:p>
        </p:txBody>
      </p:sp>
      <p:sp>
        <p:nvSpPr>
          <p:cNvPr id="139" name="Text 95"/>
          <p:cNvSpPr/>
          <p:nvPr/>
        </p:nvSpPr>
        <p:spPr>
          <a:xfrm>
            <a:off x="3061964" y="3729636"/>
            <a:ext cx="26411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企业内</a:t>
            </a:r>
            <a:endParaRPr lang="en-US" sz="414" dirty="0"/>
          </a:p>
        </p:txBody>
      </p:sp>
      <p:sp>
        <p:nvSpPr>
          <p:cNvPr id="140" name="Text 96"/>
          <p:cNvSpPr/>
          <p:nvPr/>
        </p:nvSpPr>
        <p:spPr>
          <a:xfrm>
            <a:off x="4128941" y="3729636"/>
            <a:ext cx="378944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C896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△ CA 互认难</a:t>
            </a:r>
            <a:endParaRPr lang="en-US" sz="414" dirty="0"/>
          </a:p>
        </p:txBody>
      </p:sp>
      <p:pic>
        <p:nvPicPr>
          <p:cNvPr id="14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883002" y="3662650"/>
            <a:ext cx="1459319" cy="191386"/>
          </a:xfrm>
          <a:prstGeom prst="rect">
            <a:avLst/>
          </a:prstGeom>
        </p:spPr>
      </p:pic>
      <p:sp>
        <p:nvSpPr>
          <p:cNvPr id="142" name="Text 97"/>
          <p:cNvSpPr/>
          <p:nvPr/>
        </p:nvSpPr>
        <p:spPr>
          <a:xfrm>
            <a:off x="5343286" y="3696143"/>
            <a:ext cx="53396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4F75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NMAP 协议标准</a:t>
            </a:r>
            <a:endParaRPr lang="en-US" sz="414" dirty="0"/>
          </a:p>
        </p:txBody>
      </p:sp>
      <p:sp>
        <p:nvSpPr>
          <p:cNvPr id="143" name="Text 98"/>
          <p:cNvSpPr/>
          <p:nvPr/>
        </p:nvSpPr>
        <p:spPr>
          <a:xfrm>
            <a:off x="5354769" y="3782267"/>
            <a:ext cx="511001" cy="52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9" dirty="0">
                <a:solidFill>
                  <a:srgbClr val="7A5A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默认互证 · 跨厂商通用</a:t>
            </a:r>
            <a:endParaRPr lang="en-US" sz="339" dirty="0"/>
          </a:p>
        </p:txBody>
      </p:sp>
      <p:pic>
        <p:nvPicPr>
          <p:cNvPr id="144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35665" y="3854037"/>
            <a:ext cx="574158" cy="191386"/>
          </a:xfrm>
          <a:prstGeom prst="rect">
            <a:avLst/>
          </a:prstGeom>
        </p:spPr>
      </p:pic>
      <p:sp>
        <p:nvSpPr>
          <p:cNvPr id="145" name="Text 99"/>
          <p:cNvSpPr/>
          <p:nvPr/>
        </p:nvSpPr>
        <p:spPr>
          <a:xfrm>
            <a:off x="993081" y="3916237"/>
            <a:ext cx="459327" cy="7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2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⑥ 抗量子准备</a:t>
            </a:r>
            <a:endParaRPr lang="en-US" sz="452" dirty="0"/>
          </a:p>
        </p:txBody>
      </p:sp>
      <p:sp>
        <p:nvSpPr>
          <p:cNvPr id="146" name="Text 100"/>
          <p:cNvSpPr/>
          <p:nvPr/>
        </p:nvSpPr>
        <p:spPr>
          <a:xfrm>
            <a:off x="1900251" y="3921022"/>
            <a:ext cx="33875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C896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△ 算法可换</a:t>
            </a:r>
            <a:endParaRPr lang="en-US" sz="414" dirty="0"/>
          </a:p>
        </p:txBody>
      </p:sp>
      <p:sp>
        <p:nvSpPr>
          <p:cNvPr id="147" name="Text 101"/>
          <p:cNvSpPr/>
          <p:nvPr/>
        </p:nvSpPr>
        <p:spPr>
          <a:xfrm>
            <a:off x="3061964" y="3921022"/>
            <a:ext cx="26411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未涉及</a:t>
            </a:r>
            <a:endParaRPr lang="en-US" sz="414" dirty="0"/>
          </a:p>
        </p:txBody>
      </p:sp>
      <p:sp>
        <p:nvSpPr>
          <p:cNvPr id="148" name="Text 102"/>
          <p:cNvSpPr/>
          <p:nvPr/>
        </p:nvSpPr>
        <p:spPr>
          <a:xfrm>
            <a:off x="4186357" y="3921022"/>
            <a:ext cx="264113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改造慢</a:t>
            </a:r>
            <a:endParaRPr lang="en-US" sz="414" dirty="0"/>
          </a:p>
        </p:txBody>
      </p:sp>
      <p:pic>
        <p:nvPicPr>
          <p:cNvPr id="149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883002" y="3854037"/>
            <a:ext cx="1459319" cy="191386"/>
          </a:xfrm>
          <a:prstGeom prst="rect">
            <a:avLst/>
          </a:prstGeom>
        </p:spPr>
      </p:pic>
      <p:sp>
        <p:nvSpPr>
          <p:cNvPr id="150" name="Text 103"/>
          <p:cNvSpPr/>
          <p:nvPr/>
        </p:nvSpPr>
        <p:spPr>
          <a:xfrm>
            <a:off x="5139460" y="3921022"/>
            <a:ext cx="941619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b="1" dirty="0">
                <a:solidFill>
                  <a:srgbClr val="4F75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密码敏捷 + Merkle 时间戳锚定</a:t>
            </a:r>
            <a:endParaRPr lang="en-US" sz="414" dirty="0"/>
          </a:p>
        </p:txBody>
      </p:sp>
      <p:pic>
        <p:nvPicPr>
          <p:cNvPr id="151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390167" y="2705720"/>
            <a:ext cx="1674628" cy="1339702"/>
          </a:xfrm>
          <a:prstGeom prst="rect">
            <a:avLst/>
          </a:prstGeom>
        </p:spPr>
      </p:pic>
      <p:sp>
        <p:nvSpPr>
          <p:cNvPr id="152" name="Text 104"/>
          <p:cNvSpPr/>
          <p:nvPr/>
        </p:nvSpPr>
        <p:spPr>
          <a:xfrm>
            <a:off x="6963369" y="2806198"/>
            <a:ext cx="528225" cy="8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7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核心定位 ★</a:t>
            </a:r>
            <a:endParaRPr lang="en-US" sz="527" dirty="0"/>
          </a:p>
        </p:txBody>
      </p:sp>
      <p:sp>
        <p:nvSpPr>
          <p:cNvPr id="153" name="Text 105"/>
          <p:cNvSpPr/>
          <p:nvPr/>
        </p:nvSpPr>
        <p:spPr>
          <a:xfrm>
            <a:off x="6894470" y="2954522"/>
            <a:ext cx="666023" cy="11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Credit</a:t>
            </a:r>
            <a:endParaRPr lang="en-US" sz="753" dirty="0"/>
          </a:p>
        </p:txBody>
      </p:sp>
      <p:sp>
        <p:nvSpPr>
          <p:cNvPr id="154" name="Text 106"/>
          <p:cNvSpPr/>
          <p:nvPr/>
        </p:nvSpPr>
        <p:spPr>
          <a:xfrm>
            <a:off x="6997818" y="3078923"/>
            <a:ext cx="459327" cy="11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信用中心</a:t>
            </a:r>
            <a:endParaRPr lang="en-US" sz="753" dirty="0"/>
          </a:p>
        </p:txBody>
      </p:sp>
      <p:sp>
        <p:nvSpPr>
          <p:cNvPr id="155" name="Text 107"/>
          <p:cNvSpPr/>
          <p:nvPr/>
        </p:nvSpPr>
        <p:spPr>
          <a:xfrm>
            <a:off x="6986335" y="3260740"/>
            <a:ext cx="482293" cy="8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7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面向监管合规</a:t>
            </a:r>
            <a:endParaRPr lang="en-US" sz="527" dirty="0"/>
          </a:p>
        </p:txBody>
      </p:sp>
      <p:sp>
        <p:nvSpPr>
          <p:cNvPr id="156" name="Text 108"/>
          <p:cNvSpPr/>
          <p:nvPr/>
        </p:nvSpPr>
        <p:spPr>
          <a:xfrm>
            <a:off x="7066717" y="3375571"/>
            <a:ext cx="321529" cy="8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7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多方共建</a:t>
            </a:r>
            <a:endParaRPr lang="en-US" sz="527" dirty="0"/>
          </a:p>
        </p:txBody>
      </p:sp>
      <p:sp>
        <p:nvSpPr>
          <p:cNvPr id="157" name="Text 109"/>
          <p:cNvSpPr/>
          <p:nvPr/>
        </p:nvSpPr>
        <p:spPr>
          <a:xfrm>
            <a:off x="7066717" y="3490403"/>
            <a:ext cx="321529" cy="8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7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行为档案</a:t>
            </a:r>
            <a:endParaRPr lang="en-US" sz="527" dirty="0"/>
          </a:p>
        </p:txBody>
      </p:sp>
      <p:sp>
        <p:nvSpPr>
          <p:cNvPr id="158" name="Text 110"/>
          <p:cNvSpPr/>
          <p:nvPr/>
        </p:nvSpPr>
        <p:spPr>
          <a:xfrm>
            <a:off x="7026526" y="3605235"/>
            <a:ext cx="401911" cy="8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7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跨厂商互信</a:t>
            </a:r>
            <a:endParaRPr lang="en-US" sz="527" dirty="0"/>
          </a:p>
        </p:txBody>
      </p:sp>
      <p:sp>
        <p:nvSpPr>
          <p:cNvPr id="159" name="Text 111"/>
          <p:cNvSpPr/>
          <p:nvPr/>
        </p:nvSpPr>
        <p:spPr>
          <a:xfrm>
            <a:off x="7106908" y="3720066"/>
            <a:ext cx="241146" cy="8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7" b="1" dirty="0">
                <a:solidFill>
                  <a:srgbClr val="F2C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抗量子</a:t>
            </a:r>
            <a:endParaRPr lang="en-US" sz="527" dirty="0"/>
          </a:p>
        </p:txBody>
      </p:sp>
      <p:pic>
        <p:nvPicPr>
          <p:cNvPr id="160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581553" y="3863606"/>
            <a:ext cx="1291856" cy="4785"/>
          </a:xfrm>
          <a:prstGeom prst="rect">
            <a:avLst/>
          </a:prstGeom>
        </p:spPr>
      </p:pic>
      <p:sp>
        <p:nvSpPr>
          <p:cNvPr id="161" name="Text 112"/>
          <p:cNvSpPr/>
          <p:nvPr/>
        </p:nvSpPr>
        <p:spPr>
          <a:xfrm>
            <a:off x="6994947" y="3887529"/>
            <a:ext cx="465068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FCA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时代的</a:t>
            </a:r>
            <a:endParaRPr lang="en-US" sz="414" dirty="0"/>
          </a:p>
        </p:txBody>
      </p:sp>
      <p:sp>
        <p:nvSpPr>
          <p:cNvPr id="162" name="Text 113"/>
          <p:cNvSpPr/>
          <p:nvPr/>
        </p:nvSpPr>
        <p:spPr>
          <a:xfrm>
            <a:off x="6943273" y="3954514"/>
            <a:ext cx="568417" cy="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4" dirty="0">
                <a:solidFill>
                  <a:srgbClr val="BFCA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新形态身份基础设施</a:t>
            </a:r>
            <a:endParaRPr lang="en-US" sz="4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98" y="589938"/>
            <a:ext cx="2031417" cy="3354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2524" y="741113"/>
            <a:ext cx="53289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智能 USB 设备</a:t>
            </a:r>
            <a:endParaRPr lang="en-US" sz="446" dirty="0"/>
          </a:p>
        </p:txBody>
      </p:sp>
      <p:sp>
        <p:nvSpPr>
          <p:cNvPr id="4" name="Text 1"/>
          <p:cNvSpPr/>
          <p:nvPr/>
        </p:nvSpPr>
        <p:spPr>
          <a:xfrm>
            <a:off x="1222524" y="873391"/>
            <a:ext cx="150230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盘 / U 盾形态，内置 SIM/eSIM 与安全执行能力</a:t>
            </a:r>
            <a:endParaRPr lang="en-US" sz="446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24" y="1085981"/>
            <a:ext cx="1747963" cy="3684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64251" y="1171017"/>
            <a:ext cx="56690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复合设备接口</a:t>
            </a:r>
            <a:endParaRPr lang="en-US" sz="446" dirty="0"/>
          </a:p>
        </p:txBody>
      </p:sp>
      <p:sp>
        <p:nvSpPr>
          <p:cNvPr id="7" name="Text 3"/>
          <p:cNvSpPr/>
          <p:nvPr/>
        </p:nvSpPr>
        <p:spPr>
          <a:xfrm>
            <a:off x="1364251" y="1284399"/>
            <a:ext cx="134357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Storage / HID / CCID / USB Network</a:t>
            </a:r>
            <a:endParaRPr lang="en-US" sz="4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24" y="1553680"/>
            <a:ext cx="1747963" cy="4251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64251" y="1638716"/>
            <a:ext cx="40817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只读安装分区</a:t>
            </a:r>
            <a:endParaRPr lang="en-US" sz="446" dirty="0"/>
          </a:p>
        </p:txBody>
      </p:sp>
      <p:sp>
        <p:nvSpPr>
          <p:cNvPr id="10" name="Text 5"/>
          <p:cNvSpPr/>
          <p:nvPr/>
        </p:nvSpPr>
        <p:spPr>
          <a:xfrm>
            <a:off x="1364251" y="1752097"/>
            <a:ext cx="130388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跨平台安装器、驱动、Agent 包、版本清单</a:t>
            </a:r>
            <a:endParaRPr lang="en-US" sz="446" dirty="0"/>
          </a:p>
        </p:txBody>
      </p:sp>
      <p:sp>
        <p:nvSpPr>
          <p:cNvPr id="11" name="Text 6"/>
          <p:cNvSpPr/>
          <p:nvPr/>
        </p:nvSpPr>
        <p:spPr>
          <a:xfrm>
            <a:off x="1364251" y="1856030"/>
            <a:ext cx="1394591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建议：签名安装包 + 哈希校验 + 灰度版本策略</a:t>
            </a:r>
            <a:endParaRPr lang="en-US" sz="446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524" y="2078068"/>
            <a:ext cx="1747963" cy="4629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64251" y="2163105"/>
            <a:ext cx="640605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/ eSIM 身份模块</a:t>
            </a:r>
            <a:endParaRPr lang="en-US" sz="446" dirty="0"/>
          </a:p>
        </p:txBody>
      </p:sp>
      <p:sp>
        <p:nvSpPr>
          <p:cNvPr id="14" name="Text 8"/>
          <p:cNvSpPr/>
          <p:nvPr/>
        </p:nvSpPr>
        <p:spPr>
          <a:xfrm>
            <a:off x="1364251" y="2276486"/>
            <a:ext cx="94106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IMSI / ICCID / Ki 派生挑战响应</a:t>
            </a:r>
            <a:endParaRPr lang="en-US" sz="446" dirty="0"/>
          </a:p>
        </p:txBody>
      </p:sp>
      <p:sp>
        <p:nvSpPr>
          <p:cNvPr id="15" name="Text 9"/>
          <p:cNvSpPr/>
          <p:nvPr/>
        </p:nvSpPr>
        <p:spPr>
          <a:xfrm>
            <a:off x="1364251" y="2380419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唯一用户锚点，不直接暴露敏感标识给业务层</a:t>
            </a:r>
            <a:endParaRPr lang="en-US" sz="446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524" y="2640251"/>
            <a:ext cx="1747963" cy="4535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64251" y="2725287"/>
            <a:ext cx="68595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安全芯片 / TEE / MCU</a:t>
            </a:r>
            <a:endParaRPr lang="en-US" sz="446" dirty="0"/>
          </a:p>
        </p:txBody>
      </p:sp>
      <p:sp>
        <p:nvSpPr>
          <p:cNvPr id="18" name="Text 11"/>
          <p:cNvSpPr/>
          <p:nvPr/>
        </p:nvSpPr>
        <p:spPr>
          <a:xfrm>
            <a:off x="1364251" y="2838669"/>
            <a:ext cx="122451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密钥封装、设备证书、签名、反克隆检测</a:t>
            </a:r>
            <a:endParaRPr lang="en-US" sz="446" dirty="0"/>
          </a:p>
        </p:txBody>
      </p:sp>
      <p:sp>
        <p:nvSpPr>
          <p:cNvPr id="19" name="Text 12"/>
          <p:cNvSpPr/>
          <p:nvPr/>
        </p:nvSpPr>
        <p:spPr>
          <a:xfrm>
            <a:off x="1364251" y="2942602"/>
            <a:ext cx="113381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可选：国密算法、PIN、生物特征绑定</a:t>
            </a:r>
            <a:endParaRPr lang="en-US" sz="446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524" y="3192986"/>
            <a:ext cx="1747963" cy="45352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64251" y="3278022"/>
            <a:ext cx="74831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设备固件与本地控制服务</a:t>
            </a:r>
            <a:endParaRPr lang="en-US" sz="446" dirty="0"/>
          </a:p>
        </p:txBody>
      </p:sp>
      <p:sp>
        <p:nvSpPr>
          <p:cNvPr id="22" name="Text 14"/>
          <p:cNvSpPr/>
          <p:nvPr/>
        </p:nvSpPr>
        <p:spPr>
          <a:xfrm>
            <a:off x="1364251" y="3391403"/>
            <a:ext cx="116782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枚举控制、状态上报、Agent 通信通道</a:t>
            </a:r>
            <a:endParaRPr lang="en-US" sz="446" dirty="0"/>
          </a:p>
        </p:txBody>
      </p:sp>
      <p:sp>
        <p:nvSpPr>
          <p:cNvPr id="23" name="Text 15"/>
          <p:cNvSpPr/>
          <p:nvPr/>
        </p:nvSpPr>
        <p:spPr>
          <a:xfrm>
            <a:off x="1364251" y="3495336"/>
            <a:ext cx="110546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OTA 固件升级需签名校验与回滚保护</a:t>
            </a:r>
            <a:endParaRPr lang="en-US" sz="446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637" y="589938"/>
            <a:ext cx="2149522" cy="3354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26364" y="741113"/>
            <a:ext cx="357151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 用户电脑</a:t>
            </a:r>
            <a:endParaRPr lang="en-US" sz="446" dirty="0"/>
          </a:p>
        </p:txBody>
      </p:sp>
      <p:sp>
        <p:nvSpPr>
          <p:cNvPr id="26" name="Text 17"/>
          <p:cNvSpPr/>
          <p:nvPr/>
        </p:nvSpPr>
        <p:spPr>
          <a:xfrm>
            <a:off x="3726364" y="873391"/>
            <a:ext cx="170639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/ macOS / Linux，完成安装、运行和本地集成</a:t>
            </a:r>
            <a:endParaRPr lang="en-US" sz="446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985" y="1085981"/>
            <a:ext cx="1818827" cy="36849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91712" y="1171017"/>
            <a:ext cx="47620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设备插入与识别</a:t>
            </a:r>
            <a:endParaRPr lang="en-US" sz="446" dirty="0"/>
          </a:p>
        </p:txBody>
      </p:sp>
      <p:sp>
        <p:nvSpPr>
          <p:cNvPr id="29" name="Text 19"/>
          <p:cNvSpPr/>
          <p:nvPr/>
        </p:nvSpPr>
        <p:spPr>
          <a:xfrm>
            <a:off x="3891712" y="1284399"/>
            <a:ext cx="140592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系统枚举 USB 设备，加载标准驱动或签名驱动</a:t>
            </a:r>
            <a:endParaRPr lang="en-US" sz="446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985" y="1553680"/>
            <a:ext cx="1818827" cy="48187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91712" y="1638716"/>
            <a:ext cx="34014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安装引导器</a:t>
            </a:r>
            <a:endParaRPr lang="en-US" sz="446" dirty="0"/>
          </a:p>
        </p:txBody>
      </p:sp>
      <p:sp>
        <p:nvSpPr>
          <p:cNvPr id="32" name="Text 21"/>
          <p:cNvSpPr/>
          <p:nvPr/>
        </p:nvSpPr>
        <p:spPr>
          <a:xfrm>
            <a:off x="3891712" y="1752097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展示安装入口、检查系统环境、拉起安装流程</a:t>
            </a:r>
            <a:endParaRPr lang="en-US" sz="446" dirty="0"/>
          </a:p>
        </p:txBody>
      </p:sp>
      <p:sp>
        <p:nvSpPr>
          <p:cNvPr id="33" name="Text 22"/>
          <p:cNvSpPr/>
          <p:nvPr/>
        </p:nvSpPr>
        <p:spPr>
          <a:xfrm>
            <a:off x="3891712" y="1856030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说明：现代操作系统通常不允许静默 autorun</a:t>
            </a:r>
            <a:endParaRPr lang="en-US" sz="446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985" y="2134759"/>
            <a:ext cx="1818827" cy="566907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891712" y="2219795"/>
            <a:ext cx="62926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 Agent Runtime</a:t>
            </a:r>
            <a:endParaRPr lang="en-US" sz="446" dirty="0"/>
          </a:p>
        </p:txBody>
      </p:sp>
      <p:sp>
        <p:nvSpPr>
          <p:cNvPr id="36" name="Text 24"/>
          <p:cNvSpPr/>
          <p:nvPr/>
        </p:nvSpPr>
        <p:spPr>
          <a:xfrm>
            <a:off x="3891712" y="2333177"/>
            <a:ext cx="146262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常驻服务、托盘/菜单栏 UI、本地 API、日志采集</a:t>
            </a:r>
            <a:endParaRPr lang="en-US" sz="446" dirty="0"/>
          </a:p>
        </p:txBody>
      </p:sp>
      <p:sp>
        <p:nvSpPr>
          <p:cNvPr id="37" name="Text 25"/>
          <p:cNvSpPr/>
          <p:nvPr/>
        </p:nvSpPr>
        <p:spPr>
          <a:xfrm>
            <a:off x="3891712" y="2446558"/>
            <a:ext cx="119617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调用设备 SDK 读取身份证明与设备状态</a:t>
            </a:r>
            <a:endParaRPr lang="en-US" sz="446" dirty="0"/>
          </a:p>
        </p:txBody>
      </p:sp>
      <p:sp>
        <p:nvSpPr>
          <p:cNvPr id="38" name="Text 26"/>
          <p:cNvSpPr/>
          <p:nvPr/>
        </p:nvSpPr>
        <p:spPr>
          <a:xfrm>
            <a:off x="3891712" y="2550491"/>
            <a:ext cx="102043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最小权限运行，敏感操作二次确认</a:t>
            </a:r>
            <a:endParaRPr lang="en-US" sz="446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985" y="2800875"/>
            <a:ext cx="1818827" cy="41573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891712" y="2885911"/>
            <a:ext cx="108279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业务应用 / 浏览器插件 / 本地客户端</a:t>
            </a:r>
            <a:endParaRPr lang="en-US" sz="446" dirty="0"/>
          </a:p>
        </p:txBody>
      </p:sp>
      <p:sp>
        <p:nvSpPr>
          <p:cNvPr id="41" name="Text 28"/>
          <p:cNvSpPr/>
          <p:nvPr/>
        </p:nvSpPr>
        <p:spPr>
          <a:xfrm>
            <a:off x="3891712" y="2999292"/>
            <a:ext cx="167237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localhost、IPC 或 Native Messaging 调用 Agent</a:t>
            </a:r>
            <a:endParaRPr lang="en-US" sz="446" dirty="0"/>
          </a:p>
        </p:txBody>
      </p:sp>
      <p:sp>
        <p:nvSpPr>
          <p:cNvPr id="42" name="Text 29"/>
          <p:cNvSpPr/>
          <p:nvPr/>
        </p:nvSpPr>
        <p:spPr>
          <a:xfrm>
            <a:off x="3891712" y="3103225"/>
            <a:ext cx="149663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输出用户态能力：登录、签名、加解密、专网接入</a:t>
            </a:r>
            <a:endParaRPr lang="en-US" sz="446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985" y="3315815"/>
            <a:ext cx="1818827" cy="330696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3891712" y="3400851"/>
            <a:ext cx="47620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本地策略与缓存</a:t>
            </a:r>
            <a:endParaRPr lang="en-US" sz="446" dirty="0"/>
          </a:p>
        </p:txBody>
      </p:sp>
      <p:sp>
        <p:nvSpPr>
          <p:cNvPr id="45" name="Text 31"/>
          <p:cNvSpPr/>
          <p:nvPr/>
        </p:nvSpPr>
        <p:spPr>
          <a:xfrm>
            <a:off x="3891712" y="3514233"/>
            <a:ext cx="136057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离线令牌、策略缓存、证书链缓存、失败重试</a:t>
            </a:r>
            <a:endParaRPr lang="en-US" sz="446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6582" y="589938"/>
            <a:ext cx="1866069" cy="2220386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6348309" y="741113"/>
            <a:ext cx="36282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云端平台</a:t>
            </a:r>
            <a:endParaRPr lang="en-US" sz="446" dirty="0"/>
          </a:p>
        </p:txBody>
      </p:sp>
      <p:sp>
        <p:nvSpPr>
          <p:cNvPr id="48" name="Text 33"/>
          <p:cNvSpPr/>
          <p:nvPr/>
        </p:nvSpPr>
        <p:spPr>
          <a:xfrm>
            <a:off x="6348309" y="873391"/>
            <a:ext cx="123585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身份、认证、Agent 服务和运维管控中心</a:t>
            </a:r>
            <a:endParaRPr lang="en-US" sz="446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8309" y="1085981"/>
            <a:ext cx="1582615" cy="406283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6490035" y="1171017"/>
            <a:ext cx="61226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设备注册与生命周期</a:t>
            </a:r>
            <a:endParaRPr lang="en-US" sz="446" dirty="0"/>
          </a:p>
        </p:txBody>
      </p:sp>
      <p:sp>
        <p:nvSpPr>
          <p:cNvPr id="51" name="Text 35"/>
          <p:cNvSpPr/>
          <p:nvPr/>
        </p:nvSpPr>
        <p:spPr>
          <a:xfrm>
            <a:off x="6490035" y="1284399"/>
            <a:ext cx="129254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出厂写入、激活、挂失、解绑、吊销、换机</a:t>
            </a:r>
            <a:endParaRPr lang="en-US" sz="446" dirty="0"/>
          </a:p>
        </p:txBody>
      </p:sp>
      <p:sp>
        <p:nvSpPr>
          <p:cNvPr id="52" name="Text 36"/>
          <p:cNvSpPr/>
          <p:nvPr/>
        </p:nvSpPr>
        <p:spPr>
          <a:xfrm>
            <a:off x="6490035" y="1388332"/>
            <a:ext cx="125286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 ID、证书、SIM 标识映射到用户账户</a:t>
            </a:r>
            <a:endParaRPr lang="en-US" sz="446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8309" y="1591473"/>
            <a:ext cx="1582615" cy="462974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6490035" y="1676509"/>
            <a:ext cx="54990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身份认证服务</a:t>
            </a:r>
            <a:endParaRPr lang="en-US" sz="446" dirty="0"/>
          </a:p>
        </p:txBody>
      </p:sp>
      <p:sp>
        <p:nvSpPr>
          <p:cNvPr id="55" name="Text 38"/>
          <p:cNvSpPr/>
          <p:nvPr/>
        </p:nvSpPr>
        <p:spPr>
          <a:xfrm>
            <a:off x="6490035" y="1789891"/>
            <a:ext cx="115649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挑战响应、运营商认证接口、风控校验</a:t>
            </a:r>
            <a:endParaRPr lang="en-US" sz="446" dirty="0"/>
          </a:p>
        </p:txBody>
      </p:sp>
      <p:sp>
        <p:nvSpPr>
          <p:cNvPr id="56" name="Text 39"/>
          <p:cNvSpPr/>
          <p:nvPr/>
        </p:nvSpPr>
        <p:spPr>
          <a:xfrm>
            <a:off x="6490035" y="1893824"/>
            <a:ext cx="1094131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对业务输出稳定匿名用户 ID / Token</a:t>
            </a:r>
            <a:endParaRPr lang="en-US" sz="446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8309" y="2153656"/>
            <a:ext cx="1582615" cy="406283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6490035" y="2238692"/>
            <a:ext cx="68028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能力与业务 API</a:t>
            </a:r>
            <a:endParaRPr lang="en-US" sz="446" dirty="0"/>
          </a:p>
        </p:txBody>
      </p:sp>
      <p:sp>
        <p:nvSpPr>
          <p:cNvPr id="59" name="Text 41"/>
          <p:cNvSpPr/>
          <p:nvPr/>
        </p:nvSpPr>
        <p:spPr>
          <a:xfrm>
            <a:off x="6490035" y="2352074"/>
            <a:ext cx="132089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鉴权、权限、配置下发、模型/工具调用网关</a:t>
            </a:r>
            <a:endParaRPr lang="en-US" sz="446" dirty="0"/>
          </a:p>
        </p:txBody>
      </p:sp>
      <p:sp>
        <p:nvSpPr>
          <p:cNvPr id="60" name="Text 42"/>
          <p:cNvSpPr/>
          <p:nvPr/>
        </p:nvSpPr>
        <p:spPr>
          <a:xfrm>
            <a:off x="6490035" y="2456006"/>
            <a:ext cx="115649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按用户、设备、组织、场景精细化授权</a:t>
            </a:r>
            <a:endParaRPr lang="en-US" sz="446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6582" y="2999292"/>
            <a:ext cx="1866069" cy="944845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6348309" y="3150468"/>
            <a:ext cx="561238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运维与安全运营</a:t>
            </a:r>
            <a:endParaRPr lang="en-US" sz="446" dirty="0"/>
          </a:p>
        </p:txBody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8309" y="3344161"/>
            <a:ext cx="1582615" cy="415732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6490035" y="3429197"/>
            <a:ext cx="73131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E2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管理后台 / MDM / SIEM</a:t>
            </a:r>
            <a:endParaRPr lang="en-US" sz="446" dirty="0"/>
          </a:p>
        </p:txBody>
      </p:sp>
      <p:sp>
        <p:nvSpPr>
          <p:cNvPr id="65" name="Text 45"/>
          <p:cNvSpPr/>
          <p:nvPr/>
        </p:nvSpPr>
        <p:spPr>
          <a:xfrm>
            <a:off x="6490035" y="3542578"/>
            <a:ext cx="1224519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设备盘点、策略发布、告警、审计、报表</a:t>
            </a:r>
            <a:endParaRPr lang="en-US" sz="446" dirty="0"/>
          </a:p>
        </p:txBody>
      </p:sp>
      <p:sp>
        <p:nvSpPr>
          <p:cNvPr id="66" name="Text 46"/>
          <p:cNvSpPr/>
          <p:nvPr/>
        </p:nvSpPr>
        <p:spPr>
          <a:xfrm>
            <a:off x="6490035" y="3646511"/>
            <a:ext cx="142860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异常拔插、异地登录、设备克隆、越权调用检测</a:t>
            </a:r>
            <a:endParaRPr lang="en-US" sz="446" dirty="0"/>
          </a:p>
        </p:txBody>
      </p:sp>
      <p:pic>
        <p:nvPicPr>
          <p:cNvPr id="6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1349" y="4038622"/>
            <a:ext cx="6991853" cy="420456"/>
          </a:xfrm>
          <a:prstGeom prst="rect">
            <a:avLst/>
          </a:prstGeom>
        </p:spPr>
      </p:pic>
      <p:sp>
        <p:nvSpPr>
          <p:cNvPr id="68" name="Text 47"/>
          <p:cNvSpPr/>
          <p:nvPr/>
        </p:nvSpPr>
        <p:spPr>
          <a:xfrm>
            <a:off x="1184731" y="4227591"/>
            <a:ext cx="40817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关键安全设计</a:t>
            </a:r>
            <a:endParaRPr lang="en-US" sz="446" dirty="0"/>
          </a:p>
        </p:txBody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05187" y="4137831"/>
            <a:ext cx="1157435" cy="245660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1694947" y="4227591"/>
            <a:ext cx="68595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安装包与驱动代码签名</a:t>
            </a:r>
            <a:endParaRPr lang="en-US" sz="446" dirty="0"/>
          </a:p>
        </p:txBody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71279" y="4137831"/>
            <a:ext cx="1199953" cy="245660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3046075" y="4227591"/>
            <a:ext cx="691627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标识脱敏与令牌化</a:t>
            </a:r>
            <a:endParaRPr lang="en-US" sz="446" dirty="0"/>
          </a:p>
        </p:txBody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84614" y="4137831"/>
            <a:ext cx="1157435" cy="245660"/>
          </a:xfrm>
          <a:prstGeom prst="rect">
            <a:avLst/>
          </a:prstGeom>
        </p:spPr>
      </p:pic>
      <p:sp>
        <p:nvSpPr>
          <p:cNvPr id="74" name="Text 50"/>
          <p:cNvSpPr/>
          <p:nvPr/>
        </p:nvSpPr>
        <p:spPr>
          <a:xfrm>
            <a:off x="4449170" y="4227591"/>
            <a:ext cx="640605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设备证书 + 双向 TLS</a:t>
            </a:r>
            <a:endParaRPr lang="en-US" sz="446" dirty="0"/>
          </a:p>
        </p:txBody>
      </p:sp>
      <p:pic>
        <p:nvPicPr>
          <p:cNvPr id="7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55430" y="4137831"/>
            <a:ext cx="1105469" cy="245660"/>
          </a:xfrm>
          <a:prstGeom prst="rect">
            <a:avLst/>
          </a:prstGeom>
        </p:spPr>
      </p:pic>
      <p:sp>
        <p:nvSpPr>
          <p:cNvPr id="76" name="Text 51"/>
          <p:cNvSpPr/>
          <p:nvPr/>
        </p:nvSpPr>
        <p:spPr>
          <a:xfrm>
            <a:off x="5800299" y="4227591"/>
            <a:ext cx="612260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最小权限与本地沙箱</a:t>
            </a:r>
            <a:endParaRPr lang="en-US" sz="446" dirty="0"/>
          </a:p>
        </p:txBody>
      </p:sp>
      <p:pic>
        <p:nvPicPr>
          <p:cNvPr id="7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74280" y="4137831"/>
            <a:ext cx="1247195" cy="245660"/>
          </a:xfrm>
          <a:prstGeom prst="rect">
            <a:avLst/>
          </a:prstGeom>
        </p:spPr>
      </p:pic>
      <p:sp>
        <p:nvSpPr>
          <p:cNvPr id="78" name="Text 52"/>
          <p:cNvSpPr/>
          <p:nvPr/>
        </p:nvSpPr>
        <p:spPr>
          <a:xfrm>
            <a:off x="7108909" y="4227591"/>
            <a:ext cx="816346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485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远程吊销、OTA、审计追踪</a:t>
            </a:r>
            <a:endParaRPr lang="en-US" sz="446" dirty="0"/>
          </a:p>
        </p:txBody>
      </p:sp>
      <p:pic>
        <p:nvPicPr>
          <p:cNvPr id="7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70488" y="1270226"/>
            <a:ext cx="779497" cy="11338"/>
          </a:xfrm>
          <a:prstGeom prst="rect">
            <a:avLst/>
          </a:prstGeom>
        </p:spPr>
      </p:pic>
      <p:pic>
        <p:nvPicPr>
          <p:cNvPr id="8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70488" y="1794615"/>
            <a:ext cx="779497" cy="11338"/>
          </a:xfrm>
          <a:prstGeom prst="rect">
            <a:avLst/>
          </a:prstGeom>
        </p:spPr>
      </p:pic>
      <p:pic>
        <p:nvPicPr>
          <p:cNvPr id="8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68811" y="1794615"/>
            <a:ext cx="779497" cy="614149"/>
          </a:xfrm>
          <a:prstGeom prst="rect">
            <a:avLst/>
          </a:prstGeom>
        </p:spPr>
      </p:pic>
      <p:pic>
        <p:nvPicPr>
          <p:cNvPr id="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68811" y="2366246"/>
            <a:ext cx="779497" cy="642495"/>
          </a:xfrm>
          <a:prstGeom prst="rect">
            <a:avLst/>
          </a:prstGeom>
        </p:spPr>
      </p:pic>
      <p:pic>
        <p:nvPicPr>
          <p:cNvPr id="8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68811" y="1298571"/>
            <a:ext cx="779497" cy="992087"/>
          </a:xfrm>
          <a:prstGeom prst="rect">
            <a:avLst/>
          </a:prstGeom>
        </p:spPr>
      </p:pic>
      <p:pic>
        <p:nvPicPr>
          <p:cNvPr id="8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096506" y="3093777"/>
            <a:ext cx="4936815" cy="734072"/>
          </a:xfrm>
          <a:prstGeom prst="rect">
            <a:avLst/>
          </a:prstGeom>
        </p:spPr>
      </p:pic>
      <p:pic>
        <p:nvPicPr>
          <p:cNvPr id="8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37254" y="2559939"/>
            <a:ext cx="4724" cy="784221"/>
          </a:xfrm>
          <a:prstGeom prst="rect">
            <a:avLst/>
          </a:prstGeom>
        </p:spPr>
      </p:pic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35044" y="1194638"/>
            <a:ext cx="151175" cy="151175"/>
          </a:xfrm>
          <a:prstGeom prst="rect">
            <a:avLst/>
          </a:prstGeom>
        </p:spPr>
      </p:pic>
      <p:sp>
        <p:nvSpPr>
          <p:cNvPr id="87" name="Text 53"/>
          <p:cNvSpPr/>
          <p:nvPr/>
        </p:nvSpPr>
        <p:spPr>
          <a:xfrm>
            <a:off x="3291735" y="1237156"/>
            <a:ext cx="34014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46" dirty="0"/>
          </a:p>
        </p:txBody>
      </p:sp>
      <p:sp>
        <p:nvSpPr>
          <p:cNvPr id="88" name="Text 54"/>
          <p:cNvSpPr/>
          <p:nvPr/>
        </p:nvSpPr>
        <p:spPr>
          <a:xfrm>
            <a:off x="3206699" y="1052912"/>
            <a:ext cx="317468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插入设备</a:t>
            </a:r>
            <a:endParaRPr lang="en-US" sz="521" dirty="0"/>
          </a:p>
        </p:txBody>
      </p:sp>
      <p:pic>
        <p:nvPicPr>
          <p:cNvPr id="8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10632" y="1719027"/>
            <a:ext cx="151175" cy="151175"/>
          </a:xfrm>
          <a:prstGeom prst="rect">
            <a:avLst/>
          </a:prstGeom>
        </p:spPr>
      </p:pic>
      <p:sp>
        <p:nvSpPr>
          <p:cNvPr id="90" name="Text 55"/>
          <p:cNvSpPr/>
          <p:nvPr/>
        </p:nvSpPr>
        <p:spPr>
          <a:xfrm>
            <a:off x="3367323" y="1761545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46" dirty="0"/>
          </a:p>
        </p:txBody>
      </p:sp>
      <p:sp>
        <p:nvSpPr>
          <p:cNvPr id="91" name="Text 56"/>
          <p:cNvSpPr/>
          <p:nvPr/>
        </p:nvSpPr>
        <p:spPr>
          <a:xfrm>
            <a:off x="3230320" y="1936342"/>
            <a:ext cx="345813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安装/更新</a:t>
            </a:r>
            <a:endParaRPr lang="en-US" sz="521" dirty="0"/>
          </a:p>
        </p:txBody>
      </p:sp>
      <p:pic>
        <p:nvPicPr>
          <p:cNvPr id="9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61713" y="2101690"/>
            <a:ext cx="151175" cy="151175"/>
          </a:xfrm>
          <a:prstGeom prst="rect">
            <a:avLst/>
          </a:prstGeom>
        </p:spPr>
      </p:pic>
      <p:sp>
        <p:nvSpPr>
          <p:cNvPr id="93" name="Text 57"/>
          <p:cNvSpPr/>
          <p:nvPr/>
        </p:nvSpPr>
        <p:spPr>
          <a:xfrm>
            <a:off x="5918404" y="2144208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46" dirty="0"/>
          </a:p>
        </p:txBody>
      </p:sp>
      <p:sp>
        <p:nvSpPr>
          <p:cNvPr id="94" name="Text 58"/>
          <p:cNvSpPr/>
          <p:nvPr/>
        </p:nvSpPr>
        <p:spPr>
          <a:xfrm>
            <a:off x="5771953" y="1997757"/>
            <a:ext cx="476202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挑战响应认证</a:t>
            </a:r>
            <a:endParaRPr lang="en-US" sz="521" dirty="0"/>
          </a:p>
        </p:txBody>
      </p:sp>
      <p:pic>
        <p:nvPicPr>
          <p:cNvPr id="9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42025" y="2734736"/>
            <a:ext cx="151175" cy="151175"/>
          </a:xfrm>
          <a:prstGeom prst="rect">
            <a:avLst/>
          </a:prstGeom>
        </p:spPr>
      </p:pic>
      <p:sp>
        <p:nvSpPr>
          <p:cNvPr id="96" name="Text 59"/>
          <p:cNvSpPr/>
          <p:nvPr/>
        </p:nvSpPr>
        <p:spPr>
          <a:xfrm>
            <a:off x="5998716" y="2777254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46" dirty="0"/>
          </a:p>
        </p:txBody>
      </p:sp>
      <p:sp>
        <p:nvSpPr>
          <p:cNvPr id="97" name="Text 60"/>
          <p:cNvSpPr/>
          <p:nvPr/>
        </p:nvSpPr>
        <p:spPr>
          <a:xfrm>
            <a:off x="5805023" y="2895359"/>
            <a:ext cx="476202" cy="8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业务能力调用</a:t>
            </a:r>
            <a:endParaRPr lang="en-US" sz="521" dirty="0"/>
          </a:p>
        </p:txBody>
      </p:sp>
      <p:pic>
        <p:nvPicPr>
          <p:cNvPr id="9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061667" y="2876463"/>
            <a:ext cx="151175" cy="151175"/>
          </a:xfrm>
          <a:prstGeom prst="rect">
            <a:avLst/>
          </a:prstGeom>
        </p:spPr>
      </p:pic>
      <p:sp>
        <p:nvSpPr>
          <p:cNvPr id="99" name="Text 61"/>
          <p:cNvSpPr/>
          <p:nvPr/>
        </p:nvSpPr>
        <p:spPr>
          <a:xfrm>
            <a:off x="7118357" y="2918981"/>
            <a:ext cx="45353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46" dirty="0"/>
          </a:p>
        </p:txBody>
      </p:sp>
      <p:sp>
        <p:nvSpPr>
          <p:cNvPr id="100" name="Text 62"/>
          <p:cNvSpPr/>
          <p:nvPr/>
        </p:nvSpPr>
        <p:spPr>
          <a:xfrm>
            <a:off x="7245911" y="2918981"/>
            <a:ext cx="595252" cy="7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6" dirty="0">
                <a:solidFill>
                  <a:srgbClr val="6070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日志/策略/风控闭环</a:t>
            </a:r>
            <a:endParaRPr lang="en-US" sz="4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信用中心-一图讲清 1-sim-agent-architecture 1</dc:title>
  <dc:subject>由 Figma Frame 转换生成</dc:subject>
  <dc:creator>Frame2PPT</dc:creator>
  <cp:lastModifiedBy>Frame2PPT</cp:lastModifiedBy>
  <cp:revision>1</cp:revision>
  <dcterms:created xsi:type="dcterms:W3CDTF">2026-08-12T09:31:31Z</dcterms:created>
  <dcterms:modified xsi:type="dcterms:W3CDTF">2026-08-12T09:31:31Z</dcterms:modified>
</cp:coreProperties>
</file>