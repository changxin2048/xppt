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98" y="589938"/>
            <a:ext cx="2031417" cy="3354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22524" y="741113"/>
            <a:ext cx="532893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智能 USB 设备</a:t>
            </a:r>
            <a:endParaRPr lang="en-US" sz="446" dirty="0"/>
          </a:p>
        </p:txBody>
      </p:sp>
      <p:sp>
        <p:nvSpPr>
          <p:cNvPr id="4" name="Text 1"/>
          <p:cNvSpPr/>
          <p:nvPr/>
        </p:nvSpPr>
        <p:spPr>
          <a:xfrm>
            <a:off x="1222524" y="873391"/>
            <a:ext cx="1502304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 盘 / U 盾形态，内置 SIM/eSIM 与安全执行能力</a:t>
            </a:r>
            <a:endParaRPr lang="en-US" sz="446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524" y="1085981"/>
            <a:ext cx="1747963" cy="3684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64251" y="1171017"/>
            <a:ext cx="56690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USB 复合设备接口</a:t>
            </a:r>
            <a:endParaRPr lang="en-US" sz="446" dirty="0"/>
          </a:p>
        </p:txBody>
      </p:sp>
      <p:sp>
        <p:nvSpPr>
          <p:cNvPr id="7" name="Text 3"/>
          <p:cNvSpPr/>
          <p:nvPr/>
        </p:nvSpPr>
        <p:spPr>
          <a:xfrm>
            <a:off x="1364251" y="1284399"/>
            <a:ext cx="1343570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 Storage / HID / CCID / USB Network</a:t>
            </a:r>
            <a:endParaRPr lang="en-US" sz="446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24" y="1553680"/>
            <a:ext cx="1747963" cy="4251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64251" y="1638716"/>
            <a:ext cx="408173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只读安装分区</a:t>
            </a:r>
            <a:endParaRPr lang="en-US" sz="446" dirty="0"/>
          </a:p>
        </p:txBody>
      </p:sp>
      <p:sp>
        <p:nvSpPr>
          <p:cNvPr id="10" name="Text 5"/>
          <p:cNvSpPr/>
          <p:nvPr/>
        </p:nvSpPr>
        <p:spPr>
          <a:xfrm>
            <a:off x="1364251" y="1752097"/>
            <a:ext cx="1303886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跨平台安装器、驱动、Agent 包、版本清单</a:t>
            </a:r>
            <a:endParaRPr lang="en-US" sz="446" dirty="0"/>
          </a:p>
        </p:txBody>
      </p:sp>
      <p:sp>
        <p:nvSpPr>
          <p:cNvPr id="11" name="Text 6"/>
          <p:cNvSpPr/>
          <p:nvPr/>
        </p:nvSpPr>
        <p:spPr>
          <a:xfrm>
            <a:off x="1364251" y="1856030"/>
            <a:ext cx="1394591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建议：签名安装包 + 哈希校验 + 灰度版本策略</a:t>
            </a:r>
            <a:endParaRPr lang="en-US" sz="446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524" y="2078068"/>
            <a:ext cx="1747963" cy="46297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64251" y="2163105"/>
            <a:ext cx="640605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 / eSIM 身份模块</a:t>
            </a:r>
            <a:endParaRPr lang="en-US" sz="446" dirty="0"/>
          </a:p>
        </p:txBody>
      </p:sp>
      <p:sp>
        <p:nvSpPr>
          <p:cNvPr id="14" name="Text 8"/>
          <p:cNvSpPr/>
          <p:nvPr/>
        </p:nvSpPr>
        <p:spPr>
          <a:xfrm>
            <a:off x="1364251" y="2276486"/>
            <a:ext cx="941066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IMSI / ICCID / Ki 派生挑战响应</a:t>
            </a:r>
            <a:endParaRPr lang="en-US" sz="446" dirty="0"/>
          </a:p>
        </p:txBody>
      </p:sp>
      <p:sp>
        <p:nvSpPr>
          <p:cNvPr id="15" name="Text 9"/>
          <p:cNvSpPr/>
          <p:nvPr/>
        </p:nvSpPr>
        <p:spPr>
          <a:xfrm>
            <a:off x="1364251" y="2380419"/>
            <a:ext cx="136057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唯一用户锚点，不直接暴露敏感标识给业务层</a:t>
            </a:r>
            <a:endParaRPr lang="en-US" sz="446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2524" y="2640251"/>
            <a:ext cx="1747963" cy="4535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64251" y="2725287"/>
            <a:ext cx="68595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安全芯片 / TEE / MCU</a:t>
            </a:r>
            <a:endParaRPr lang="en-US" sz="446" dirty="0"/>
          </a:p>
        </p:txBody>
      </p:sp>
      <p:sp>
        <p:nvSpPr>
          <p:cNvPr id="18" name="Text 11"/>
          <p:cNvSpPr/>
          <p:nvPr/>
        </p:nvSpPr>
        <p:spPr>
          <a:xfrm>
            <a:off x="1364251" y="2838669"/>
            <a:ext cx="1224519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密钥封装、设备证书、签名、反克隆检测</a:t>
            </a:r>
            <a:endParaRPr lang="en-US" sz="446" dirty="0"/>
          </a:p>
        </p:txBody>
      </p:sp>
      <p:sp>
        <p:nvSpPr>
          <p:cNvPr id="19" name="Text 12"/>
          <p:cNvSpPr/>
          <p:nvPr/>
        </p:nvSpPr>
        <p:spPr>
          <a:xfrm>
            <a:off x="1364251" y="2942602"/>
            <a:ext cx="1133814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可选：国密算法、PIN、生物特征绑定</a:t>
            </a:r>
            <a:endParaRPr lang="en-US" sz="446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2524" y="3192986"/>
            <a:ext cx="1747963" cy="45352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364251" y="3278022"/>
            <a:ext cx="74831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设备固件与本地控制服务</a:t>
            </a:r>
            <a:endParaRPr lang="en-US" sz="446" dirty="0"/>
          </a:p>
        </p:txBody>
      </p:sp>
      <p:sp>
        <p:nvSpPr>
          <p:cNvPr id="22" name="Text 14"/>
          <p:cNvSpPr/>
          <p:nvPr/>
        </p:nvSpPr>
        <p:spPr>
          <a:xfrm>
            <a:off x="1364251" y="3391403"/>
            <a:ext cx="1167828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枚举控制、状态上报、Agent 通信通道</a:t>
            </a:r>
            <a:endParaRPr lang="en-US" sz="446" dirty="0"/>
          </a:p>
        </p:txBody>
      </p:sp>
      <p:sp>
        <p:nvSpPr>
          <p:cNvPr id="23" name="Text 15"/>
          <p:cNvSpPr/>
          <p:nvPr/>
        </p:nvSpPr>
        <p:spPr>
          <a:xfrm>
            <a:off x="1364251" y="3495336"/>
            <a:ext cx="1105469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OTA 固件升级需签名校验与回滚保护</a:t>
            </a:r>
            <a:endParaRPr lang="en-US" sz="446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637" y="589938"/>
            <a:ext cx="2149522" cy="3354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726364" y="741113"/>
            <a:ext cx="357151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 用户电脑</a:t>
            </a:r>
            <a:endParaRPr lang="en-US" sz="446" dirty="0"/>
          </a:p>
        </p:txBody>
      </p:sp>
      <p:sp>
        <p:nvSpPr>
          <p:cNvPr id="26" name="Text 17"/>
          <p:cNvSpPr/>
          <p:nvPr/>
        </p:nvSpPr>
        <p:spPr>
          <a:xfrm>
            <a:off x="3726364" y="873391"/>
            <a:ext cx="1706390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/ macOS / Linux，完成安装、运行和本地集成</a:t>
            </a:r>
            <a:endParaRPr lang="en-US" sz="446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9985" y="1085981"/>
            <a:ext cx="1818827" cy="36849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891712" y="1171017"/>
            <a:ext cx="476202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设备插入与识别</a:t>
            </a:r>
            <a:endParaRPr lang="en-US" sz="446" dirty="0"/>
          </a:p>
        </p:txBody>
      </p:sp>
      <p:sp>
        <p:nvSpPr>
          <p:cNvPr id="29" name="Text 19"/>
          <p:cNvSpPr/>
          <p:nvPr/>
        </p:nvSpPr>
        <p:spPr>
          <a:xfrm>
            <a:off x="3891712" y="1284399"/>
            <a:ext cx="1405929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系统枚举 USB 设备，加载标准驱动或签名驱动</a:t>
            </a:r>
            <a:endParaRPr lang="en-US" sz="446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9985" y="1553680"/>
            <a:ext cx="1818827" cy="481871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891712" y="1638716"/>
            <a:ext cx="340144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安装引导器</a:t>
            </a:r>
            <a:endParaRPr lang="en-US" sz="446" dirty="0"/>
          </a:p>
        </p:txBody>
      </p:sp>
      <p:sp>
        <p:nvSpPr>
          <p:cNvPr id="32" name="Text 21"/>
          <p:cNvSpPr/>
          <p:nvPr/>
        </p:nvSpPr>
        <p:spPr>
          <a:xfrm>
            <a:off x="3891712" y="1752097"/>
            <a:ext cx="136057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展示安装入口、检查系统环境、拉起安装流程</a:t>
            </a:r>
            <a:endParaRPr lang="en-US" sz="446" dirty="0"/>
          </a:p>
        </p:txBody>
      </p:sp>
      <p:sp>
        <p:nvSpPr>
          <p:cNvPr id="33" name="Text 22"/>
          <p:cNvSpPr/>
          <p:nvPr/>
        </p:nvSpPr>
        <p:spPr>
          <a:xfrm>
            <a:off x="3891712" y="1856030"/>
            <a:ext cx="136057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说明：现代操作系统通常不允许静默 autorun</a:t>
            </a:r>
            <a:endParaRPr lang="en-US" sz="446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9985" y="2134759"/>
            <a:ext cx="1818827" cy="566907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3891712" y="2219795"/>
            <a:ext cx="62926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本地 Agent Runtime</a:t>
            </a:r>
            <a:endParaRPr lang="en-US" sz="446" dirty="0"/>
          </a:p>
        </p:txBody>
      </p:sp>
      <p:sp>
        <p:nvSpPr>
          <p:cNvPr id="36" name="Text 24"/>
          <p:cNvSpPr/>
          <p:nvPr/>
        </p:nvSpPr>
        <p:spPr>
          <a:xfrm>
            <a:off x="3891712" y="2333177"/>
            <a:ext cx="1462620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常驻服务、托盘/菜单栏 UI、本地 API、日志采集</a:t>
            </a:r>
            <a:endParaRPr lang="en-US" sz="446" dirty="0"/>
          </a:p>
        </p:txBody>
      </p:sp>
      <p:sp>
        <p:nvSpPr>
          <p:cNvPr id="37" name="Text 25"/>
          <p:cNvSpPr/>
          <p:nvPr/>
        </p:nvSpPr>
        <p:spPr>
          <a:xfrm>
            <a:off x="3891712" y="2446558"/>
            <a:ext cx="1196174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调用设备 SDK 读取身份证明与设备状态</a:t>
            </a:r>
            <a:endParaRPr lang="en-US" sz="446" dirty="0"/>
          </a:p>
        </p:txBody>
      </p:sp>
      <p:sp>
        <p:nvSpPr>
          <p:cNvPr id="38" name="Text 26"/>
          <p:cNvSpPr/>
          <p:nvPr/>
        </p:nvSpPr>
        <p:spPr>
          <a:xfrm>
            <a:off x="3891712" y="2550491"/>
            <a:ext cx="1020433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最小权限运行，敏感操作二次确认</a:t>
            </a:r>
            <a:endParaRPr lang="en-US" sz="446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49985" y="2800875"/>
            <a:ext cx="1818827" cy="415732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3891712" y="2885911"/>
            <a:ext cx="1082792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业务应用 / 浏览器插件 / 本地客户端</a:t>
            </a:r>
            <a:endParaRPr lang="en-US" sz="446" dirty="0"/>
          </a:p>
        </p:txBody>
      </p:sp>
      <p:sp>
        <p:nvSpPr>
          <p:cNvPr id="41" name="Text 28"/>
          <p:cNvSpPr/>
          <p:nvPr/>
        </p:nvSpPr>
        <p:spPr>
          <a:xfrm>
            <a:off x="3891712" y="2999292"/>
            <a:ext cx="1672376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 localhost、IPC 或 Native Messaging 调用 Agent</a:t>
            </a:r>
            <a:endParaRPr lang="en-US" sz="446" dirty="0"/>
          </a:p>
        </p:txBody>
      </p:sp>
      <p:sp>
        <p:nvSpPr>
          <p:cNvPr id="42" name="Text 29"/>
          <p:cNvSpPr/>
          <p:nvPr/>
        </p:nvSpPr>
        <p:spPr>
          <a:xfrm>
            <a:off x="3891712" y="3103225"/>
            <a:ext cx="1496634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输出用户态能力：登录、签名、加解密、专网接入</a:t>
            </a:r>
            <a:endParaRPr lang="en-US" sz="446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49985" y="3315815"/>
            <a:ext cx="1818827" cy="330696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3891712" y="3400851"/>
            <a:ext cx="476202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本地策略与缓存</a:t>
            </a:r>
            <a:endParaRPr lang="en-US" sz="446" dirty="0"/>
          </a:p>
        </p:txBody>
      </p:sp>
      <p:sp>
        <p:nvSpPr>
          <p:cNvPr id="45" name="Text 31"/>
          <p:cNvSpPr/>
          <p:nvPr/>
        </p:nvSpPr>
        <p:spPr>
          <a:xfrm>
            <a:off x="3891712" y="3514233"/>
            <a:ext cx="136057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离线令牌、策略缓存、证书链缓存、失败重试</a:t>
            </a:r>
            <a:endParaRPr lang="en-US" sz="446" dirty="0"/>
          </a:p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06582" y="589938"/>
            <a:ext cx="1866069" cy="2220386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6348309" y="741113"/>
            <a:ext cx="362820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C. 云端平台</a:t>
            </a:r>
            <a:endParaRPr lang="en-US" sz="446" dirty="0"/>
          </a:p>
        </p:txBody>
      </p:sp>
      <p:sp>
        <p:nvSpPr>
          <p:cNvPr id="48" name="Text 33"/>
          <p:cNvSpPr/>
          <p:nvPr/>
        </p:nvSpPr>
        <p:spPr>
          <a:xfrm>
            <a:off x="6348309" y="873391"/>
            <a:ext cx="123585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身份、认证、Agent 服务和运维管控中心</a:t>
            </a:r>
            <a:endParaRPr lang="en-US" sz="446" dirty="0"/>
          </a:p>
        </p:txBody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48309" y="1085981"/>
            <a:ext cx="1582615" cy="406283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6490035" y="1171017"/>
            <a:ext cx="612260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设备注册与生命周期</a:t>
            </a:r>
            <a:endParaRPr lang="en-US" sz="446" dirty="0"/>
          </a:p>
        </p:txBody>
      </p:sp>
      <p:sp>
        <p:nvSpPr>
          <p:cNvPr id="51" name="Text 35"/>
          <p:cNvSpPr/>
          <p:nvPr/>
        </p:nvSpPr>
        <p:spPr>
          <a:xfrm>
            <a:off x="6490035" y="1284399"/>
            <a:ext cx="1292548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出厂写入、激活、挂失、解绑、吊销、换机</a:t>
            </a:r>
            <a:endParaRPr lang="en-US" sz="446" dirty="0"/>
          </a:p>
        </p:txBody>
      </p:sp>
      <p:sp>
        <p:nvSpPr>
          <p:cNvPr id="52" name="Text 36"/>
          <p:cNvSpPr/>
          <p:nvPr/>
        </p:nvSpPr>
        <p:spPr>
          <a:xfrm>
            <a:off x="6490035" y="1388332"/>
            <a:ext cx="1252864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设备 ID、证书、SIM 标识映射到用户账户</a:t>
            </a:r>
            <a:endParaRPr lang="en-US" sz="446" dirty="0"/>
          </a:p>
        </p:txBody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8309" y="1591473"/>
            <a:ext cx="1582615" cy="462974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6490035" y="1676509"/>
            <a:ext cx="549900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 身份认证服务</a:t>
            </a:r>
            <a:endParaRPr lang="en-US" sz="446" dirty="0"/>
          </a:p>
        </p:txBody>
      </p:sp>
      <p:sp>
        <p:nvSpPr>
          <p:cNvPr id="55" name="Text 38"/>
          <p:cNvSpPr/>
          <p:nvPr/>
        </p:nvSpPr>
        <p:spPr>
          <a:xfrm>
            <a:off x="6490035" y="1789891"/>
            <a:ext cx="1156490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挑战响应、运营商认证接口、风控校验</a:t>
            </a:r>
            <a:endParaRPr lang="en-US" sz="446" dirty="0"/>
          </a:p>
        </p:txBody>
      </p:sp>
      <p:sp>
        <p:nvSpPr>
          <p:cNvPr id="56" name="Text 39"/>
          <p:cNvSpPr/>
          <p:nvPr/>
        </p:nvSpPr>
        <p:spPr>
          <a:xfrm>
            <a:off x="6490035" y="1893824"/>
            <a:ext cx="1094131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对业务输出稳定匿名用户 ID / Token</a:t>
            </a:r>
            <a:endParaRPr lang="en-US" sz="446" dirty="0"/>
          </a:p>
        </p:txBody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48309" y="2153656"/>
            <a:ext cx="1582615" cy="406283"/>
          </a:xfrm>
          <a:prstGeom prst="rect">
            <a:avLst/>
          </a:prstGeom>
        </p:spPr>
      </p:pic>
      <p:sp>
        <p:nvSpPr>
          <p:cNvPr id="58" name="Text 40"/>
          <p:cNvSpPr/>
          <p:nvPr/>
        </p:nvSpPr>
        <p:spPr>
          <a:xfrm>
            <a:off x="6490035" y="2238692"/>
            <a:ext cx="680288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能力与业务 API</a:t>
            </a:r>
            <a:endParaRPr lang="en-US" sz="446" dirty="0"/>
          </a:p>
        </p:txBody>
      </p:sp>
      <p:sp>
        <p:nvSpPr>
          <p:cNvPr id="59" name="Text 41"/>
          <p:cNvSpPr/>
          <p:nvPr/>
        </p:nvSpPr>
        <p:spPr>
          <a:xfrm>
            <a:off x="6490035" y="2352074"/>
            <a:ext cx="1320893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鉴权、权限、配置下发、模型/工具调用网关</a:t>
            </a:r>
            <a:endParaRPr lang="en-US" sz="446" dirty="0"/>
          </a:p>
        </p:txBody>
      </p:sp>
      <p:sp>
        <p:nvSpPr>
          <p:cNvPr id="60" name="Text 42"/>
          <p:cNvSpPr/>
          <p:nvPr/>
        </p:nvSpPr>
        <p:spPr>
          <a:xfrm>
            <a:off x="6490035" y="2456006"/>
            <a:ext cx="1156490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按用户、设备、组织、场景精细化授权</a:t>
            </a:r>
            <a:endParaRPr lang="en-US" sz="446" dirty="0"/>
          </a:p>
        </p:txBody>
      </p:sp>
      <p:pic>
        <p:nvPicPr>
          <p:cNvPr id="6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06582" y="2999292"/>
            <a:ext cx="1866069" cy="944845"/>
          </a:xfrm>
          <a:prstGeom prst="rect">
            <a:avLst/>
          </a:prstGeom>
        </p:spPr>
      </p:pic>
      <p:sp>
        <p:nvSpPr>
          <p:cNvPr id="62" name="Text 43"/>
          <p:cNvSpPr/>
          <p:nvPr/>
        </p:nvSpPr>
        <p:spPr>
          <a:xfrm>
            <a:off x="6348309" y="3150468"/>
            <a:ext cx="561238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D. 运维与安全运营</a:t>
            </a:r>
            <a:endParaRPr lang="en-US" sz="446" dirty="0"/>
          </a:p>
        </p:txBody>
      </p:sp>
      <p:pic>
        <p:nvPicPr>
          <p:cNvPr id="6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48309" y="3344161"/>
            <a:ext cx="1582615" cy="415732"/>
          </a:xfrm>
          <a:prstGeom prst="rect">
            <a:avLst/>
          </a:prstGeom>
        </p:spPr>
      </p:pic>
      <p:sp>
        <p:nvSpPr>
          <p:cNvPr id="64" name="Text 44"/>
          <p:cNvSpPr/>
          <p:nvPr/>
        </p:nvSpPr>
        <p:spPr>
          <a:xfrm>
            <a:off x="6490035" y="3429197"/>
            <a:ext cx="731310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管理后台 / MDM / SIEM</a:t>
            </a:r>
            <a:endParaRPr lang="en-US" sz="446" dirty="0"/>
          </a:p>
        </p:txBody>
      </p:sp>
      <p:sp>
        <p:nvSpPr>
          <p:cNvPr id="65" name="Text 45"/>
          <p:cNvSpPr/>
          <p:nvPr/>
        </p:nvSpPr>
        <p:spPr>
          <a:xfrm>
            <a:off x="6490035" y="3542578"/>
            <a:ext cx="1224519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设备盘点、策略发布、告警、审计、报表</a:t>
            </a:r>
            <a:endParaRPr lang="en-US" sz="446" dirty="0"/>
          </a:p>
        </p:txBody>
      </p:sp>
      <p:sp>
        <p:nvSpPr>
          <p:cNvPr id="66" name="Text 46"/>
          <p:cNvSpPr/>
          <p:nvPr/>
        </p:nvSpPr>
        <p:spPr>
          <a:xfrm>
            <a:off x="6490035" y="3646511"/>
            <a:ext cx="1428606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异常拔插、异地登录、设备克隆、越权调用检测</a:t>
            </a:r>
            <a:endParaRPr lang="en-US" sz="446" dirty="0"/>
          </a:p>
        </p:txBody>
      </p:sp>
      <p:pic>
        <p:nvPicPr>
          <p:cNvPr id="6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1349" y="4038622"/>
            <a:ext cx="6991853" cy="420456"/>
          </a:xfrm>
          <a:prstGeom prst="rect">
            <a:avLst/>
          </a:prstGeom>
        </p:spPr>
      </p:pic>
      <p:sp>
        <p:nvSpPr>
          <p:cNvPr id="68" name="Text 47"/>
          <p:cNvSpPr/>
          <p:nvPr/>
        </p:nvSpPr>
        <p:spPr>
          <a:xfrm>
            <a:off x="1184731" y="4227591"/>
            <a:ext cx="408173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关键安全设计</a:t>
            </a:r>
            <a:endParaRPr lang="en-US" sz="446" dirty="0"/>
          </a:p>
        </p:txBody>
      </p:sp>
      <p:pic>
        <p:nvPicPr>
          <p:cNvPr id="6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05187" y="4137831"/>
            <a:ext cx="1157435" cy="245660"/>
          </a:xfrm>
          <a:prstGeom prst="rect">
            <a:avLst/>
          </a:prstGeom>
        </p:spPr>
      </p:pic>
      <p:sp>
        <p:nvSpPr>
          <p:cNvPr id="70" name="Text 48"/>
          <p:cNvSpPr/>
          <p:nvPr/>
        </p:nvSpPr>
        <p:spPr>
          <a:xfrm>
            <a:off x="1694947" y="4227591"/>
            <a:ext cx="68595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安装包与驱动代码签名</a:t>
            </a:r>
            <a:endParaRPr lang="en-US" sz="446" dirty="0"/>
          </a:p>
        </p:txBody>
      </p:sp>
      <p:pic>
        <p:nvPicPr>
          <p:cNvPr id="7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71279" y="4137831"/>
            <a:ext cx="1199953" cy="245660"/>
          </a:xfrm>
          <a:prstGeom prst="rect">
            <a:avLst/>
          </a:prstGeom>
        </p:spPr>
      </p:pic>
      <p:sp>
        <p:nvSpPr>
          <p:cNvPr id="72" name="Text 49"/>
          <p:cNvSpPr/>
          <p:nvPr/>
        </p:nvSpPr>
        <p:spPr>
          <a:xfrm>
            <a:off x="3046075" y="4227591"/>
            <a:ext cx="69162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 标识脱敏与令牌化</a:t>
            </a:r>
            <a:endParaRPr lang="en-US" sz="446" dirty="0"/>
          </a:p>
        </p:txBody>
      </p:sp>
      <p:pic>
        <p:nvPicPr>
          <p:cNvPr id="7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84614" y="4137831"/>
            <a:ext cx="1157435" cy="245660"/>
          </a:xfrm>
          <a:prstGeom prst="rect">
            <a:avLst/>
          </a:prstGeom>
        </p:spPr>
      </p:pic>
      <p:sp>
        <p:nvSpPr>
          <p:cNvPr id="74" name="Text 50"/>
          <p:cNvSpPr/>
          <p:nvPr/>
        </p:nvSpPr>
        <p:spPr>
          <a:xfrm>
            <a:off x="4449170" y="4227591"/>
            <a:ext cx="640605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设备证书 + 双向 TLS</a:t>
            </a:r>
            <a:endParaRPr lang="en-US" sz="446" dirty="0"/>
          </a:p>
        </p:txBody>
      </p:sp>
      <p:pic>
        <p:nvPicPr>
          <p:cNvPr id="7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55430" y="4137831"/>
            <a:ext cx="1105469" cy="245660"/>
          </a:xfrm>
          <a:prstGeom prst="rect">
            <a:avLst/>
          </a:prstGeom>
        </p:spPr>
      </p:pic>
      <p:sp>
        <p:nvSpPr>
          <p:cNvPr id="76" name="Text 51"/>
          <p:cNvSpPr/>
          <p:nvPr/>
        </p:nvSpPr>
        <p:spPr>
          <a:xfrm>
            <a:off x="5800299" y="4227591"/>
            <a:ext cx="612260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最小权限与本地沙箱</a:t>
            </a:r>
            <a:endParaRPr lang="en-US" sz="446" dirty="0"/>
          </a:p>
        </p:txBody>
      </p:sp>
      <p:pic>
        <p:nvPicPr>
          <p:cNvPr id="7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74280" y="4137831"/>
            <a:ext cx="1247195" cy="245660"/>
          </a:xfrm>
          <a:prstGeom prst="rect">
            <a:avLst/>
          </a:prstGeom>
        </p:spPr>
      </p:pic>
      <p:sp>
        <p:nvSpPr>
          <p:cNvPr id="78" name="Text 52"/>
          <p:cNvSpPr/>
          <p:nvPr/>
        </p:nvSpPr>
        <p:spPr>
          <a:xfrm>
            <a:off x="7108909" y="4227591"/>
            <a:ext cx="816346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远程吊销、OTA、审计追踪</a:t>
            </a:r>
            <a:endParaRPr lang="en-US" sz="446" dirty="0"/>
          </a:p>
        </p:txBody>
      </p:sp>
      <p:pic>
        <p:nvPicPr>
          <p:cNvPr id="79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970488" y="1270226"/>
            <a:ext cx="779497" cy="11338"/>
          </a:xfrm>
          <a:prstGeom prst="rect">
            <a:avLst/>
          </a:prstGeom>
        </p:spPr>
      </p:pic>
      <p:pic>
        <p:nvPicPr>
          <p:cNvPr id="80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970488" y="1794615"/>
            <a:ext cx="779497" cy="11338"/>
          </a:xfrm>
          <a:prstGeom prst="rect">
            <a:avLst/>
          </a:prstGeom>
        </p:spPr>
      </p:pic>
      <p:pic>
        <p:nvPicPr>
          <p:cNvPr id="8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568811" y="1794615"/>
            <a:ext cx="779497" cy="614149"/>
          </a:xfrm>
          <a:prstGeom prst="rect">
            <a:avLst/>
          </a:prstGeom>
        </p:spPr>
      </p:pic>
      <p:pic>
        <p:nvPicPr>
          <p:cNvPr id="8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568811" y="2366246"/>
            <a:ext cx="779497" cy="642495"/>
          </a:xfrm>
          <a:prstGeom prst="rect">
            <a:avLst/>
          </a:prstGeom>
        </p:spPr>
      </p:pic>
      <p:pic>
        <p:nvPicPr>
          <p:cNvPr id="83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568811" y="1298571"/>
            <a:ext cx="779497" cy="992087"/>
          </a:xfrm>
          <a:prstGeom prst="rect">
            <a:avLst/>
          </a:prstGeom>
        </p:spPr>
      </p:pic>
      <p:pic>
        <p:nvPicPr>
          <p:cNvPr id="84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096506" y="3093777"/>
            <a:ext cx="4936815" cy="734072"/>
          </a:xfrm>
          <a:prstGeom prst="rect">
            <a:avLst/>
          </a:prstGeom>
        </p:spPr>
      </p:pic>
      <p:pic>
        <p:nvPicPr>
          <p:cNvPr id="85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137254" y="2559939"/>
            <a:ext cx="4724" cy="784221"/>
          </a:xfrm>
          <a:prstGeom prst="rect">
            <a:avLst/>
          </a:prstGeom>
        </p:spPr>
      </p:pic>
      <p:pic>
        <p:nvPicPr>
          <p:cNvPr id="8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235044" y="1194638"/>
            <a:ext cx="151175" cy="151175"/>
          </a:xfrm>
          <a:prstGeom prst="rect">
            <a:avLst/>
          </a:prstGeom>
        </p:spPr>
      </p:pic>
      <p:sp>
        <p:nvSpPr>
          <p:cNvPr id="87" name="Text 53"/>
          <p:cNvSpPr/>
          <p:nvPr/>
        </p:nvSpPr>
        <p:spPr>
          <a:xfrm>
            <a:off x="3291735" y="1237156"/>
            <a:ext cx="34014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46" dirty="0"/>
          </a:p>
        </p:txBody>
      </p:sp>
      <p:sp>
        <p:nvSpPr>
          <p:cNvPr id="88" name="Text 54"/>
          <p:cNvSpPr/>
          <p:nvPr/>
        </p:nvSpPr>
        <p:spPr>
          <a:xfrm>
            <a:off x="3206699" y="1052912"/>
            <a:ext cx="317468" cy="8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2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插入设备</a:t>
            </a:r>
            <a:endParaRPr lang="en-US" sz="521" dirty="0"/>
          </a:p>
        </p:txBody>
      </p:sp>
      <p:pic>
        <p:nvPicPr>
          <p:cNvPr id="89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310632" y="1719027"/>
            <a:ext cx="151175" cy="151175"/>
          </a:xfrm>
          <a:prstGeom prst="rect">
            <a:avLst/>
          </a:prstGeom>
        </p:spPr>
      </p:pic>
      <p:sp>
        <p:nvSpPr>
          <p:cNvPr id="90" name="Text 55"/>
          <p:cNvSpPr/>
          <p:nvPr/>
        </p:nvSpPr>
        <p:spPr>
          <a:xfrm>
            <a:off x="3367323" y="1761545"/>
            <a:ext cx="45353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46" dirty="0"/>
          </a:p>
        </p:txBody>
      </p:sp>
      <p:sp>
        <p:nvSpPr>
          <p:cNvPr id="91" name="Text 56"/>
          <p:cNvSpPr/>
          <p:nvPr/>
        </p:nvSpPr>
        <p:spPr>
          <a:xfrm>
            <a:off x="3230320" y="1936342"/>
            <a:ext cx="345813" cy="8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2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安装/更新</a:t>
            </a:r>
            <a:endParaRPr lang="en-US" sz="521" dirty="0"/>
          </a:p>
        </p:txBody>
      </p:sp>
      <p:pic>
        <p:nvPicPr>
          <p:cNvPr id="92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861713" y="2101690"/>
            <a:ext cx="151175" cy="151175"/>
          </a:xfrm>
          <a:prstGeom prst="rect">
            <a:avLst/>
          </a:prstGeom>
        </p:spPr>
      </p:pic>
      <p:sp>
        <p:nvSpPr>
          <p:cNvPr id="93" name="Text 57"/>
          <p:cNvSpPr/>
          <p:nvPr/>
        </p:nvSpPr>
        <p:spPr>
          <a:xfrm>
            <a:off x="5918404" y="2144208"/>
            <a:ext cx="45353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46" dirty="0"/>
          </a:p>
        </p:txBody>
      </p:sp>
      <p:sp>
        <p:nvSpPr>
          <p:cNvPr id="94" name="Text 58"/>
          <p:cNvSpPr/>
          <p:nvPr/>
        </p:nvSpPr>
        <p:spPr>
          <a:xfrm>
            <a:off x="5771953" y="1997757"/>
            <a:ext cx="476202" cy="8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2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挑战响应认证</a:t>
            </a:r>
            <a:endParaRPr lang="en-US" sz="521" dirty="0"/>
          </a:p>
        </p:txBody>
      </p:sp>
      <p:pic>
        <p:nvPicPr>
          <p:cNvPr id="95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942025" y="2734736"/>
            <a:ext cx="151175" cy="151175"/>
          </a:xfrm>
          <a:prstGeom prst="rect">
            <a:avLst/>
          </a:prstGeom>
        </p:spPr>
      </p:pic>
      <p:sp>
        <p:nvSpPr>
          <p:cNvPr id="96" name="Text 59"/>
          <p:cNvSpPr/>
          <p:nvPr/>
        </p:nvSpPr>
        <p:spPr>
          <a:xfrm>
            <a:off x="5998716" y="2777254"/>
            <a:ext cx="45353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446" dirty="0"/>
          </a:p>
        </p:txBody>
      </p:sp>
      <p:sp>
        <p:nvSpPr>
          <p:cNvPr id="97" name="Text 60"/>
          <p:cNvSpPr/>
          <p:nvPr/>
        </p:nvSpPr>
        <p:spPr>
          <a:xfrm>
            <a:off x="5805023" y="2895359"/>
            <a:ext cx="476202" cy="8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2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业务能力调用</a:t>
            </a:r>
            <a:endParaRPr lang="en-US" sz="521" dirty="0"/>
          </a:p>
        </p:txBody>
      </p:sp>
      <p:pic>
        <p:nvPicPr>
          <p:cNvPr id="98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061667" y="2876463"/>
            <a:ext cx="151175" cy="151175"/>
          </a:xfrm>
          <a:prstGeom prst="rect">
            <a:avLst/>
          </a:prstGeom>
        </p:spPr>
      </p:pic>
      <p:sp>
        <p:nvSpPr>
          <p:cNvPr id="99" name="Text 61"/>
          <p:cNvSpPr/>
          <p:nvPr/>
        </p:nvSpPr>
        <p:spPr>
          <a:xfrm>
            <a:off x="7118357" y="2918981"/>
            <a:ext cx="45353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446" dirty="0"/>
          </a:p>
        </p:txBody>
      </p:sp>
      <p:sp>
        <p:nvSpPr>
          <p:cNvPr id="100" name="Text 62"/>
          <p:cNvSpPr/>
          <p:nvPr/>
        </p:nvSpPr>
        <p:spPr>
          <a:xfrm>
            <a:off x="7245911" y="2918981"/>
            <a:ext cx="595252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日志/策略/风控闭环</a:t>
            </a:r>
            <a:endParaRPr lang="en-US" sz="44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sim-agent-architecture 1</dc:title>
  <dc:subject>由 Figma Frame 转换生成</dc:subject>
  <dc:creator>Frame2PPT</dc:creator>
  <cp:lastModifiedBy>Frame2PPT</cp:lastModifiedBy>
  <cp:revision>1</cp:revision>
  <dcterms:created xsi:type="dcterms:W3CDTF">2026-08-12T09:33:22Z</dcterms:created>
  <dcterms:modified xsi:type="dcterms:W3CDTF">2026-08-12T09:33:22Z</dcterms:modified>
</cp:coreProperties>
</file>