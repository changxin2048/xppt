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pn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png"/><Relationship Id="rId64" Type="http://schemas.openxmlformats.org/officeDocument/2006/relationships/image" Target="../media/image-1-64.png"/><Relationship Id="rId65" Type="http://schemas.openxmlformats.org/officeDocument/2006/relationships/slideLayout" Target="../slideLayouts/slideLayout1.xml"/><Relationship Id="rId6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803" y="1075436"/>
            <a:ext cx="743792" cy="2933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46199" y="1155752"/>
            <a:ext cx="659984" cy="15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战略指挥层</a:t>
            </a:r>
            <a:endParaRPr lang="en-US" sz="495" dirty="0"/>
          </a:p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</a:t>
            </a:r>
            <a:endParaRPr lang="en-US" sz="49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803" y="1389715"/>
            <a:ext cx="743792" cy="4190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46199" y="1532886"/>
            <a:ext cx="659984" cy="15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协同运营层</a:t>
            </a:r>
            <a:endParaRPr lang="en-US" sz="495" dirty="0"/>
          </a:p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Harmony</a:t>
            </a:r>
            <a:endParaRPr lang="en-US" sz="495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803" y="1829704"/>
            <a:ext cx="743792" cy="12920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546199" y="2363977"/>
            <a:ext cx="659984" cy="230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免疫引擎层</a:t>
            </a:r>
            <a:endParaRPr lang="en-US" sz="495" dirty="0"/>
          </a:p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Immune </a:t>
            </a:r>
            <a:endParaRPr lang="en-US" sz="495" dirty="0"/>
          </a:p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endParaRPr lang="en-US" sz="495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803" y="3142689"/>
            <a:ext cx="743792" cy="27935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546199" y="3216020"/>
            <a:ext cx="659984" cy="15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安全交换层 Exchange</a:t>
            </a:r>
            <a:endParaRPr lang="en-US" sz="495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803" y="3442999"/>
            <a:ext cx="743792" cy="62855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619531" y="3690930"/>
            <a:ext cx="520305" cy="15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接入层</a:t>
            </a:r>
            <a:endParaRPr lang="en-US" sz="495" dirty="0"/>
          </a:p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</a:t>
            </a:r>
            <a:endParaRPr lang="en-US" sz="495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132" y="1071944"/>
            <a:ext cx="625064" cy="2996119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035592" y="2297630"/>
            <a:ext cx="607605" cy="153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授权治理层</a:t>
            </a:r>
            <a:endParaRPr lang="en-US" sz="495" dirty="0"/>
          </a:p>
          <a:p>
            <a:pPr algn="ctr" indent="0" marL="0">
              <a:buNone/>
            </a:pPr>
            <a:r>
              <a:rPr lang="en-US" sz="495" b="1" dirty="0">
                <a:solidFill>
                  <a:srgbClr val="3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Delegation</a:t>
            </a:r>
            <a:endParaRPr lang="en-US" sz="495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499" y="1071944"/>
            <a:ext cx="4696714" cy="293326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6338" y="1127816"/>
            <a:ext cx="1047594" cy="181583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2722996" y="1152260"/>
            <a:ext cx="314278" cy="62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2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决策驾驶舱</a:t>
            </a:r>
            <a:endParaRPr lang="en-US" sz="412" dirty="0"/>
          </a:p>
        </p:txBody>
      </p:sp>
      <p:sp>
        <p:nvSpPr>
          <p:cNvPr id="17" name="Text 7"/>
          <p:cNvSpPr/>
          <p:nvPr/>
        </p:nvSpPr>
        <p:spPr>
          <a:xfrm>
            <a:off x="2460749" y="1232576"/>
            <a:ext cx="842266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健康态势图 · 免疫热力图 · 信用风险图</a:t>
            </a:r>
            <a:endParaRPr lang="en-US" sz="33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6767" y="1127816"/>
            <a:ext cx="838075" cy="181583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6312" y="1127816"/>
            <a:ext cx="838075" cy="181583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4671521" y="1152260"/>
            <a:ext cx="188567" cy="62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2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网页端</a:t>
            </a:r>
            <a:endParaRPr lang="en-US" sz="412" dirty="0"/>
          </a:p>
        </p:txBody>
      </p:sp>
      <p:sp>
        <p:nvSpPr>
          <p:cNvPr id="21" name="Text 9"/>
          <p:cNvSpPr/>
          <p:nvPr/>
        </p:nvSpPr>
        <p:spPr>
          <a:xfrm>
            <a:off x="3739512" y="1152260"/>
            <a:ext cx="268184" cy="6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4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应急指挥</a:t>
            </a:r>
            <a:endParaRPr lang="en-US" sz="440" dirty="0"/>
          </a:p>
        </p:txBody>
      </p:sp>
      <p:sp>
        <p:nvSpPr>
          <p:cNvPr id="22" name="Text 10"/>
          <p:cNvSpPr/>
          <p:nvPr/>
        </p:nvSpPr>
        <p:spPr>
          <a:xfrm>
            <a:off x="4392512" y="1232576"/>
            <a:ext cx="750077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体检报告下载 · 安全等级证书查看</a:t>
            </a:r>
            <a:endParaRPr lang="en-US" sz="330" dirty="0"/>
          </a:p>
        </p:txBody>
      </p:sp>
      <p:sp>
        <p:nvSpPr>
          <p:cNvPr id="23" name="Text 11"/>
          <p:cNvSpPr/>
          <p:nvPr/>
        </p:nvSpPr>
        <p:spPr>
          <a:xfrm>
            <a:off x="3652911" y="1232576"/>
            <a:ext cx="448370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应急熔断 · 紧急隔离</a:t>
            </a:r>
            <a:endParaRPr lang="en-US" sz="33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7222" y="1127816"/>
            <a:ext cx="838075" cy="181583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563722" y="1152260"/>
            <a:ext cx="188567" cy="62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2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移动端</a:t>
            </a:r>
            <a:endParaRPr lang="en-US" sz="412" dirty="0"/>
          </a:p>
        </p:txBody>
      </p:sp>
      <p:sp>
        <p:nvSpPr>
          <p:cNvPr id="26" name="Text 13"/>
          <p:cNvSpPr/>
          <p:nvPr/>
        </p:nvSpPr>
        <p:spPr>
          <a:xfrm>
            <a:off x="5433821" y="1232576"/>
            <a:ext cx="448370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告警推送 · 远程操作</a:t>
            </a:r>
            <a:endParaRPr lang="en-US" sz="33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7677" y="1127816"/>
            <a:ext cx="803155" cy="181583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403544" y="1152260"/>
            <a:ext cx="251423" cy="62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2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服务门户</a:t>
            </a:r>
            <a:endParaRPr lang="en-US" sz="412" dirty="0"/>
          </a:p>
        </p:txBody>
      </p:sp>
      <p:sp>
        <p:nvSpPr>
          <p:cNvPr id="29" name="Text 15"/>
          <p:cNvSpPr/>
          <p:nvPr/>
        </p:nvSpPr>
        <p:spPr>
          <a:xfrm>
            <a:off x="6302975" y="1232576"/>
            <a:ext cx="452561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客户接入与对外服务</a:t>
            </a:r>
            <a:endParaRPr lang="en-US" sz="33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499" y="1386223"/>
            <a:ext cx="4696714" cy="419038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49355" y="1435110"/>
            <a:ext cx="1117434" cy="321262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2784455" y="1470030"/>
            <a:ext cx="247232" cy="7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🩺 体检</a:t>
            </a:r>
            <a:endParaRPr lang="en-US" sz="495" dirty="0"/>
          </a:p>
        </p:txBody>
      </p:sp>
      <p:sp>
        <p:nvSpPr>
          <p:cNvPr id="33" name="Text 17"/>
          <p:cNvSpPr/>
          <p:nvPr/>
        </p:nvSpPr>
        <p:spPr>
          <a:xfrm>
            <a:off x="2717409" y="1571298"/>
            <a:ext cx="381324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发现智能体问题</a:t>
            </a:r>
            <a:endParaRPr lang="en-US" sz="357" dirty="0"/>
          </a:p>
        </p:txBody>
      </p:sp>
      <p:sp>
        <p:nvSpPr>
          <p:cNvPr id="34" name="Text 18"/>
          <p:cNvSpPr/>
          <p:nvPr/>
        </p:nvSpPr>
        <p:spPr>
          <a:xfrm>
            <a:off x="2486939" y="1665581"/>
            <a:ext cx="842266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上线前打分 · 运行中观察 · 分析与报告</a:t>
            </a:r>
            <a:endParaRPr lang="en-US" sz="330" dirty="0"/>
          </a:p>
        </p:txBody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08692" y="1435110"/>
            <a:ext cx="1117434" cy="321262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 rot="-10800000">
            <a:off x="4026203" y="1546854"/>
            <a:ext cx="75427" cy="62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💉</a:t>
            </a:r>
            <a:endParaRPr lang="en-US" sz="495" dirty="0"/>
          </a:p>
        </p:txBody>
      </p:sp>
      <p:sp>
        <p:nvSpPr>
          <p:cNvPr id="37" name="Text 20"/>
          <p:cNvSpPr/>
          <p:nvPr/>
        </p:nvSpPr>
        <p:spPr>
          <a:xfrm>
            <a:off x="4040870" y="1470030"/>
            <a:ext cx="150854" cy="7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治疗</a:t>
            </a:r>
            <a:endParaRPr lang="en-US" sz="495" dirty="0"/>
          </a:p>
        </p:txBody>
      </p:sp>
      <p:sp>
        <p:nvSpPr>
          <p:cNvPr id="38" name="Text 21"/>
          <p:cNvSpPr/>
          <p:nvPr/>
        </p:nvSpPr>
        <p:spPr>
          <a:xfrm>
            <a:off x="3876747" y="1571298"/>
            <a:ext cx="381324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使智能体更健康</a:t>
            </a:r>
            <a:endParaRPr lang="en-US" sz="357" dirty="0"/>
          </a:p>
        </p:txBody>
      </p:sp>
      <p:sp>
        <p:nvSpPr>
          <p:cNvPr id="39" name="Text 22"/>
          <p:cNvSpPr/>
          <p:nvPr/>
        </p:nvSpPr>
        <p:spPr>
          <a:xfrm>
            <a:off x="3780368" y="1665581"/>
            <a:ext cx="574082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卫士 · AI 疫苗 · AI 进化</a:t>
            </a:r>
            <a:endParaRPr lang="en-US" sz="330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8029" y="1435110"/>
            <a:ext cx="1117434" cy="321262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5103130" y="1470030"/>
            <a:ext cx="247232" cy="7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⚖️ 秩序</a:t>
            </a:r>
            <a:endParaRPr lang="en-US" sz="495" dirty="0"/>
          </a:p>
        </p:txBody>
      </p:sp>
      <p:sp>
        <p:nvSpPr>
          <p:cNvPr id="42" name="Text 24"/>
          <p:cNvSpPr/>
          <p:nvPr/>
        </p:nvSpPr>
        <p:spPr>
          <a:xfrm>
            <a:off x="5036084" y="1571298"/>
            <a:ext cx="381324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让智能体守规矩</a:t>
            </a:r>
            <a:endParaRPr lang="en-US" sz="357" dirty="0"/>
          </a:p>
        </p:txBody>
      </p:sp>
      <p:sp>
        <p:nvSpPr>
          <p:cNvPr id="43" name="Text 25"/>
          <p:cNvSpPr/>
          <p:nvPr/>
        </p:nvSpPr>
        <p:spPr>
          <a:xfrm>
            <a:off x="4881040" y="1665581"/>
            <a:ext cx="691412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规范运行 · 信用评级 · 动态治理</a:t>
            </a:r>
            <a:endParaRPr lang="en-US" sz="33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27367" y="1435110"/>
            <a:ext cx="1117434" cy="321262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6262468" y="1470030"/>
            <a:ext cx="247232" cy="7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9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管理</a:t>
            </a:r>
            <a:endParaRPr lang="en-US" sz="495" dirty="0"/>
          </a:p>
        </p:txBody>
      </p:sp>
      <p:sp>
        <p:nvSpPr>
          <p:cNvPr id="46" name="Text 27"/>
          <p:cNvSpPr/>
          <p:nvPr/>
        </p:nvSpPr>
        <p:spPr>
          <a:xfrm>
            <a:off x="6140947" y="1571298"/>
            <a:ext cx="490274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让健康秩序一览无余</a:t>
            </a:r>
            <a:endParaRPr lang="en-US" sz="357" dirty="0"/>
          </a:p>
        </p:txBody>
      </p:sp>
      <p:sp>
        <p:nvSpPr>
          <p:cNvPr id="47" name="Text 28"/>
          <p:cNvSpPr/>
          <p:nvPr/>
        </p:nvSpPr>
        <p:spPr>
          <a:xfrm>
            <a:off x="6040378" y="1665581"/>
            <a:ext cx="691412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统筹管理 · 运营分析 · 决策支持</a:t>
            </a:r>
            <a:endParaRPr lang="en-US" sz="33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499" y="1826212"/>
            <a:ext cx="4696714" cy="1292033"/>
          </a:xfrm>
          <a:prstGeom prst="rect">
            <a:avLst/>
          </a:prstGeom>
        </p:spPr>
      </p:pic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49355" y="1882084"/>
            <a:ext cx="1117434" cy="1187273"/>
          </a:xfrm>
          <a:prstGeom prst="rect">
            <a:avLst/>
          </a:prstGeom>
        </p:spPr>
      </p:pic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49355" y="1882084"/>
            <a:ext cx="1117434" cy="209519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2740456" y="1910020"/>
            <a:ext cx="335230" cy="8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体检中心</a:t>
            </a:r>
            <a:endParaRPr lang="en-US" sz="550" dirty="0"/>
          </a:p>
        </p:txBody>
      </p:sp>
      <p:sp>
        <p:nvSpPr>
          <p:cNvPr id="52" name="Text 30"/>
          <p:cNvSpPr/>
          <p:nvPr/>
        </p:nvSpPr>
        <p:spPr>
          <a:xfrm>
            <a:off x="2721600" y="2004303"/>
            <a:ext cx="372944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早发现 · 早预警</a:t>
            </a:r>
            <a:endParaRPr lang="en-US" sz="357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19194" y="2140490"/>
            <a:ext cx="977755" cy="132695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2644078" y="2175410"/>
            <a:ext cx="527987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全周期评测标准建设</a:t>
            </a:r>
            <a:endParaRPr lang="en-US" sz="385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419194" y="2301122"/>
            <a:ext cx="977755" cy="132695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2644078" y="2336041"/>
            <a:ext cx="527987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全方位评测标准建设</a:t>
            </a:r>
            <a:endParaRPr lang="en-US" sz="385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419194" y="2468737"/>
            <a:ext cx="471417" cy="530781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2537572" y="2524608"/>
            <a:ext cx="23466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静态受控</a:t>
            </a:r>
            <a:endParaRPr lang="en-US" sz="385" dirty="0"/>
          </a:p>
        </p:txBody>
      </p:sp>
      <p:sp>
        <p:nvSpPr>
          <p:cNvPr id="59" name="Text 34"/>
          <p:cNvSpPr/>
          <p:nvPr/>
        </p:nvSpPr>
        <p:spPr>
          <a:xfrm>
            <a:off x="2537572" y="2594448"/>
            <a:ext cx="23466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环境评测</a:t>
            </a:r>
            <a:endParaRPr lang="en-US" sz="385" dirty="0"/>
          </a:p>
        </p:txBody>
      </p:sp>
      <p:sp>
        <p:nvSpPr>
          <p:cNvPr id="60" name="Text 35"/>
          <p:cNvSpPr/>
          <p:nvPr/>
        </p:nvSpPr>
        <p:spPr>
          <a:xfrm>
            <a:off x="2514525" y="2748095"/>
            <a:ext cx="280755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基线 → 测试</a:t>
            </a:r>
            <a:endParaRPr lang="en-US" sz="330" dirty="0"/>
          </a:p>
        </p:txBody>
      </p:sp>
      <p:sp>
        <p:nvSpPr>
          <p:cNvPr id="61" name="Text 36"/>
          <p:cNvSpPr/>
          <p:nvPr/>
        </p:nvSpPr>
        <p:spPr>
          <a:xfrm>
            <a:off x="2514525" y="2817935"/>
            <a:ext cx="280755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评分 → 报告</a:t>
            </a:r>
            <a:endParaRPr lang="en-US" sz="330" dirty="0"/>
          </a:p>
        </p:txBody>
      </p:sp>
      <p:pic>
        <p:nvPicPr>
          <p:cNvPr id="6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925531" y="2468737"/>
            <a:ext cx="471417" cy="530781"/>
          </a:xfrm>
          <a:prstGeom prst="rect">
            <a:avLst/>
          </a:prstGeom>
        </p:spPr>
      </p:pic>
      <p:sp>
        <p:nvSpPr>
          <p:cNvPr id="63" name="Text 37"/>
          <p:cNvSpPr/>
          <p:nvPr/>
        </p:nvSpPr>
        <p:spPr>
          <a:xfrm>
            <a:off x="3043909" y="2524608"/>
            <a:ext cx="23466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动态生产</a:t>
            </a:r>
            <a:endParaRPr lang="en-US" sz="385" dirty="0"/>
          </a:p>
        </p:txBody>
      </p:sp>
      <p:sp>
        <p:nvSpPr>
          <p:cNvPr id="64" name="Text 38"/>
          <p:cNvSpPr/>
          <p:nvPr/>
        </p:nvSpPr>
        <p:spPr>
          <a:xfrm>
            <a:off x="3043909" y="2594448"/>
            <a:ext cx="23466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环境监测</a:t>
            </a:r>
            <a:endParaRPr lang="en-US" sz="385" dirty="0"/>
          </a:p>
        </p:txBody>
      </p:sp>
      <p:sp>
        <p:nvSpPr>
          <p:cNvPr id="65" name="Text 39"/>
          <p:cNvSpPr/>
          <p:nvPr/>
        </p:nvSpPr>
        <p:spPr>
          <a:xfrm>
            <a:off x="3020862" y="2748095"/>
            <a:ext cx="280755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采集 → 告警</a:t>
            </a:r>
            <a:endParaRPr lang="en-US" sz="330" dirty="0"/>
          </a:p>
        </p:txBody>
      </p:sp>
      <p:sp>
        <p:nvSpPr>
          <p:cNvPr id="66" name="Text 40"/>
          <p:cNvSpPr/>
          <p:nvPr/>
        </p:nvSpPr>
        <p:spPr>
          <a:xfrm>
            <a:off x="3020862" y="2817935"/>
            <a:ext cx="280755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分析 → 处置</a:t>
            </a:r>
            <a:endParaRPr lang="en-US" sz="330" dirty="0"/>
          </a:p>
        </p:txBody>
      </p:sp>
      <p:pic>
        <p:nvPicPr>
          <p:cNvPr id="6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08692" y="1882084"/>
            <a:ext cx="1117434" cy="1187273"/>
          </a:xfrm>
          <a:prstGeom prst="rect">
            <a:avLst/>
          </a:prstGeom>
        </p:spPr>
      </p:pic>
      <p:pic>
        <p:nvPicPr>
          <p:cNvPr id="6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508692" y="1882084"/>
            <a:ext cx="1117434" cy="209519"/>
          </a:xfrm>
          <a:prstGeom prst="rect">
            <a:avLst/>
          </a:prstGeom>
        </p:spPr>
      </p:pic>
      <p:sp>
        <p:nvSpPr>
          <p:cNvPr id="69" name="Text 41"/>
          <p:cNvSpPr/>
          <p:nvPr/>
        </p:nvSpPr>
        <p:spPr>
          <a:xfrm>
            <a:off x="3899794" y="1910020"/>
            <a:ext cx="335230" cy="8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病毒中心</a:t>
            </a:r>
            <a:endParaRPr lang="en-US" sz="550" dirty="0"/>
          </a:p>
        </p:txBody>
      </p:sp>
      <p:sp>
        <p:nvSpPr>
          <p:cNvPr id="70" name="Text 42"/>
          <p:cNvSpPr/>
          <p:nvPr/>
        </p:nvSpPr>
        <p:spPr>
          <a:xfrm>
            <a:off x="3857890" y="2004303"/>
            <a:ext cx="419038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识别 · 合成 · 迭代</a:t>
            </a:r>
            <a:endParaRPr lang="en-US" sz="357" dirty="0"/>
          </a:p>
        </p:txBody>
      </p:sp>
      <p:pic>
        <p:nvPicPr>
          <p:cNvPr id="7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578532" y="2140490"/>
            <a:ext cx="977755" cy="132695"/>
          </a:xfrm>
          <a:prstGeom prst="rect">
            <a:avLst/>
          </a:prstGeom>
        </p:spPr>
      </p:pic>
      <p:sp>
        <p:nvSpPr>
          <p:cNvPr id="72" name="Text 43"/>
          <p:cNvSpPr/>
          <p:nvPr/>
        </p:nvSpPr>
        <p:spPr>
          <a:xfrm>
            <a:off x="3803415" y="2175410"/>
            <a:ext cx="527987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特征分析与判定模型</a:t>
            </a:r>
            <a:endParaRPr lang="en-US" sz="385" dirty="0"/>
          </a:p>
        </p:txBody>
      </p:sp>
      <p:pic>
        <p:nvPicPr>
          <p:cNvPr id="73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78532" y="2301122"/>
            <a:ext cx="471417" cy="384118"/>
          </a:xfrm>
          <a:prstGeom prst="rect">
            <a:avLst/>
          </a:prstGeom>
        </p:spPr>
      </p:pic>
      <p:sp>
        <p:nvSpPr>
          <p:cNvPr id="74" name="Text 44"/>
          <p:cNvSpPr/>
          <p:nvPr/>
        </p:nvSpPr>
        <p:spPr>
          <a:xfrm>
            <a:off x="3667577" y="2377945"/>
            <a:ext cx="293326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自然样本库</a:t>
            </a:r>
            <a:endParaRPr lang="en-US" sz="385" dirty="0"/>
          </a:p>
        </p:txBody>
      </p:sp>
      <p:sp>
        <p:nvSpPr>
          <p:cNvPr id="75" name="Text 45"/>
          <p:cNvSpPr/>
          <p:nvPr/>
        </p:nvSpPr>
        <p:spPr>
          <a:xfrm>
            <a:off x="3673863" y="2524608"/>
            <a:ext cx="280755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采集 → 标注</a:t>
            </a:r>
            <a:endParaRPr lang="en-US" sz="330" dirty="0"/>
          </a:p>
        </p:txBody>
      </p:sp>
      <p:pic>
        <p:nvPicPr>
          <p:cNvPr id="7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84869" y="2301122"/>
            <a:ext cx="471417" cy="384118"/>
          </a:xfrm>
          <a:prstGeom prst="rect">
            <a:avLst/>
          </a:prstGeom>
        </p:spPr>
      </p:pic>
      <p:sp>
        <p:nvSpPr>
          <p:cNvPr id="77" name="Text 46"/>
          <p:cNvSpPr/>
          <p:nvPr/>
        </p:nvSpPr>
        <p:spPr>
          <a:xfrm>
            <a:off x="4173914" y="2377945"/>
            <a:ext cx="293326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合成样本库</a:t>
            </a:r>
            <a:endParaRPr lang="en-US" sz="385" dirty="0"/>
          </a:p>
        </p:txBody>
      </p:sp>
      <p:sp>
        <p:nvSpPr>
          <p:cNvPr id="78" name="Text 47"/>
          <p:cNvSpPr/>
          <p:nvPr/>
        </p:nvSpPr>
        <p:spPr>
          <a:xfrm>
            <a:off x="4180200" y="2524608"/>
            <a:ext cx="280755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生成 → 扩增</a:t>
            </a:r>
            <a:endParaRPr lang="en-US" sz="330" dirty="0"/>
          </a:p>
        </p:txBody>
      </p:sp>
      <p:pic>
        <p:nvPicPr>
          <p:cNvPr id="79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578532" y="2720159"/>
            <a:ext cx="977755" cy="279358"/>
          </a:xfrm>
          <a:prstGeom prst="rect">
            <a:avLst/>
          </a:prstGeom>
        </p:spPr>
      </p:pic>
      <p:sp>
        <p:nvSpPr>
          <p:cNvPr id="80" name="Text 48"/>
          <p:cNvSpPr/>
          <p:nvPr/>
        </p:nvSpPr>
        <p:spPr>
          <a:xfrm>
            <a:off x="3709132" y="2831903"/>
            <a:ext cx="716554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225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演练靶场（幻境 NovoOS）</a:t>
            </a:r>
            <a:endParaRPr lang="en-US" sz="385" dirty="0"/>
          </a:p>
        </p:txBody>
      </p:sp>
      <p:pic>
        <p:nvPicPr>
          <p:cNvPr id="8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68029" y="1882084"/>
            <a:ext cx="1117434" cy="1187273"/>
          </a:xfrm>
          <a:prstGeom prst="rect">
            <a:avLst/>
          </a:prstGeom>
        </p:spPr>
      </p:pic>
      <p:pic>
        <p:nvPicPr>
          <p:cNvPr id="8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68029" y="1882084"/>
            <a:ext cx="1117434" cy="209519"/>
          </a:xfrm>
          <a:prstGeom prst="rect">
            <a:avLst/>
          </a:prstGeom>
        </p:spPr>
      </p:pic>
      <p:sp>
        <p:nvSpPr>
          <p:cNvPr id="83" name="Text 49"/>
          <p:cNvSpPr/>
          <p:nvPr/>
        </p:nvSpPr>
        <p:spPr>
          <a:xfrm>
            <a:off x="5059131" y="1910020"/>
            <a:ext cx="335230" cy="8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疫苗中心</a:t>
            </a:r>
            <a:endParaRPr lang="en-US" sz="550" dirty="0"/>
          </a:p>
        </p:txBody>
      </p:sp>
      <p:sp>
        <p:nvSpPr>
          <p:cNvPr id="84" name="Text 50"/>
          <p:cNvSpPr/>
          <p:nvPr/>
        </p:nvSpPr>
        <p:spPr>
          <a:xfrm>
            <a:off x="5017227" y="2004303"/>
            <a:ext cx="419038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预防 · 治疗 · 免疫</a:t>
            </a:r>
            <a:endParaRPr lang="en-US" sz="357" dirty="0"/>
          </a:p>
        </p:txBody>
      </p:sp>
      <p:pic>
        <p:nvPicPr>
          <p:cNvPr id="8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737869" y="2140490"/>
            <a:ext cx="977755" cy="132695"/>
          </a:xfrm>
          <a:prstGeom prst="rect">
            <a:avLst/>
          </a:prstGeom>
        </p:spPr>
      </p:pic>
      <p:sp>
        <p:nvSpPr>
          <p:cNvPr id="86" name="Text 51"/>
          <p:cNvSpPr/>
          <p:nvPr/>
        </p:nvSpPr>
        <p:spPr>
          <a:xfrm>
            <a:off x="5050751" y="2175410"/>
            <a:ext cx="351992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疫苗免疫模型</a:t>
            </a:r>
            <a:endParaRPr lang="en-US" sz="385" dirty="0"/>
          </a:p>
        </p:txBody>
      </p:sp>
      <p:pic>
        <p:nvPicPr>
          <p:cNvPr id="87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737869" y="2315089"/>
            <a:ext cx="471417" cy="321262"/>
          </a:xfrm>
          <a:prstGeom prst="rect">
            <a:avLst/>
          </a:prstGeom>
        </p:spPr>
      </p:pic>
      <p:sp>
        <p:nvSpPr>
          <p:cNvPr id="88" name="Text 52"/>
          <p:cNvSpPr/>
          <p:nvPr/>
        </p:nvSpPr>
        <p:spPr>
          <a:xfrm>
            <a:off x="4856247" y="2419849"/>
            <a:ext cx="23466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高维特征</a:t>
            </a:r>
            <a:endParaRPr lang="en-US" sz="385" dirty="0"/>
          </a:p>
        </p:txBody>
      </p:sp>
      <p:sp>
        <p:nvSpPr>
          <p:cNvPr id="89" name="Text 53"/>
          <p:cNvSpPr/>
          <p:nvPr/>
        </p:nvSpPr>
        <p:spPr>
          <a:xfrm>
            <a:off x="4914912" y="2489688"/>
            <a:ext cx="11733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提取</a:t>
            </a:r>
            <a:endParaRPr lang="en-US" sz="385" dirty="0"/>
          </a:p>
        </p:txBody>
      </p:sp>
      <p:pic>
        <p:nvPicPr>
          <p:cNvPr id="9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244206" y="2315089"/>
            <a:ext cx="471417" cy="321262"/>
          </a:xfrm>
          <a:prstGeom prst="rect">
            <a:avLst/>
          </a:prstGeom>
        </p:spPr>
      </p:pic>
      <p:sp>
        <p:nvSpPr>
          <p:cNvPr id="91" name="Text 54"/>
          <p:cNvSpPr/>
          <p:nvPr/>
        </p:nvSpPr>
        <p:spPr>
          <a:xfrm>
            <a:off x="5362584" y="2419849"/>
            <a:ext cx="23466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自主进化</a:t>
            </a:r>
            <a:endParaRPr lang="en-US" sz="385" dirty="0"/>
          </a:p>
        </p:txBody>
      </p:sp>
      <p:sp>
        <p:nvSpPr>
          <p:cNvPr id="92" name="Text 55"/>
          <p:cNvSpPr/>
          <p:nvPr/>
        </p:nvSpPr>
        <p:spPr>
          <a:xfrm>
            <a:off x="5421250" y="2489688"/>
            <a:ext cx="11733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引擎</a:t>
            </a:r>
            <a:endParaRPr lang="en-US" sz="385" dirty="0"/>
          </a:p>
        </p:txBody>
      </p:sp>
      <p:pic>
        <p:nvPicPr>
          <p:cNvPr id="93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737869" y="2671271"/>
            <a:ext cx="471417" cy="321262"/>
          </a:xfrm>
          <a:prstGeom prst="rect">
            <a:avLst/>
          </a:prstGeom>
        </p:spPr>
      </p:pic>
      <p:sp>
        <p:nvSpPr>
          <p:cNvPr id="94" name="Text 56"/>
          <p:cNvSpPr/>
          <p:nvPr/>
        </p:nvSpPr>
        <p:spPr>
          <a:xfrm>
            <a:off x="4856247" y="2776031"/>
            <a:ext cx="23466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疫苗实时</a:t>
            </a:r>
            <a:endParaRPr lang="en-US" sz="385" dirty="0"/>
          </a:p>
        </p:txBody>
      </p:sp>
      <p:sp>
        <p:nvSpPr>
          <p:cNvPr id="95" name="Text 57"/>
          <p:cNvSpPr/>
          <p:nvPr/>
        </p:nvSpPr>
        <p:spPr>
          <a:xfrm>
            <a:off x="4914912" y="2845870"/>
            <a:ext cx="11733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分发</a:t>
            </a:r>
            <a:endParaRPr lang="en-US" sz="385" dirty="0"/>
          </a:p>
        </p:txBody>
      </p:sp>
      <p:pic>
        <p:nvPicPr>
          <p:cNvPr id="9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244206" y="2671271"/>
            <a:ext cx="471417" cy="321262"/>
          </a:xfrm>
          <a:prstGeom prst="rect">
            <a:avLst/>
          </a:prstGeom>
        </p:spPr>
      </p:pic>
      <p:sp>
        <p:nvSpPr>
          <p:cNvPr id="97" name="Text 58"/>
          <p:cNvSpPr/>
          <p:nvPr/>
        </p:nvSpPr>
        <p:spPr>
          <a:xfrm>
            <a:off x="5362584" y="2776031"/>
            <a:ext cx="23466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闭环验证</a:t>
            </a:r>
            <a:endParaRPr lang="en-US" sz="385" dirty="0"/>
          </a:p>
        </p:txBody>
      </p:sp>
      <p:sp>
        <p:nvSpPr>
          <p:cNvPr id="98" name="Text 59"/>
          <p:cNvSpPr/>
          <p:nvPr/>
        </p:nvSpPr>
        <p:spPr>
          <a:xfrm>
            <a:off x="5421250" y="2845870"/>
            <a:ext cx="117331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迭代</a:t>
            </a:r>
            <a:endParaRPr lang="en-US" sz="385" dirty="0"/>
          </a:p>
        </p:txBody>
      </p:sp>
      <p:pic>
        <p:nvPicPr>
          <p:cNvPr id="9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827367" y="1882084"/>
            <a:ext cx="1117434" cy="1187273"/>
          </a:xfrm>
          <a:prstGeom prst="rect">
            <a:avLst/>
          </a:prstGeom>
        </p:spPr>
      </p:pic>
      <p:pic>
        <p:nvPicPr>
          <p:cNvPr id="10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827367" y="1882084"/>
            <a:ext cx="1117434" cy="209519"/>
          </a:xfrm>
          <a:prstGeom prst="rect">
            <a:avLst/>
          </a:prstGeom>
        </p:spPr>
      </p:pic>
      <p:sp>
        <p:nvSpPr>
          <p:cNvPr id="101" name="Text 60"/>
          <p:cNvSpPr/>
          <p:nvPr/>
        </p:nvSpPr>
        <p:spPr>
          <a:xfrm>
            <a:off x="6218469" y="1910020"/>
            <a:ext cx="335230" cy="83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信用中心</a:t>
            </a:r>
            <a:endParaRPr lang="en-US" sz="550" dirty="0"/>
          </a:p>
        </p:txBody>
      </p:sp>
      <p:sp>
        <p:nvSpPr>
          <p:cNvPr id="102" name="Text 61"/>
          <p:cNvSpPr/>
          <p:nvPr/>
        </p:nvSpPr>
        <p:spPr>
          <a:xfrm>
            <a:off x="6176565" y="2004303"/>
            <a:ext cx="419038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认证 · 评级 · 治理</a:t>
            </a:r>
            <a:endParaRPr lang="en-US" sz="357" dirty="0"/>
          </a:p>
        </p:txBody>
      </p:sp>
      <p:pic>
        <p:nvPicPr>
          <p:cNvPr id="103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286499" y="3139197"/>
            <a:ext cx="4696714" cy="279358"/>
          </a:xfrm>
          <a:prstGeom prst="rect">
            <a:avLst/>
          </a:prstGeom>
        </p:spPr>
      </p:pic>
      <p:pic>
        <p:nvPicPr>
          <p:cNvPr id="104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356338" y="3223004"/>
            <a:ext cx="1096055" cy="111743"/>
          </a:xfrm>
          <a:prstGeom prst="rect">
            <a:avLst/>
          </a:prstGeom>
        </p:spPr>
      </p:pic>
      <p:sp>
        <p:nvSpPr>
          <p:cNvPr id="105" name="Text 62"/>
          <p:cNvSpPr/>
          <p:nvPr/>
        </p:nvSpPr>
        <p:spPr>
          <a:xfrm>
            <a:off x="2618935" y="3250940"/>
            <a:ext cx="620176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熠序智连（NovoLink）</a:t>
            </a:r>
            <a:endParaRPr lang="en-US" sz="385" dirty="0"/>
          </a:p>
        </p:txBody>
      </p:sp>
      <p:pic>
        <p:nvPicPr>
          <p:cNvPr id="106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504586" y="3223004"/>
            <a:ext cx="1122152" cy="111743"/>
          </a:xfrm>
          <a:prstGeom prst="rect">
            <a:avLst/>
          </a:prstGeom>
        </p:spPr>
      </p:pic>
      <p:sp>
        <p:nvSpPr>
          <p:cNvPr id="107" name="Text 63"/>
          <p:cNvSpPr/>
          <p:nvPr/>
        </p:nvSpPr>
        <p:spPr>
          <a:xfrm>
            <a:off x="3613451" y="3247448"/>
            <a:ext cx="1005690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智能体协议（A2A / MCP / ANP）</a:t>
            </a:r>
            <a:endParaRPr lang="en-US" sz="385" dirty="0"/>
          </a:p>
        </p:txBody>
      </p:sp>
      <p:pic>
        <p:nvPicPr>
          <p:cNvPr id="108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678932" y="3223004"/>
            <a:ext cx="1096055" cy="111743"/>
          </a:xfrm>
          <a:prstGeom prst="rect">
            <a:avLst/>
          </a:prstGeom>
        </p:spPr>
      </p:pic>
      <p:pic>
        <p:nvPicPr>
          <p:cNvPr id="109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834351" y="3223004"/>
            <a:ext cx="1096055" cy="111743"/>
          </a:xfrm>
          <a:prstGeom prst="rect">
            <a:avLst/>
          </a:prstGeom>
        </p:spPr>
      </p:pic>
      <p:sp>
        <p:nvSpPr>
          <p:cNvPr id="110" name="Text 64"/>
          <p:cNvSpPr/>
          <p:nvPr/>
        </p:nvSpPr>
        <p:spPr>
          <a:xfrm>
            <a:off x="4808756" y="3250940"/>
            <a:ext cx="867408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通信网络（5G / 星闪 / 光纤）</a:t>
            </a:r>
            <a:endParaRPr lang="en-US" sz="385" dirty="0"/>
          </a:p>
        </p:txBody>
      </p:sp>
      <p:sp>
        <p:nvSpPr>
          <p:cNvPr id="111" name="Text 65"/>
          <p:cNvSpPr/>
          <p:nvPr/>
        </p:nvSpPr>
        <p:spPr>
          <a:xfrm>
            <a:off x="5946094" y="3250940"/>
            <a:ext cx="879979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智能设备交互协议（米家 / 鸿蒙）</a:t>
            </a:r>
            <a:endParaRPr lang="en-US" sz="385" dirty="0"/>
          </a:p>
        </p:txBody>
      </p:sp>
      <p:pic>
        <p:nvPicPr>
          <p:cNvPr id="112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286499" y="3439507"/>
            <a:ext cx="4696714" cy="628556"/>
          </a:xfrm>
          <a:prstGeom prst="rect">
            <a:avLst/>
          </a:prstGeom>
        </p:spPr>
      </p:pic>
      <p:pic>
        <p:nvPicPr>
          <p:cNvPr id="113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338879" y="3474427"/>
            <a:ext cx="4591954" cy="279358"/>
          </a:xfrm>
          <a:prstGeom prst="rect">
            <a:avLst/>
          </a:prstGeom>
        </p:spPr>
      </p:pic>
      <p:sp>
        <p:nvSpPr>
          <p:cNvPr id="114" name="Text 66"/>
          <p:cNvSpPr/>
          <p:nvPr/>
        </p:nvSpPr>
        <p:spPr>
          <a:xfrm>
            <a:off x="4538826" y="3491887"/>
            <a:ext cx="188567" cy="62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2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</a:t>
            </a:r>
            <a:endParaRPr lang="en-US" sz="412" dirty="0"/>
          </a:p>
        </p:txBody>
      </p:sp>
      <p:pic>
        <p:nvPicPr>
          <p:cNvPr id="115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356338" y="3575694"/>
            <a:ext cx="628556" cy="153647"/>
          </a:xfrm>
          <a:prstGeom prst="rect">
            <a:avLst/>
          </a:prstGeom>
        </p:spPr>
      </p:pic>
      <p:sp>
        <p:nvSpPr>
          <p:cNvPr id="116" name="Text 67"/>
          <p:cNvSpPr/>
          <p:nvPr/>
        </p:nvSpPr>
        <p:spPr>
          <a:xfrm>
            <a:off x="2534429" y="3596646"/>
            <a:ext cx="272374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熠序智能体</a:t>
            </a:r>
            <a:endParaRPr lang="en-US" sz="357" dirty="0"/>
          </a:p>
        </p:txBody>
      </p:sp>
      <p:sp>
        <p:nvSpPr>
          <p:cNvPr id="117" name="Text 68"/>
          <p:cNvSpPr/>
          <p:nvPr/>
        </p:nvSpPr>
        <p:spPr>
          <a:xfrm>
            <a:off x="2538620" y="3656010"/>
            <a:ext cx="263994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7B34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NovoAgent</a:t>
            </a:r>
            <a:endParaRPr lang="en-US" sz="330" dirty="0"/>
          </a:p>
        </p:txBody>
      </p:sp>
      <p:pic>
        <p:nvPicPr>
          <p:cNvPr id="118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142034" y="3575694"/>
            <a:ext cx="628556" cy="153647"/>
          </a:xfrm>
          <a:prstGeom prst="rect">
            <a:avLst/>
          </a:prstGeom>
        </p:spPr>
      </p:pic>
      <p:sp>
        <p:nvSpPr>
          <p:cNvPr id="119" name="Text 69"/>
          <p:cNvSpPr/>
          <p:nvPr/>
        </p:nvSpPr>
        <p:spPr>
          <a:xfrm>
            <a:off x="3318030" y="3596646"/>
            <a:ext cx="276565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智谱 / KIMI</a:t>
            </a:r>
            <a:endParaRPr lang="en-US" sz="357" dirty="0"/>
          </a:p>
        </p:txBody>
      </p:sp>
      <p:sp>
        <p:nvSpPr>
          <p:cNvPr id="120" name="Text 70"/>
          <p:cNvSpPr/>
          <p:nvPr/>
        </p:nvSpPr>
        <p:spPr>
          <a:xfrm>
            <a:off x="3330601" y="3656010"/>
            <a:ext cx="251423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大厂智能体</a:t>
            </a:r>
            <a:endParaRPr lang="en-US" sz="330" dirty="0"/>
          </a:p>
        </p:txBody>
      </p:sp>
      <p:pic>
        <p:nvPicPr>
          <p:cNvPr id="121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927730" y="3575694"/>
            <a:ext cx="628556" cy="153647"/>
          </a:xfrm>
          <a:prstGeom prst="rect">
            <a:avLst/>
          </a:prstGeom>
        </p:spPr>
      </p:pic>
      <p:sp>
        <p:nvSpPr>
          <p:cNvPr id="122" name="Text 71"/>
          <p:cNvSpPr/>
          <p:nvPr/>
        </p:nvSpPr>
        <p:spPr>
          <a:xfrm>
            <a:off x="4066012" y="3596646"/>
            <a:ext cx="351992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/ GPT</a:t>
            </a:r>
            <a:endParaRPr lang="en-US" sz="357" dirty="0"/>
          </a:p>
        </p:txBody>
      </p:sp>
      <p:sp>
        <p:nvSpPr>
          <p:cNvPr id="123" name="Text 72"/>
          <p:cNvSpPr/>
          <p:nvPr/>
        </p:nvSpPr>
        <p:spPr>
          <a:xfrm>
            <a:off x="4116297" y="3656010"/>
            <a:ext cx="251423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海外智能体</a:t>
            </a:r>
            <a:endParaRPr lang="en-US" sz="330" dirty="0"/>
          </a:p>
        </p:txBody>
      </p:sp>
      <p:pic>
        <p:nvPicPr>
          <p:cNvPr id="124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713425" y="3575694"/>
            <a:ext cx="628556" cy="153647"/>
          </a:xfrm>
          <a:prstGeom prst="rect">
            <a:avLst/>
          </a:prstGeom>
        </p:spPr>
      </p:pic>
      <p:sp>
        <p:nvSpPr>
          <p:cNvPr id="125" name="Text 73"/>
          <p:cNvSpPr/>
          <p:nvPr/>
        </p:nvSpPr>
        <p:spPr>
          <a:xfrm>
            <a:off x="4891516" y="3596646"/>
            <a:ext cx="272374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行业智能体</a:t>
            </a:r>
            <a:endParaRPr lang="en-US" sz="357" dirty="0"/>
          </a:p>
        </p:txBody>
      </p:sp>
      <p:sp>
        <p:nvSpPr>
          <p:cNvPr id="126" name="Text 74"/>
          <p:cNvSpPr/>
          <p:nvPr/>
        </p:nvSpPr>
        <p:spPr>
          <a:xfrm>
            <a:off x="4830407" y="3656010"/>
            <a:ext cx="398086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通信 / 能源 / 金融 </a:t>
            </a:r>
            <a:endParaRPr lang="en-US" sz="330" dirty="0"/>
          </a:p>
        </p:txBody>
      </p:sp>
      <p:pic>
        <p:nvPicPr>
          <p:cNvPr id="127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499121" y="3575694"/>
            <a:ext cx="628556" cy="153647"/>
          </a:xfrm>
          <a:prstGeom prst="rect">
            <a:avLst/>
          </a:prstGeom>
        </p:spPr>
      </p:pic>
      <p:sp>
        <p:nvSpPr>
          <p:cNvPr id="128" name="Text 75"/>
          <p:cNvSpPr/>
          <p:nvPr/>
        </p:nvSpPr>
        <p:spPr>
          <a:xfrm>
            <a:off x="5702703" y="3596646"/>
            <a:ext cx="217900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数字员工</a:t>
            </a:r>
            <a:endParaRPr lang="en-US" sz="357" dirty="0"/>
          </a:p>
        </p:txBody>
      </p:sp>
      <p:sp>
        <p:nvSpPr>
          <p:cNvPr id="129" name="Text 76"/>
          <p:cNvSpPr/>
          <p:nvPr/>
        </p:nvSpPr>
        <p:spPr>
          <a:xfrm>
            <a:off x="5687688" y="3656010"/>
            <a:ext cx="251423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提效 / 赋能</a:t>
            </a:r>
            <a:endParaRPr lang="en-US" sz="330" dirty="0"/>
          </a:p>
        </p:txBody>
      </p:sp>
      <p:pic>
        <p:nvPicPr>
          <p:cNvPr id="130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284816" y="3575694"/>
            <a:ext cx="628556" cy="153647"/>
          </a:xfrm>
          <a:prstGeom prst="rect">
            <a:avLst/>
          </a:prstGeom>
        </p:spPr>
      </p:pic>
      <p:sp>
        <p:nvSpPr>
          <p:cNvPr id="131" name="Text 77"/>
          <p:cNvSpPr/>
          <p:nvPr/>
        </p:nvSpPr>
        <p:spPr>
          <a:xfrm>
            <a:off x="6435670" y="3596646"/>
            <a:ext cx="326849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移动端智能体</a:t>
            </a:r>
            <a:endParaRPr lang="en-US" sz="357" dirty="0"/>
          </a:p>
        </p:txBody>
      </p:sp>
      <p:sp>
        <p:nvSpPr>
          <p:cNvPr id="132" name="Text 78"/>
          <p:cNvSpPr/>
          <p:nvPr/>
        </p:nvSpPr>
        <p:spPr>
          <a:xfrm>
            <a:off x="6452431" y="3656010"/>
            <a:ext cx="293326" cy="52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3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/ 小程序</a:t>
            </a:r>
            <a:endParaRPr lang="en-US" sz="330" dirty="0"/>
          </a:p>
        </p:txBody>
      </p:sp>
      <p:pic>
        <p:nvPicPr>
          <p:cNvPr id="133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2338879" y="3781721"/>
            <a:ext cx="4591954" cy="265391"/>
          </a:xfrm>
          <a:prstGeom prst="rect">
            <a:avLst/>
          </a:prstGeom>
        </p:spPr>
      </p:pic>
      <p:sp>
        <p:nvSpPr>
          <p:cNvPr id="134" name="Text 79"/>
          <p:cNvSpPr/>
          <p:nvPr/>
        </p:nvSpPr>
        <p:spPr>
          <a:xfrm>
            <a:off x="4507398" y="3799181"/>
            <a:ext cx="251423" cy="62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12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智能设备</a:t>
            </a:r>
            <a:endParaRPr lang="en-US" sz="412" dirty="0"/>
          </a:p>
        </p:txBody>
      </p:sp>
      <p:pic>
        <p:nvPicPr>
          <p:cNvPr id="13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2356338" y="3886481"/>
            <a:ext cx="723560" cy="139679"/>
          </a:xfrm>
          <a:prstGeom prst="rect">
            <a:avLst/>
          </a:prstGeom>
        </p:spPr>
      </p:pic>
      <p:sp>
        <p:nvSpPr>
          <p:cNvPr id="136" name="Text 80"/>
          <p:cNvSpPr/>
          <p:nvPr/>
        </p:nvSpPr>
        <p:spPr>
          <a:xfrm>
            <a:off x="2530271" y="3928384"/>
            <a:ext cx="375694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摄像头 / 传感器</a:t>
            </a:r>
            <a:endParaRPr lang="en-US" sz="357" dirty="0"/>
          </a:p>
        </p:txBody>
      </p:sp>
      <p:pic>
        <p:nvPicPr>
          <p:cNvPr id="13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3114685" y="3886481"/>
            <a:ext cx="723560" cy="139679"/>
          </a:xfrm>
          <a:prstGeom prst="rect">
            <a:avLst/>
          </a:prstGeom>
        </p:spPr>
      </p:pic>
      <p:sp>
        <p:nvSpPr>
          <p:cNvPr id="138" name="Text 81"/>
          <p:cNvSpPr/>
          <p:nvPr/>
        </p:nvSpPr>
        <p:spPr>
          <a:xfrm>
            <a:off x="3261485" y="3928384"/>
            <a:ext cx="429961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控制器 / 工业设备</a:t>
            </a:r>
            <a:endParaRPr lang="en-US" sz="357" dirty="0"/>
          </a:p>
        </p:txBody>
      </p:sp>
      <p:pic>
        <p:nvPicPr>
          <p:cNvPr id="139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3873031" y="3886481"/>
            <a:ext cx="723560" cy="139679"/>
          </a:xfrm>
          <a:prstGeom prst="rect">
            <a:avLst/>
          </a:prstGeom>
        </p:spPr>
      </p:pic>
      <p:sp>
        <p:nvSpPr>
          <p:cNvPr id="140" name="Text 82"/>
          <p:cNvSpPr/>
          <p:nvPr/>
        </p:nvSpPr>
        <p:spPr>
          <a:xfrm>
            <a:off x="4063660" y="3928384"/>
            <a:ext cx="342299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移动设备 / PC</a:t>
            </a:r>
            <a:endParaRPr lang="en-US" sz="357" dirty="0"/>
          </a:p>
        </p:txBody>
      </p:sp>
      <p:pic>
        <p:nvPicPr>
          <p:cNvPr id="141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4631377" y="3886481"/>
            <a:ext cx="723560" cy="139679"/>
          </a:xfrm>
          <a:prstGeom prst="rect">
            <a:avLst/>
          </a:prstGeom>
        </p:spPr>
      </p:pic>
      <p:sp>
        <p:nvSpPr>
          <p:cNvPr id="142" name="Text 83"/>
          <p:cNvSpPr/>
          <p:nvPr/>
        </p:nvSpPr>
        <p:spPr>
          <a:xfrm>
            <a:off x="4778177" y="3928384"/>
            <a:ext cx="429961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服务器 / 边缘节点</a:t>
            </a:r>
            <a:endParaRPr lang="en-US" sz="357" dirty="0"/>
          </a:p>
        </p:txBody>
      </p:sp>
      <p:pic>
        <p:nvPicPr>
          <p:cNvPr id="143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389724" y="3886481"/>
            <a:ext cx="723560" cy="139679"/>
          </a:xfrm>
          <a:prstGeom prst="rect">
            <a:avLst/>
          </a:prstGeom>
        </p:spPr>
      </p:pic>
      <p:sp>
        <p:nvSpPr>
          <p:cNvPr id="144" name="Text 84"/>
          <p:cNvSpPr/>
          <p:nvPr/>
        </p:nvSpPr>
        <p:spPr>
          <a:xfrm>
            <a:off x="5603880" y="3928384"/>
            <a:ext cx="293326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算力中心</a:t>
            </a:r>
            <a:endParaRPr lang="en-US" sz="357" dirty="0"/>
          </a:p>
        </p:txBody>
      </p:sp>
      <p:pic>
        <p:nvPicPr>
          <p:cNvPr id="145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148070" y="3886481"/>
            <a:ext cx="765303" cy="139679"/>
          </a:xfrm>
          <a:prstGeom prst="rect">
            <a:avLst/>
          </a:prstGeom>
        </p:spPr>
      </p:pic>
      <p:sp>
        <p:nvSpPr>
          <p:cNvPr id="146" name="Text 85"/>
          <p:cNvSpPr/>
          <p:nvPr/>
        </p:nvSpPr>
        <p:spPr>
          <a:xfrm>
            <a:off x="6322530" y="3928384"/>
            <a:ext cx="427418" cy="5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5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各类智能终端</a:t>
            </a:r>
            <a:endParaRPr lang="en-US" sz="357" dirty="0"/>
          </a:p>
        </p:txBody>
      </p:sp>
      <p:sp>
        <p:nvSpPr>
          <p:cNvPr id="147" name="Shape 86"/>
          <p:cNvSpPr/>
          <p:nvPr/>
        </p:nvSpPr>
        <p:spPr>
          <a:xfrm>
            <a:off x="7126384" y="2664287"/>
            <a:ext cx="408562" cy="104759"/>
          </a:xfrm>
          <a:prstGeom prst="roundRect">
            <a:avLst>
              <a:gd name="adj" fmla="val 26667"/>
            </a:avLst>
          </a:prstGeom>
          <a:solidFill>
            <a:srgbClr val="FFFFFF">
              <a:alpha val="0"/>
            </a:srgbClr>
          </a:solidFill>
          <a:ln w="3492">
            <a:solidFill>
              <a:srgbClr val="ACA1A1"/>
            </a:solidFill>
            <a:prstDash val="solid"/>
          </a:ln>
        </p:spPr>
      </p:sp>
      <p:sp>
        <p:nvSpPr>
          <p:cNvPr id="148" name="Shape 87"/>
          <p:cNvSpPr/>
          <p:nvPr/>
        </p:nvSpPr>
        <p:spPr>
          <a:xfrm>
            <a:off x="7126384" y="2831903"/>
            <a:ext cx="408562" cy="104759"/>
          </a:xfrm>
          <a:prstGeom prst="roundRect">
            <a:avLst>
              <a:gd name="adj" fmla="val 26667"/>
            </a:avLst>
          </a:prstGeom>
          <a:solidFill>
            <a:srgbClr val="FFFFFF">
              <a:alpha val="0"/>
            </a:srgbClr>
          </a:solidFill>
          <a:ln w="3492">
            <a:solidFill>
              <a:srgbClr val="ACA1A1"/>
            </a:solidFill>
            <a:prstDash val="solid"/>
          </a:ln>
        </p:spPr>
      </p:sp>
      <p:sp>
        <p:nvSpPr>
          <p:cNvPr id="149" name="Shape 88"/>
          <p:cNvSpPr/>
          <p:nvPr/>
        </p:nvSpPr>
        <p:spPr>
          <a:xfrm>
            <a:off x="7126384" y="2999518"/>
            <a:ext cx="408562" cy="104759"/>
          </a:xfrm>
          <a:prstGeom prst="roundRect">
            <a:avLst>
              <a:gd name="adj" fmla="val 26667"/>
            </a:avLst>
          </a:prstGeom>
          <a:solidFill>
            <a:srgbClr val="FFFFFF">
              <a:alpha val="0"/>
            </a:srgbClr>
          </a:solidFill>
          <a:ln w="3492">
            <a:solidFill>
              <a:srgbClr val="ACA1A1"/>
            </a:solidFill>
            <a:prstDash val="solid"/>
          </a:ln>
        </p:spPr>
      </p:sp>
      <p:sp>
        <p:nvSpPr>
          <p:cNvPr id="150" name="Text 89"/>
          <p:cNvSpPr/>
          <p:nvPr/>
        </p:nvSpPr>
        <p:spPr>
          <a:xfrm>
            <a:off x="7227302" y="2681747"/>
            <a:ext cx="213709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合规</a:t>
            </a:r>
            <a:endParaRPr lang="en-US" sz="385" dirty="0"/>
          </a:p>
        </p:txBody>
      </p:sp>
      <p:sp>
        <p:nvSpPr>
          <p:cNvPr id="151" name="Text 90"/>
          <p:cNvSpPr/>
          <p:nvPr/>
        </p:nvSpPr>
        <p:spPr>
          <a:xfrm>
            <a:off x="7227302" y="2849362"/>
            <a:ext cx="213709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监管</a:t>
            </a:r>
            <a:endParaRPr lang="en-US" sz="385" dirty="0"/>
          </a:p>
        </p:txBody>
      </p:sp>
      <p:sp>
        <p:nvSpPr>
          <p:cNvPr id="152" name="Text 91"/>
          <p:cNvSpPr/>
          <p:nvPr/>
        </p:nvSpPr>
        <p:spPr>
          <a:xfrm>
            <a:off x="7227302" y="3016977"/>
            <a:ext cx="213709" cy="59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治理</a:t>
            </a:r>
            <a:endParaRPr lang="en-US" sz="385" dirty="0"/>
          </a:p>
        </p:txBody>
      </p:sp>
      <p:pic>
        <p:nvPicPr>
          <p:cNvPr id="15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403544" y="1138292"/>
            <a:ext cx="244439" cy="80316"/>
          </a:xfrm>
          <a:prstGeom prst="rect">
            <a:avLst/>
          </a:prstGeom>
        </p:spPr>
      </p:pic>
      <p:pic>
        <p:nvPicPr>
          <p:cNvPr id="154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893715" y="2147474"/>
            <a:ext cx="977755" cy="174883"/>
          </a:xfrm>
          <a:prstGeom prst="rect">
            <a:avLst/>
          </a:prstGeom>
        </p:spPr>
      </p:pic>
      <p:sp>
        <p:nvSpPr>
          <p:cNvPr id="155" name="Text 92"/>
          <p:cNvSpPr/>
          <p:nvPr/>
        </p:nvSpPr>
        <p:spPr>
          <a:xfrm>
            <a:off x="6177263" y="2209934"/>
            <a:ext cx="410657" cy="53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智能体数字身份</a:t>
            </a:r>
            <a:endParaRPr lang="en-US" sz="385" dirty="0"/>
          </a:p>
        </p:txBody>
      </p:sp>
      <p:pic>
        <p:nvPicPr>
          <p:cNvPr id="156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893715" y="2367752"/>
            <a:ext cx="977755" cy="174883"/>
          </a:xfrm>
          <a:prstGeom prst="rect">
            <a:avLst/>
          </a:prstGeom>
        </p:spPr>
      </p:pic>
      <p:sp>
        <p:nvSpPr>
          <p:cNvPr id="157" name="Text 93"/>
          <p:cNvSpPr/>
          <p:nvPr/>
        </p:nvSpPr>
        <p:spPr>
          <a:xfrm>
            <a:off x="6177263" y="2430209"/>
            <a:ext cx="410657" cy="53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智能体信用评级</a:t>
            </a:r>
            <a:endParaRPr lang="en-US" sz="385" dirty="0"/>
          </a:p>
        </p:txBody>
      </p:sp>
      <p:pic>
        <p:nvPicPr>
          <p:cNvPr id="158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893715" y="2588030"/>
            <a:ext cx="977755" cy="174883"/>
          </a:xfrm>
          <a:prstGeom prst="rect">
            <a:avLst/>
          </a:prstGeom>
        </p:spPr>
      </p:pic>
      <p:sp>
        <p:nvSpPr>
          <p:cNvPr id="159" name="Text 94"/>
          <p:cNvSpPr/>
          <p:nvPr/>
        </p:nvSpPr>
        <p:spPr>
          <a:xfrm>
            <a:off x="6177263" y="2650488"/>
            <a:ext cx="410657" cy="53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分布式协同认证</a:t>
            </a:r>
            <a:endParaRPr lang="en-US" sz="385" dirty="0"/>
          </a:p>
        </p:txBody>
      </p:sp>
      <p:pic>
        <p:nvPicPr>
          <p:cNvPr id="160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893715" y="2808311"/>
            <a:ext cx="977755" cy="187375"/>
          </a:xfrm>
          <a:prstGeom prst="rect">
            <a:avLst/>
          </a:prstGeom>
        </p:spPr>
      </p:pic>
      <p:sp>
        <p:nvSpPr>
          <p:cNvPr id="161" name="Text 95"/>
          <p:cNvSpPr/>
          <p:nvPr/>
        </p:nvSpPr>
        <p:spPr>
          <a:xfrm>
            <a:off x="6177263" y="2877015"/>
            <a:ext cx="410657" cy="53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85" b="1" dirty="0">
                <a:solidFill>
                  <a:srgbClr val="553C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模块化生态治理</a:t>
            </a:r>
            <a:endParaRPr lang="en-US" sz="3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智能体健康运营体系架构 3</dc:title>
  <dc:subject>由 Figma Frame 转换生成</dc:subject>
  <dc:creator>Frame2PPT</dc:creator>
  <cp:lastModifiedBy>Frame2PPT</cp:lastModifiedBy>
  <cp:revision>1</cp:revision>
  <dcterms:created xsi:type="dcterms:W3CDTF">2026-08-12T12:37:28Z</dcterms:created>
  <dcterms:modified xsi:type="dcterms:W3CDTF">2026-08-12T12:37:28Z</dcterms:modified>
</cp:coreProperties>
</file>