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slideLayout" Target="../slideLayouts/slideLayout1.xml"/><Relationship Id="rId6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318" y="647918"/>
            <a:ext cx="956304" cy="3771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1684" y="751181"/>
            <a:ext cx="848551" cy="197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战略指挥层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6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8" y="1051990"/>
            <a:ext cx="956304" cy="5387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1684" y="1236068"/>
            <a:ext cx="848551" cy="197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协同运营层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Harmony</a:t>
            </a:r>
            <a:endParaRPr lang="en-US" sz="636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8" y="1617691"/>
            <a:ext cx="956304" cy="16611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81684" y="2304614"/>
            <a:ext cx="848551" cy="296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免疫引擎层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Immune 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</a:t>
            </a:r>
            <a:endParaRPr lang="en-US" sz="636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8" y="3305814"/>
            <a:ext cx="956304" cy="3591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81684" y="3400098"/>
            <a:ext cx="848551" cy="197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安全交换层 Exchange</a:t>
            </a:r>
            <a:endParaRPr lang="en-US" sz="636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18" y="3691927"/>
            <a:ext cx="956304" cy="80814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75968" y="4010695"/>
            <a:ext cx="668964" cy="197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接入层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</a:t>
            </a:r>
            <a:endParaRPr lang="en-US" sz="636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027" y="643429"/>
            <a:ext cx="803654" cy="385215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739476" y="2219309"/>
            <a:ext cx="781206" cy="197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授权治理层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Delegation</a:t>
            </a:r>
            <a:endParaRPr lang="en-US" sz="636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3499" y="643429"/>
            <a:ext cx="6038632" cy="377134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3292" y="715264"/>
            <a:ext cx="1346907" cy="233464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2194710" y="746691"/>
            <a:ext cx="404072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决策驾驶舱</a:t>
            </a:r>
            <a:endParaRPr lang="en-US" sz="530" dirty="0"/>
          </a:p>
        </p:txBody>
      </p:sp>
      <p:sp>
        <p:nvSpPr>
          <p:cNvPr id="17" name="Text 7"/>
          <p:cNvSpPr/>
          <p:nvPr/>
        </p:nvSpPr>
        <p:spPr>
          <a:xfrm>
            <a:off x="1857534" y="849954"/>
            <a:ext cx="1082913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健康态势图 · 免疫热力图 · 信用风险图</a:t>
            </a:r>
            <a:endParaRPr lang="en-US" sz="424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2415" y="715264"/>
            <a:ext cx="1077525" cy="233464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7544" y="715264"/>
            <a:ext cx="1077525" cy="233464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4699956" y="746691"/>
            <a:ext cx="242443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网页端</a:t>
            </a:r>
            <a:endParaRPr lang="en-US" sz="530" dirty="0"/>
          </a:p>
        </p:txBody>
      </p:sp>
      <p:sp>
        <p:nvSpPr>
          <p:cNvPr id="21" name="Text 9"/>
          <p:cNvSpPr/>
          <p:nvPr/>
        </p:nvSpPr>
        <p:spPr>
          <a:xfrm>
            <a:off x="3501658" y="746691"/>
            <a:ext cx="344808" cy="8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6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应急指挥</a:t>
            </a:r>
            <a:endParaRPr lang="en-US" sz="566" dirty="0"/>
          </a:p>
        </p:txBody>
      </p:sp>
      <p:sp>
        <p:nvSpPr>
          <p:cNvPr id="22" name="Text 10"/>
          <p:cNvSpPr/>
          <p:nvPr/>
        </p:nvSpPr>
        <p:spPr>
          <a:xfrm>
            <a:off x="4341230" y="849954"/>
            <a:ext cx="964385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体检报告下载 · 安全等级证书查看</a:t>
            </a:r>
            <a:endParaRPr lang="en-US" sz="424" dirty="0"/>
          </a:p>
        </p:txBody>
      </p:sp>
      <p:sp>
        <p:nvSpPr>
          <p:cNvPr id="23" name="Text 11"/>
          <p:cNvSpPr/>
          <p:nvPr/>
        </p:nvSpPr>
        <p:spPr>
          <a:xfrm>
            <a:off x="3390314" y="849954"/>
            <a:ext cx="576476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应急熔断 · 紧急隔离</a:t>
            </a:r>
            <a:endParaRPr lang="en-US" sz="424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7286" y="715264"/>
            <a:ext cx="1077525" cy="233464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5847072" y="746691"/>
            <a:ext cx="242443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移动端</a:t>
            </a:r>
            <a:endParaRPr lang="en-US" sz="530" dirty="0"/>
          </a:p>
        </p:txBody>
      </p:sp>
      <p:sp>
        <p:nvSpPr>
          <p:cNvPr id="26" name="Text 13"/>
          <p:cNvSpPr/>
          <p:nvPr/>
        </p:nvSpPr>
        <p:spPr>
          <a:xfrm>
            <a:off x="5680055" y="849954"/>
            <a:ext cx="576476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告警推送 · 远程操作</a:t>
            </a:r>
            <a:endParaRPr lang="en-US" sz="424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156" y="715264"/>
            <a:ext cx="1032628" cy="233464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926842" y="746691"/>
            <a:ext cx="323258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服务门户</a:t>
            </a:r>
            <a:endParaRPr lang="en-US" sz="530" dirty="0"/>
          </a:p>
        </p:txBody>
      </p:sp>
      <p:sp>
        <p:nvSpPr>
          <p:cNvPr id="29" name="Text 15"/>
          <p:cNvSpPr/>
          <p:nvPr/>
        </p:nvSpPr>
        <p:spPr>
          <a:xfrm>
            <a:off x="6797539" y="849954"/>
            <a:ext cx="581864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客户接入与对外服务</a:t>
            </a:r>
            <a:endParaRPr lang="en-US" sz="424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3499" y="1047501"/>
            <a:ext cx="6038632" cy="538763"/>
          </a:xfrm>
          <a:prstGeom prst="rect">
            <a:avLst/>
          </a:prstGeom>
        </p:spPr>
      </p:pic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4313" y="1110356"/>
            <a:ext cx="1436700" cy="413051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2273728" y="1155253"/>
            <a:ext cx="317870" cy="9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🩺 体检</a:t>
            </a:r>
            <a:endParaRPr lang="en-US" sz="636" dirty="0"/>
          </a:p>
        </p:txBody>
      </p:sp>
      <p:sp>
        <p:nvSpPr>
          <p:cNvPr id="33" name="Text 17"/>
          <p:cNvSpPr/>
          <p:nvPr/>
        </p:nvSpPr>
        <p:spPr>
          <a:xfrm>
            <a:off x="2187526" y="1285454"/>
            <a:ext cx="490274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发现智能体问题</a:t>
            </a:r>
            <a:endParaRPr lang="en-US" sz="460" dirty="0"/>
          </a:p>
        </p:txBody>
      </p:sp>
      <p:sp>
        <p:nvSpPr>
          <p:cNvPr id="34" name="Text 18"/>
          <p:cNvSpPr/>
          <p:nvPr/>
        </p:nvSpPr>
        <p:spPr>
          <a:xfrm>
            <a:off x="1891207" y="1406676"/>
            <a:ext cx="1082913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上线前打分 · 运行中观察 · 分析与报告</a:t>
            </a:r>
            <a:endParaRPr lang="en-US" sz="424" dirty="0"/>
          </a:p>
        </p:txBody>
      </p:sp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04890" y="1110356"/>
            <a:ext cx="1436700" cy="413051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 rot="-10800000">
            <a:off x="3870262" y="1254026"/>
            <a:ext cx="96977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💉</a:t>
            </a:r>
            <a:endParaRPr lang="en-US" sz="636" dirty="0"/>
          </a:p>
        </p:txBody>
      </p:sp>
      <p:sp>
        <p:nvSpPr>
          <p:cNvPr id="37" name="Text 20"/>
          <p:cNvSpPr/>
          <p:nvPr/>
        </p:nvSpPr>
        <p:spPr>
          <a:xfrm>
            <a:off x="3889118" y="1155253"/>
            <a:ext cx="193955" cy="9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治疗</a:t>
            </a:r>
            <a:endParaRPr lang="en-US" sz="636" dirty="0"/>
          </a:p>
        </p:txBody>
      </p:sp>
      <p:sp>
        <p:nvSpPr>
          <p:cNvPr id="38" name="Text 21"/>
          <p:cNvSpPr/>
          <p:nvPr/>
        </p:nvSpPr>
        <p:spPr>
          <a:xfrm>
            <a:off x="3678103" y="1285454"/>
            <a:ext cx="490274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使智能体更健康</a:t>
            </a:r>
            <a:endParaRPr lang="en-US" sz="460" dirty="0"/>
          </a:p>
        </p:txBody>
      </p:sp>
      <p:sp>
        <p:nvSpPr>
          <p:cNvPr id="39" name="Text 22"/>
          <p:cNvSpPr/>
          <p:nvPr/>
        </p:nvSpPr>
        <p:spPr>
          <a:xfrm>
            <a:off x="3554187" y="1406676"/>
            <a:ext cx="738105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卫士 · AI 疫苗 · AI 进化</a:t>
            </a:r>
            <a:endParaRPr lang="en-US" sz="424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95466" y="1110356"/>
            <a:ext cx="1436700" cy="413051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5254882" y="1155253"/>
            <a:ext cx="317870" cy="9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⚖️ 秩序</a:t>
            </a:r>
            <a:endParaRPr lang="en-US" sz="636" dirty="0"/>
          </a:p>
        </p:txBody>
      </p:sp>
      <p:sp>
        <p:nvSpPr>
          <p:cNvPr id="42" name="Text 24"/>
          <p:cNvSpPr/>
          <p:nvPr/>
        </p:nvSpPr>
        <p:spPr>
          <a:xfrm>
            <a:off x="5168680" y="1285454"/>
            <a:ext cx="490274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让智能体守规矩</a:t>
            </a:r>
            <a:endParaRPr lang="en-US" sz="460" dirty="0"/>
          </a:p>
        </p:txBody>
      </p:sp>
      <p:sp>
        <p:nvSpPr>
          <p:cNvPr id="43" name="Text 25"/>
          <p:cNvSpPr/>
          <p:nvPr/>
        </p:nvSpPr>
        <p:spPr>
          <a:xfrm>
            <a:off x="4969337" y="1406676"/>
            <a:ext cx="888958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规范运行 · 信用评级 · 动态治理</a:t>
            </a:r>
            <a:endParaRPr lang="en-US" sz="424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86043" y="1110356"/>
            <a:ext cx="1436700" cy="413051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6745458" y="1155253"/>
            <a:ext cx="317870" cy="9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管理</a:t>
            </a:r>
            <a:endParaRPr lang="en-US" sz="636" dirty="0"/>
          </a:p>
        </p:txBody>
      </p:sp>
      <p:sp>
        <p:nvSpPr>
          <p:cNvPr id="46" name="Text 27"/>
          <p:cNvSpPr/>
          <p:nvPr/>
        </p:nvSpPr>
        <p:spPr>
          <a:xfrm>
            <a:off x="6589217" y="1285454"/>
            <a:ext cx="630352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让健康秩序一览无余</a:t>
            </a:r>
            <a:endParaRPr lang="en-US" sz="460" dirty="0"/>
          </a:p>
        </p:txBody>
      </p:sp>
      <p:sp>
        <p:nvSpPr>
          <p:cNvPr id="47" name="Text 28"/>
          <p:cNvSpPr/>
          <p:nvPr/>
        </p:nvSpPr>
        <p:spPr>
          <a:xfrm>
            <a:off x="6459914" y="1406676"/>
            <a:ext cx="888958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统筹管理 · 运营分析 · 决策支持</a:t>
            </a:r>
            <a:endParaRPr lang="en-US" sz="424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33499" y="1613201"/>
            <a:ext cx="6038632" cy="1661185"/>
          </a:xfrm>
          <a:prstGeom prst="rect">
            <a:avLst/>
          </a:prstGeom>
        </p:spPr>
      </p:pic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14313" y="1685036"/>
            <a:ext cx="1436700" cy="1526494"/>
          </a:xfrm>
          <a:prstGeom prst="rect">
            <a:avLst/>
          </a:prstGeom>
        </p:spPr>
      </p:pic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14313" y="1685036"/>
            <a:ext cx="1436700" cy="269381"/>
          </a:xfrm>
          <a:prstGeom prst="rect">
            <a:avLst/>
          </a:prstGeom>
        </p:spPr>
      </p:pic>
      <p:sp>
        <p:nvSpPr>
          <p:cNvPr id="51" name="Text 29"/>
          <p:cNvSpPr/>
          <p:nvPr/>
        </p:nvSpPr>
        <p:spPr>
          <a:xfrm>
            <a:off x="2217158" y="1720954"/>
            <a:ext cx="431010" cy="107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体检中心</a:t>
            </a:r>
            <a:endParaRPr lang="en-US" sz="707" dirty="0"/>
          </a:p>
        </p:txBody>
      </p:sp>
      <p:sp>
        <p:nvSpPr>
          <p:cNvPr id="52" name="Text 30"/>
          <p:cNvSpPr/>
          <p:nvPr/>
        </p:nvSpPr>
        <p:spPr>
          <a:xfrm>
            <a:off x="2192914" y="1842176"/>
            <a:ext cx="479499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早发现 · 早预警</a:t>
            </a:r>
            <a:endParaRPr lang="en-US" sz="46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04107" y="2017273"/>
            <a:ext cx="1257113" cy="170608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2093243" y="2062170"/>
            <a:ext cx="678841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全周期评测标准建设</a:t>
            </a:r>
            <a:endParaRPr lang="en-US" sz="495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04107" y="2223799"/>
            <a:ext cx="1257113" cy="170608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2093243" y="2268696"/>
            <a:ext cx="678841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全方位评测标准建设</a:t>
            </a:r>
            <a:endParaRPr lang="en-US" sz="495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04107" y="2439304"/>
            <a:ext cx="606108" cy="682433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1956307" y="2511139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静态受控</a:t>
            </a:r>
            <a:endParaRPr lang="en-US" sz="495" dirty="0"/>
          </a:p>
        </p:txBody>
      </p:sp>
      <p:sp>
        <p:nvSpPr>
          <p:cNvPr id="59" name="Text 34"/>
          <p:cNvSpPr/>
          <p:nvPr/>
        </p:nvSpPr>
        <p:spPr>
          <a:xfrm>
            <a:off x="1956307" y="2600933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环境评测</a:t>
            </a:r>
            <a:endParaRPr lang="en-US" sz="495" dirty="0"/>
          </a:p>
        </p:txBody>
      </p:sp>
      <p:sp>
        <p:nvSpPr>
          <p:cNvPr id="60" name="Text 35"/>
          <p:cNvSpPr/>
          <p:nvPr/>
        </p:nvSpPr>
        <p:spPr>
          <a:xfrm>
            <a:off x="1926675" y="2798479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基线 → 测试</a:t>
            </a:r>
            <a:endParaRPr lang="en-US" sz="424" dirty="0"/>
          </a:p>
        </p:txBody>
      </p:sp>
      <p:sp>
        <p:nvSpPr>
          <p:cNvPr id="61" name="Text 36"/>
          <p:cNvSpPr/>
          <p:nvPr/>
        </p:nvSpPr>
        <p:spPr>
          <a:xfrm>
            <a:off x="1926675" y="2888273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评分 → 报告</a:t>
            </a:r>
            <a:endParaRPr lang="en-US" sz="424" dirty="0"/>
          </a:p>
        </p:txBody>
      </p:sp>
      <p:pic>
        <p:nvPicPr>
          <p:cNvPr id="6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55112" y="2439304"/>
            <a:ext cx="606108" cy="682433"/>
          </a:xfrm>
          <a:prstGeom prst="rect">
            <a:avLst/>
          </a:prstGeom>
        </p:spPr>
      </p:pic>
      <p:sp>
        <p:nvSpPr>
          <p:cNvPr id="63" name="Text 37"/>
          <p:cNvSpPr/>
          <p:nvPr/>
        </p:nvSpPr>
        <p:spPr>
          <a:xfrm>
            <a:off x="2607312" y="2511139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动态生产</a:t>
            </a:r>
            <a:endParaRPr lang="en-US" sz="495" dirty="0"/>
          </a:p>
        </p:txBody>
      </p:sp>
      <p:sp>
        <p:nvSpPr>
          <p:cNvPr id="64" name="Text 38"/>
          <p:cNvSpPr/>
          <p:nvPr/>
        </p:nvSpPr>
        <p:spPr>
          <a:xfrm>
            <a:off x="2607312" y="2600933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环境监测</a:t>
            </a:r>
            <a:endParaRPr lang="en-US" sz="495" dirty="0"/>
          </a:p>
        </p:txBody>
      </p:sp>
      <p:sp>
        <p:nvSpPr>
          <p:cNvPr id="65" name="Text 39"/>
          <p:cNvSpPr/>
          <p:nvPr/>
        </p:nvSpPr>
        <p:spPr>
          <a:xfrm>
            <a:off x="2577680" y="2798479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采集 → 告警</a:t>
            </a:r>
            <a:endParaRPr lang="en-US" sz="424" dirty="0"/>
          </a:p>
        </p:txBody>
      </p:sp>
      <p:sp>
        <p:nvSpPr>
          <p:cNvPr id="66" name="Text 40"/>
          <p:cNvSpPr/>
          <p:nvPr/>
        </p:nvSpPr>
        <p:spPr>
          <a:xfrm>
            <a:off x="2577680" y="2888273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分析 → 处置</a:t>
            </a:r>
            <a:endParaRPr lang="en-US" sz="424" dirty="0"/>
          </a:p>
        </p:txBody>
      </p:sp>
      <p:pic>
        <p:nvPicPr>
          <p:cNvPr id="6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04890" y="1685036"/>
            <a:ext cx="1436700" cy="1526494"/>
          </a:xfrm>
          <a:prstGeom prst="rect">
            <a:avLst/>
          </a:prstGeom>
        </p:spPr>
      </p:pic>
      <p:pic>
        <p:nvPicPr>
          <p:cNvPr id="6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04890" y="1685036"/>
            <a:ext cx="1436700" cy="269381"/>
          </a:xfrm>
          <a:prstGeom prst="rect">
            <a:avLst/>
          </a:prstGeom>
        </p:spPr>
      </p:pic>
      <p:sp>
        <p:nvSpPr>
          <p:cNvPr id="69" name="Text 41"/>
          <p:cNvSpPr/>
          <p:nvPr/>
        </p:nvSpPr>
        <p:spPr>
          <a:xfrm>
            <a:off x="3707735" y="1720954"/>
            <a:ext cx="431010" cy="107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病毒中心</a:t>
            </a:r>
            <a:endParaRPr lang="en-US" sz="707" dirty="0"/>
          </a:p>
        </p:txBody>
      </p:sp>
      <p:sp>
        <p:nvSpPr>
          <p:cNvPr id="70" name="Text 42"/>
          <p:cNvSpPr/>
          <p:nvPr/>
        </p:nvSpPr>
        <p:spPr>
          <a:xfrm>
            <a:off x="3653859" y="1842176"/>
            <a:ext cx="538763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识别 · 合成 · 迭代</a:t>
            </a:r>
            <a:endParaRPr lang="en-US" sz="460" dirty="0"/>
          </a:p>
        </p:txBody>
      </p:sp>
      <p:pic>
        <p:nvPicPr>
          <p:cNvPr id="7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94683" y="2017273"/>
            <a:ext cx="1257113" cy="170608"/>
          </a:xfrm>
          <a:prstGeom prst="rect">
            <a:avLst/>
          </a:prstGeom>
        </p:spPr>
      </p:pic>
      <p:sp>
        <p:nvSpPr>
          <p:cNvPr id="72" name="Text 43"/>
          <p:cNvSpPr/>
          <p:nvPr/>
        </p:nvSpPr>
        <p:spPr>
          <a:xfrm>
            <a:off x="3583819" y="2062170"/>
            <a:ext cx="678841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特征分析与判定模型</a:t>
            </a:r>
            <a:endParaRPr lang="en-US" sz="495" dirty="0"/>
          </a:p>
        </p:txBody>
      </p:sp>
      <p:pic>
        <p:nvPicPr>
          <p:cNvPr id="7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94683" y="2223799"/>
            <a:ext cx="606108" cy="493866"/>
          </a:xfrm>
          <a:prstGeom prst="rect">
            <a:avLst/>
          </a:prstGeom>
        </p:spPr>
      </p:pic>
      <p:sp>
        <p:nvSpPr>
          <p:cNvPr id="74" name="Text 44"/>
          <p:cNvSpPr/>
          <p:nvPr/>
        </p:nvSpPr>
        <p:spPr>
          <a:xfrm>
            <a:off x="3409171" y="2322572"/>
            <a:ext cx="37713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自然样本库</a:t>
            </a:r>
            <a:endParaRPr lang="en-US" sz="495" dirty="0"/>
          </a:p>
        </p:txBody>
      </p:sp>
      <p:sp>
        <p:nvSpPr>
          <p:cNvPr id="75" name="Text 45"/>
          <p:cNvSpPr/>
          <p:nvPr/>
        </p:nvSpPr>
        <p:spPr>
          <a:xfrm>
            <a:off x="3417252" y="2511139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采集 → 标注</a:t>
            </a:r>
            <a:endParaRPr lang="en-US" sz="424" dirty="0"/>
          </a:p>
        </p:txBody>
      </p:sp>
      <p:pic>
        <p:nvPicPr>
          <p:cNvPr id="7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45688" y="2223799"/>
            <a:ext cx="606108" cy="493866"/>
          </a:xfrm>
          <a:prstGeom prst="rect">
            <a:avLst/>
          </a:prstGeom>
        </p:spPr>
      </p:pic>
      <p:sp>
        <p:nvSpPr>
          <p:cNvPr id="77" name="Text 46"/>
          <p:cNvSpPr/>
          <p:nvPr/>
        </p:nvSpPr>
        <p:spPr>
          <a:xfrm>
            <a:off x="4060175" y="2322572"/>
            <a:ext cx="37713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合成样本库</a:t>
            </a:r>
            <a:endParaRPr lang="en-US" sz="495" dirty="0"/>
          </a:p>
        </p:txBody>
      </p:sp>
      <p:sp>
        <p:nvSpPr>
          <p:cNvPr id="78" name="Text 47"/>
          <p:cNvSpPr/>
          <p:nvPr/>
        </p:nvSpPr>
        <p:spPr>
          <a:xfrm>
            <a:off x="4068257" y="2511139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生成 → 扩增</a:t>
            </a:r>
            <a:endParaRPr lang="en-US" sz="424" dirty="0"/>
          </a:p>
        </p:txBody>
      </p:sp>
      <p:pic>
        <p:nvPicPr>
          <p:cNvPr id="79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94683" y="2762562"/>
            <a:ext cx="1257113" cy="359175"/>
          </a:xfrm>
          <a:prstGeom prst="rect">
            <a:avLst/>
          </a:prstGeom>
        </p:spPr>
      </p:pic>
      <p:sp>
        <p:nvSpPr>
          <p:cNvPr id="80" name="Text 48"/>
          <p:cNvSpPr/>
          <p:nvPr/>
        </p:nvSpPr>
        <p:spPr>
          <a:xfrm>
            <a:off x="3462598" y="2906232"/>
            <a:ext cx="92128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演练靶场（幻境 NovoOS）</a:t>
            </a:r>
            <a:endParaRPr lang="en-US" sz="495" dirty="0"/>
          </a:p>
        </p:txBody>
      </p:sp>
      <p:pic>
        <p:nvPicPr>
          <p:cNvPr id="8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95466" y="1685036"/>
            <a:ext cx="1436700" cy="1526494"/>
          </a:xfrm>
          <a:prstGeom prst="rect">
            <a:avLst/>
          </a:prstGeom>
        </p:spPr>
      </p:pic>
      <p:pic>
        <p:nvPicPr>
          <p:cNvPr id="8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95466" y="1685036"/>
            <a:ext cx="1436700" cy="269381"/>
          </a:xfrm>
          <a:prstGeom prst="rect">
            <a:avLst/>
          </a:prstGeom>
        </p:spPr>
      </p:pic>
      <p:sp>
        <p:nvSpPr>
          <p:cNvPr id="83" name="Text 49"/>
          <p:cNvSpPr/>
          <p:nvPr/>
        </p:nvSpPr>
        <p:spPr>
          <a:xfrm>
            <a:off x="5198312" y="1720954"/>
            <a:ext cx="431010" cy="107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疫苗中心</a:t>
            </a:r>
            <a:endParaRPr lang="en-US" sz="707" dirty="0"/>
          </a:p>
        </p:txBody>
      </p:sp>
      <p:sp>
        <p:nvSpPr>
          <p:cNvPr id="84" name="Text 50"/>
          <p:cNvSpPr/>
          <p:nvPr/>
        </p:nvSpPr>
        <p:spPr>
          <a:xfrm>
            <a:off x="5144435" y="1842176"/>
            <a:ext cx="538763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预防 · 治疗 · 免疫</a:t>
            </a:r>
            <a:endParaRPr lang="en-US" sz="460" dirty="0"/>
          </a:p>
        </p:txBody>
      </p:sp>
      <p:pic>
        <p:nvPicPr>
          <p:cNvPr id="8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785260" y="2017273"/>
            <a:ext cx="1257113" cy="170608"/>
          </a:xfrm>
          <a:prstGeom prst="rect">
            <a:avLst/>
          </a:prstGeom>
        </p:spPr>
      </p:pic>
      <p:sp>
        <p:nvSpPr>
          <p:cNvPr id="86" name="Text 51"/>
          <p:cNvSpPr/>
          <p:nvPr/>
        </p:nvSpPr>
        <p:spPr>
          <a:xfrm>
            <a:off x="5187536" y="2062170"/>
            <a:ext cx="452561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疫苗免疫模型</a:t>
            </a:r>
            <a:endParaRPr lang="en-US" sz="495" dirty="0"/>
          </a:p>
        </p:txBody>
      </p:sp>
      <p:pic>
        <p:nvPicPr>
          <p:cNvPr id="87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785260" y="2241758"/>
            <a:ext cx="606108" cy="413051"/>
          </a:xfrm>
          <a:prstGeom prst="rect">
            <a:avLst/>
          </a:prstGeom>
        </p:spPr>
      </p:pic>
      <p:sp>
        <p:nvSpPr>
          <p:cNvPr id="88" name="Text 52"/>
          <p:cNvSpPr/>
          <p:nvPr/>
        </p:nvSpPr>
        <p:spPr>
          <a:xfrm>
            <a:off x="4937461" y="2376449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高维特征</a:t>
            </a:r>
            <a:endParaRPr lang="en-US" sz="495" dirty="0"/>
          </a:p>
        </p:txBody>
      </p:sp>
      <p:sp>
        <p:nvSpPr>
          <p:cNvPr id="89" name="Text 53"/>
          <p:cNvSpPr/>
          <p:nvPr/>
        </p:nvSpPr>
        <p:spPr>
          <a:xfrm>
            <a:off x="5012887" y="2466242"/>
            <a:ext cx="15085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提取</a:t>
            </a:r>
            <a:endParaRPr lang="en-US" sz="495" dirty="0"/>
          </a:p>
        </p:txBody>
      </p:sp>
      <p:pic>
        <p:nvPicPr>
          <p:cNvPr id="9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36265" y="2241758"/>
            <a:ext cx="606108" cy="413051"/>
          </a:xfrm>
          <a:prstGeom prst="rect">
            <a:avLst/>
          </a:prstGeom>
        </p:spPr>
      </p:pic>
      <p:sp>
        <p:nvSpPr>
          <p:cNvPr id="91" name="Text 54"/>
          <p:cNvSpPr/>
          <p:nvPr/>
        </p:nvSpPr>
        <p:spPr>
          <a:xfrm>
            <a:off x="5588466" y="2376449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自主进化</a:t>
            </a:r>
            <a:endParaRPr lang="en-US" sz="495" dirty="0"/>
          </a:p>
        </p:txBody>
      </p:sp>
      <p:sp>
        <p:nvSpPr>
          <p:cNvPr id="92" name="Text 55"/>
          <p:cNvSpPr/>
          <p:nvPr/>
        </p:nvSpPr>
        <p:spPr>
          <a:xfrm>
            <a:off x="5663892" y="2466242"/>
            <a:ext cx="15085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引擎</a:t>
            </a:r>
            <a:endParaRPr lang="en-US" sz="495" dirty="0"/>
          </a:p>
        </p:txBody>
      </p:sp>
      <p:pic>
        <p:nvPicPr>
          <p:cNvPr id="93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785260" y="2699706"/>
            <a:ext cx="606108" cy="413051"/>
          </a:xfrm>
          <a:prstGeom prst="rect">
            <a:avLst/>
          </a:prstGeom>
        </p:spPr>
      </p:pic>
      <p:sp>
        <p:nvSpPr>
          <p:cNvPr id="94" name="Text 56"/>
          <p:cNvSpPr/>
          <p:nvPr/>
        </p:nvSpPr>
        <p:spPr>
          <a:xfrm>
            <a:off x="4937461" y="2834397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疫苗实时</a:t>
            </a:r>
            <a:endParaRPr lang="en-US" sz="495" dirty="0"/>
          </a:p>
        </p:txBody>
      </p:sp>
      <p:sp>
        <p:nvSpPr>
          <p:cNvPr id="95" name="Text 57"/>
          <p:cNvSpPr/>
          <p:nvPr/>
        </p:nvSpPr>
        <p:spPr>
          <a:xfrm>
            <a:off x="5012887" y="2924191"/>
            <a:ext cx="15085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分发</a:t>
            </a:r>
            <a:endParaRPr lang="en-US" sz="495" dirty="0"/>
          </a:p>
        </p:txBody>
      </p:sp>
      <p:pic>
        <p:nvPicPr>
          <p:cNvPr id="96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436265" y="2699706"/>
            <a:ext cx="606108" cy="413051"/>
          </a:xfrm>
          <a:prstGeom prst="rect">
            <a:avLst/>
          </a:prstGeom>
        </p:spPr>
      </p:pic>
      <p:sp>
        <p:nvSpPr>
          <p:cNvPr id="97" name="Text 58"/>
          <p:cNvSpPr/>
          <p:nvPr/>
        </p:nvSpPr>
        <p:spPr>
          <a:xfrm>
            <a:off x="5588466" y="2834397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闭环验证</a:t>
            </a:r>
            <a:endParaRPr lang="en-US" sz="495" dirty="0"/>
          </a:p>
        </p:txBody>
      </p:sp>
      <p:sp>
        <p:nvSpPr>
          <p:cNvPr id="98" name="Text 59"/>
          <p:cNvSpPr/>
          <p:nvPr/>
        </p:nvSpPr>
        <p:spPr>
          <a:xfrm>
            <a:off x="5663892" y="2924191"/>
            <a:ext cx="15085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迭代</a:t>
            </a:r>
            <a:endParaRPr lang="en-US" sz="495" dirty="0"/>
          </a:p>
        </p:txBody>
      </p:sp>
      <p:pic>
        <p:nvPicPr>
          <p:cNvPr id="9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186043" y="1685036"/>
            <a:ext cx="1436700" cy="1526494"/>
          </a:xfrm>
          <a:prstGeom prst="rect">
            <a:avLst/>
          </a:prstGeom>
        </p:spPr>
      </p:pic>
      <p:pic>
        <p:nvPicPr>
          <p:cNvPr id="10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186043" y="1685036"/>
            <a:ext cx="1436700" cy="269381"/>
          </a:xfrm>
          <a:prstGeom prst="rect">
            <a:avLst/>
          </a:prstGeom>
        </p:spPr>
      </p:pic>
      <p:sp>
        <p:nvSpPr>
          <p:cNvPr id="101" name="Text 60"/>
          <p:cNvSpPr/>
          <p:nvPr/>
        </p:nvSpPr>
        <p:spPr>
          <a:xfrm>
            <a:off x="6688888" y="1720954"/>
            <a:ext cx="431010" cy="107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信用中心</a:t>
            </a:r>
            <a:endParaRPr lang="en-US" sz="707" dirty="0"/>
          </a:p>
        </p:txBody>
      </p:sp>
      <p:sp>
        <p:nvSpPr>
          <p:cNvPr id="102" name="Text 61"/>
          <p:cNvSpPr/>
          <p:nvPr/>
        </p:nvSpPr>
        <p:spPr>
          <a:xfrm>
            <a:off x="6635012" y="1842176"/>
            <a:ext cx="538763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认证 · 评级 · 治理</a:t>
            </a:r>
            <a:endParaRPr lang="en-US" sz="460" dirty="0"/>
          </a:p>
        </p:txBody>
      </p:sp>
      <p:pic>
        <p:nvPicPr>
          <p:cNvPr id="103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633499" y="3301324"/>
            <a:ext cx="6038632" cy="359175"/>
          </a:xfrm>
          <a:prstGeom prst="rect">
            <a:avLst/>
          </a:prstGeom>
        </p:spPr>
      </p:pic>
      <p:pic>
        <p:nvPicPr>
          <p:cNvPr id="104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723292" y="3409077"/>
            <a:ext cx="1409214" cy="143670"/>
          </a:xfrm>
          <a:prstGeom prst="rect">
            <a:avLst/>
          </a:prstGeom>
        </p:spPr>
      </p:pic>
      <p:sp>
        <p:nvSpPr>
          <p:cNvPr id="105" name="Text 62"/>
          <p:cNvSpPr/>
          <p:nvPr/>
        </p:nvSpPr>
        <p:spPr>
          <a:xfrm>
            <a:off x="2060917" y="3444995"/>
            <a:ext cx="797369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熠序智连（NovoLink）</a:t>
            </a:r>
            <a:endParaRPr lang="en-US" sz="495" dirty="0"/>
          </a:p>
        </p:txBody>
      </p:sp>
      <p:pic>
        <p:nvPicPr>
          <p:cNvPr id="106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199611" y="3409077"/>
            <a:ext cx="1442767" cy="143670"/>
          </a:xfrm>
          <a:prstGeom prst="rect">
            <a:avLst/>
          </a:prstGeom>
        </p:spPr>
      </p:pic>
      <p:sp>
        <p:nvSpPr>
          <p:cNvPr id="107" name="Text 63"/>
          <p:cNvSpPr/>
          <p:nvPr/>
        </p:nvSpPr>
        <p:spPr>
          <a:xfrm>
            <a:off x="3339580" y="3440505"/>
            <a:ext cx="1293030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智能体协议（A2A / MCP / ANP）</a:t>
            </a:r>
            <a:endParaRPr lang="en-US" sz="495" dirty="0"/>
          </a:p>
        </p:txBody>
      </p:sp>
      <p:pic>
        <p:nvPicPr>
          <p:cNvPr id="108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709484" y="3409077"/>
            <a:ext cx="1409214" cy="143670"/>
          </a:xfrm>
          <a:prstGeom prst="rect">
            <a:avLst/>
          </a:prstGeom>
        </p:spPr>
      </p:pic>
      <p:pic>
        <p:nvPicPr>
          <p:cNvPr id="109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195023" y="3409077"/>
            <a:ext cx="1409214" cy="143670"/>
          </a:xfrm>
          <a:prstGeom prst="rect">
            <a:avLst/>
          </a:prstGeom>
        </p:spPr>
      </p:pic>
      <p:sp>
        <p:nvSpPr>
          <p:cNvPr id="110" name="Text 64"/>
          <p:cNvSpPr/>
          <p:nvPr/>
        </p:nvSpPr>
        <p:spPr>
          <a:xfrm>
            <a:off x="4876401" y="3444995"/>
            <a:ext cx="1115239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通信网络（5G / 星闪 / 光纤）</a:t>
            </a:r>
            <a:endParaRPr lang="en-US" sz="495" dirty="0"/>
          </a:p>
        </p:txBody>
      </p:sp>
      <p:sp>
        <p:nvSpPr>
          <p:cNvPr id="111" name="Text 65"/>
          <p:cNvSpPr/>
          <p:nvPr/>
        </p:nvSpPr>
        <p:spPr>
          <a:xfrm>
            <a:off x="6338693" y="3444995"/>
            <a:ext cx="1131402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智能设备交互协议（米家 / 鸿蒙）</a:t>
            </a:r>
            <a:endParaRPr lang="en-US" sz="495" dirty="0"/>
          </a:p>
        </p:txBody>
      </p:sp>
      <p:pic>
        <p:nvPicPr>
          <p:cNvPr id="112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633499" y="3687438"/>
            <a:ext cx="6038632" cy="808144"/>
          </a:xfrm>
          <a:prstGeom prst="rect">
            <a:avLst/>
          </a:prstGeom>
        </p:spPr>
      </p:pic>
      <p:pic>
        <p:nvPicPr>
          <p:cNvPr id="113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700844" y="3732335"/>
            <a:ext cx="5903941" cy="359175"/>
          </a:xfrm>
          <a:prstGeom prst="rect">
            <a:avLst/>
          </a:prstGeom>
        </p:spPr>
      </p:pic>
      <p:sp>
        <p:nvSpPr>
          <p:cNvPr id="114" name="Text 66"/>
          <p:cNvSpPr/>
          <p:nvPr/>
        </p:nvSpPr>
        <p:spPr>
          <a:xfrm>
            <a:off x="4529348" y="3754783"/>
            <a:ext cx="242443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</a:t>
            </a:r>
            <a:endParaRPr lang="en-US" sz="530" dirty="0"/>
          </a:p>
        </p:txBody>
      </p:sp>
      <p:pic>
        <p:nvPicPr>
          <p:cNvPr id="115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723292" y="3862536"/>
            <a:ext cx="808144" cy="197546"/>
          </a:xfrm>
          <a:prstGeom prst="rect">
            <a:avLst/>
          </a:prstGeom>
        </p:spPr>
      </p:pic>
      <p:sp>
        <p:nvSpPr>
          <p:cNvPr id="116" name="Text 67"/>
          <p:cNvSpPr/>
          <p:nvPr/>
        </p:nvSpPr>
        <p:spPr>
          <a:xfrm>
            <a:off x="1952266" y="3889474"/>
            <a:ext cx="350196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熠序智能体</a:t>
            </a:r>
            <a:endParaRPr lang="en-US" sz="460" dirty="0"/>
          </a:p>
        </p:txBody>
      </p:sp>
      <p:sp>
        <p:nvSpPr>
          <p:cNvPr id="117" name="Text 68"/>
          <p:cNvSpPr/>
          <p:nvPr/>
        </p:nvSpPr>
        <p:spPr>
          <a:xfrm>
            <a:off x="1957654" y="3965798"/>
            <a:ext cx="339420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NovoAgent</a:t>
            </a:r>
            <a:endParaRPr lang="en-US" sz="424" dirty="0"/>
          </a:p>
        </p:txBody>
      </p:sp>
      <p:pic>
        <p:nvPicPr>
          <p:cNvPr id="118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733472" y="3862536"/>
            <a:ext cx="808144" cy="197546"/>
          </a:xfrm>
          <a:prstGeom prst="rect">
            <a:avLst/>
          </a:prstGeom>
        </p:spPr>
      </p:pic>
      <p:sp>
        <p:nvSpPr>
          <p:cNvPr id="119" name="Text 69"/>
          <p:cNvSpPr/>
          <p:nvPr/>
        </p:nvSpPr>
        <p:spPr>
          <a:xfrm>
            <a:off x="2959753" y="3889474"/>
            <a:ext cx="355583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智谱 / KIMI</a:t>
            </a:r>
            <a:endParaRPr lang="en-US" sz="460" dirty="0"/>
          </a:p>
        </p:txBody>
      </p:sp>
      <p:sp>
        <p:nvSpPr>
          <p:cNvPr id="120" name="Text 70"/>
          <p:cNvSpPr/>
          <p:nvPr/>
        </p:nvSpPr>
        <p:spPr>
          <a:xfrm>
            <a:off x="2975916" y="3965798"/>
            <a:ext cx="323258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大厂智能体</a:t>
            </a:r>
            <a:endParaRPr lang="en-US" sz="424" dirty="0"/>
          </a:p>
        </p:txBody>
      </p:sp>
      <p:pic>
        <p:nvPicPr>
          <p:cNvPr id="121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743652" y="3862536"/>
            <a:ext cx="808144" cy="197546"/>
          </a:xfrm>
          <a:prstGeom prst="rect">
            <a:avLst/>
          </a:prstGeom>
        </p:spPr>
      </p:pic>
      <p:sp>
        <p:nvSpPr>
          <p:cNvPr id="122" name="Text 71"/>
          <p:cNvSpPr/>
          <p:nvPr/>
        </p:nvSpPr>
        <p:spPr>
          <a:xfrm>
            <a:off x="3921444" y="3889474"/>
            <a:ext cx="452561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/ GPT</a:t>
            </a:r>
            <a:endParaRPr lang="en-US" sz="460" dirty="0"/>
          </a:p>
        </p:txBody>
      </p:sp>
      <p:sp>
        <p:nvSpPr>
          <p:cNvPr id="123" name="Text 72"/>
          <p:cNvSpPr/>
          <p:nvPr/>
        </p:nvSpPr>
        <p:spPr>
          <a:xfrm>
            <a:off x="3986096" y="3965798"/>
            <a:ext cx="323258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海外智能体</a:t>
            </a:r>
            <a:endParaRPr lang="en-US" sz="424" dirty="0"/>
          </a:p>
        </p:txBody>
      </p:sp>
      <p:pic>
        <p:nvPicPr>
          <p:cNvPr id="124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753832" y="3862536"/>
            <a:ext cx="808144" cy="197546"/>
          </a:xfrm>
          <a:prstGeom prst="rect">
            <a:avLst/>
          </a:prstGeom>
        </p:spPr>
      </p:pic>
      <p:sp>
        <p:nvSpPr>
          <p:cNvPr id="125" name="Text 73"/>
          <p:cNvSpPr/>
          <p:nvPr/>
        </p:nvSpPr>
        <p:spPr>
          <a:xfrm>
            <a:off x="4982807" y="3889474"/>
            <a:ext cx="350196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行业智能体</a:t>
            </a:r>
            <a:endParaRPr lang="en-US" sz="460" dirty="0"/>
          </a:p>
        </p:txBody>
      </p:sp>
      <p:sp>
        <p:nvSpPr>
          <p:cNvPr id="126" name="Text 74"/>
          <p:cNvSpPr/>
          <p:nvPr/>
        </p:nvSpPr>
        <p:spPr>
          <a:xfrm>
            <a:off x="4904237" y="3965798"/>
            <a:ext cx="511825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通信 / 能源 / 金融 </a:t>
            </a:r>
            <a:endParaRPr lang="en-US" sz="424" dirty="0"/>
          </a:p>
        </p:txBody>
      </p:sp>
      <p:pic>
        <p:nvPicPr>
          <p:cNvPr id="127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764012" y="3862536"/>
            <a:ext cx="808144" cy="197546"/>
          </a:xfrm>
          <a:prstGeom prst="rect">
            <a:avLst/>
          </a:prstGeom>
        </p:spPr>
      </p:pic>
      <p:sp>
        <p:nvSpPr>
          <p:cNvPr id="128" name="Text 75"/>
          <p:cNvSpPr/>
          <p:nvPr/>
        </p:nvSpPr>
        <p:spPr>
          <a:xfrm>
            <a:off x="6025761" y="3889474"/>
            <a:ext cx="280157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数字员工</a:t>
            </a:r>
            <a:endParaRPr lang="en-US" sz="460" dirty="0"/>
          </a:p>
        </p:txBody>
      </p:sp>
      <p:sp>
        <p:nvSpPr>
          <p:cNvPr id="129" name="Text 76"/>
          <p:cNvSpPr/>
          <p:nvPr/>
        </p:nvSpPr>
        <p:spPr>
          <a:xfrm>
            <a:off x="6006456" y="3965798"/>
            <a:ext cx="323258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提效 / 赋能</a:t>
            </a:r>
            <a:endParaRPr lang="en-US" sz="424" dirty="0"/>
          </a:p>
        </p:txBody>
      </p:sp>
      <p:pic>
        <p:nvPicPr>
          <p:cNvPr id="130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774192" y="3862536"/>
            <a:ext cx="808144" cy="197546"/>
          </a:xfrm>
          <a:prstGeom prst="rect">
            <a:avLst/>
          </a:prstGeom>
        </p:spPr>
      </p:pic>
      <p:sp>
        <p:nvSpPr>
          <p:cNvPr id="131" name="Text 77"/>
          <p:cNvSpPr/>
          <p:nvPr/>
        </p:nvSpPr>
        <p:spPr>
          <a:xfrm>
            <a:off x="6968147" y="3889474"/>
            <a:ext cx="420235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移动端智能体</a:t>
            </a:r>
            <a:endParaRPr lang="en-US" sz="460" dirty="0"/>
          </a:p>
        </p:txBody>
      </p:sp>
      <p:sp>
        <p:nvSpPr>
          <p:cNvPr id="132" name="Text 78"/>
          <p:cNvSpPr/>
          <p:nvPr/>
        </p:nvSpPr>
        <p:spPr>
          <a:xfrm>
            <a:off x="6989698" y="3965798"/>
            <a:ext cx="377134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/ 小程序</a:t>
            </a:r>
            <a:endParaRPr lang="en-US" sz="424" dirty="0"/>
          </a:p>
        </p:txBody>
      </p:sp>
      <p:pic>
        <p:nvPicPr>
          <p:cNvPr id="133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700844" y="4127427"/>
            <a:ext cx="5903941" cy="341216"/>
          </a:xfrm>
          <a:prstGeom prst="rect">
            <a:avLst/>
          </a:prstGeom>
        </p:spPr>
      </p:pic>
      <p:sp>
        <p:nvSpPr>
          <p:cNvPr id="134" name="Text 79"/>
          <p:cNvSpPr/>
          <p:nvPr/>
        </p:nvSpPr>
        <p:spPr>
          <a:xfrm>
            <a:off x="4488941" y="4149876"/>
            <a:ext cx="323258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智能设备</a:t>
            </a:r>
            <a:endParaRPr lang="en-US" sz="530" dirty="0"/>
          </a:p>
        </p:txBody>
      </p:sp>
      <p:pic>
        <p:nvPicPr>
          <p:cNvPr id="13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723292" y="4262118"/>
            <a:ext cx="930291" cy="179588"/>
          </a:xfrm>
          <a:prstGeom prst="rect">
            <a:avLst/>
          </a:prstGeom>
        </p:spPr>
      </p:pic>
      <p:sp>
        <p:nvSpPr>
          <p:cNvPr id="136" name="Text 80"/>
          <p:cNvSpPr/>
          <p:nvPr/>
        </p:nvSpPr>
        <p:spPr>
          <a:xfrm>
            <a:off x="1946920" y="4315994"/>
            <a:ext cx="483036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摄像头 / 传感器</a:t>
            </a:r>
            <a:endParaRPr lang="en-US" sz="460" dirty="0"/>
          </a:p>
        </p:txBody>
      </p:sp>
      <p:pic>
        <p:nvPicPr>
          <p:cNvPr id="13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698309" y="4262118"/>
            <a:ext cx="930291" cy="179588"/>
          </a:xfrm>
          <a:prstGeom prst="rect">
            <a:avLst/>
          </a:prstGeom>
        </p:spPr>
      </p:pic>
      <p:sp>
        <p:nvSpPr>
          <p:cNvPr id="138" name="Text 81"/>
          <p:cNvSpPr/>
          <p:nvPr/>
        </p:nvSpPr>
        <p:spPr>
          <a:xfrm>
            <a:off x="2887052" y="4315994"/>
            <a:ext cx="552808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控制器 / 工业设备</a:t>
            </a:r>
            <a:endParaRPr lang="en-US" sz="460" dirty="0"/>
          </a:p>
        </p:txBody>
      </p:sp>
      <p:pic>
        <p:nvPicPr>
          <p:cNvPr id="139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673326" y="4262118"/>
            <a:ext cx="930291" cy="179588"/>
          </a:xfrm>
          <a:prstGeom prst="rect">
            <a:avLst/>
          </a:prstGeom>
        </p:spPr>
      </p:pic>
      <p:sp>
        <p:nvSpPr>
          <p:cNvPr id="140" name="Text 82"/>
          <p:cNvSpPr/>
          <p:nvPr/>
        </p:nvSpPr>
        <p:spPr>
          <a:xfrm>
            <a:off x="3918420" y="4315994"/>
            <a:ext cx="440099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移动设备 / PC</a:t>
            </a:r>
            <a:endParaRPr lang="en-US" sz="460" dirty="0"/>
          </a:p>
        </p:txBody>
      </p:sp>
      <p:pic>
        <p:nvPicPr>
          <p:cNvPr id="141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648342" y="4262118"/>
            <a:ext cx="930291" cy="179588"/>
          </a:xfrm>
          <a:prstGeom prst="rect">
            <a:avLst/>
          </a:prstGeom>
        </p:spPr>
      </p:pic>
      <p:sp>
        <p:nvSpPr>
          <p:cNvPr id="142" name="Text 83"/>
          <p:cNvSpPr/>
          <p:nvPr/>
        </p:nvSpPr>
        <p:spPr>
          <a:xfrm>
            <a:off x="4837085" y="4315994"/>
            <a:ext cx="552808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服务器 / 边缘节点</a:t>
            </a:r>
            <a:endParaRPr lang="en-US" sz="460" dirty="0"/>
          </a:p>
        </p:txBody>
      </p:sp>
      <p:pic>
        <p:nvPicPr>
          <p:cNvPr id="143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623359" y="4262118"/>
            <a:ext cx="930291" cy="179588"/>
          </a:xfrm>
          <a:prstGeom prst="rect">
            <a:avLst/>
          </a:prstGeom>
        </p:spPr>
      </p:pic>
      <p:sp>
        <p:nvSpPr>
          <p:cNvPr id="144" name="Text 84"/>
          <p:cNvSpPr/>
          <p:nvPr/>
        </p:nvSpPr>
        <p:spPr>
          <a:xfrm>
            <a:off x="5898703" y="4315994"/>
            <a:ext cx="377134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算力中心</a:t>
            </a:r>
            <a:endParaRPr lang="en-US" sz="460" dirty="0"/>
          </a:p>
        </p:txBody>
      </p:sp>
      <p:pic>
        <p:nvPicPr>
          <p:cNvPr id="145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598376" y="4262118"/>
            <a:ext cx="983962" cy="179588"/>
          </a:xfrm>
          <a:prstGeom prst="rect">
            <a:avLst/>
          </a:prstGeom>
        </p:spPr>
      </p:pic>
      <p:sp>
        <p:nvSpPr>
          <p:cNvPr id="146" name="Text 85"/>
          <p:cNvSpPr/>
          <p:nvPr/>
        </p:nvSpPr>
        <p:spPr>
          <a:xfrm>
            <a:off x="6822681" y="4315994"/>
            <a:ext cx="549538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各类智能终端</a:t>
            </a:r>
            <a:endParaRPr lang="en-US" sz="460" dirty="0"/>
          </a:p>
        </p:txBody>
      </p:sp>
      <p:sp>
        <p:nvSpPr>
          <p:cNvPr id="147" name="Shape 86"/>
          <p:cNvSpPr/>
          <p:nvPr/>
        </p:nvSpPr>
        <p:spPr>
          <a:xfrm>
            <a:off x="7856208" y="2690727"/>
            <a:ext cx="525294" cy="134691"/>
          </a:xfrm>
          <a:prstGeom prst="roundRect">
            <a:avLst>
              <a:gd name="adj" fmla="val 26667"/>
            </a:avLst>
          </a:prstGeom>
          <a:solidFill>
            <a:srgbClr val="FFFFFF">
              <a:alpha val="0"/>
            </a:srgbClr>
          </a:solidFill>
          <a:ln w="4490">
            <a:solidFill>
              <a:srgbClr val="ACA1A1"/>
            </a:solidFill>
            <a:prstDash val="solid"/>
          </a:ln>
        </p:spPr>
      </p:sp>
      <p:sp>
        <p:nvSpPr>
          <p:cNvPr id="148" name="Shape 87"/>
          <p:cNvSpPr/>
          <p:nvPr/>
        </p:nvSpPr>
        <p:spPr>
          <a:xfrm>
            <a:off x="7856208" y="2906232"/>
            <a:ext cx="525294" cy="134691"/>
          </a:xfrm>
          <a:prstGeom prst="roundRect">
            <a:avLst>
              <a:gd name="adj" fmla="val 26667"/>
            </a:avLst>
          </a:prstGeom>
          <a:solidFill>
            <a:srgbClr val="FFFFFF">
              <a:alpha val="0"/>
            </a:srgbClr>
          </a:solidFill>
          <a:ln w="4490">
            <a:solidFill>
              <a:srgbClr val="ACA1A1"/>
            </a:solidFill>
            <a:prstDash val="solid"/>
          </a:ln>
        </p:spPr>
      </p:sp>
      <p:sp>
        <p:nvSpPr>
          <p:cNvPr id="149" name="Shape 88"/>
          <p:cNvSpPr/>
          <p:nvPr/>
        </p:nvSpPr>
        <p:spPr>
          <a:xfrm>
            <a:off x="7856208" y="3121737"/>
            <a:ext cx="525294" cy="134691"/>
          </a:xfrm>
          <a:prstGeom prst="roundRect">
            <a:avLst>
              <a:gd name="adj" fmla="val 26667"/>
            </a:avLst>
          </a:prstGeom>
          <a:solidFill>
            <a:srgbClr val="FFFFFF">
              <a:alpha val="0"/>
            </a:srgbClr>
          </a:solidFill>
          <a:ln w="4490">
            <a:solidFill>
              <a:srgbClr val="ACA1A1"/>
            </a:solidFill>
            <a:prstDash val="solid"/>
          </a:ln>
        </p:spPr>
      </p:sp>
      <p:sp>
        <p:nvSpPr>
          <p:cNvPr id="150" name="Text 89"/>
          <p:cNvSpPr/>
          <p:nvPr/>
        </p:nvSpPr>
        <p:spPr>
          <a:xfrm>
            <a:off x="7985960" y="2713175"/>
            <a:ext cx="274769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</a:t>
            </a:r>
            <a:endParaRPr lang="en-US" sz="495" dirty="0"/>
          </a:p>
        </p:txBody>
      </p:sp>
      <p:sp>
        <p:nvSpPr>
          <p:cNvPr id="151" name="Text 90"/>
          <p:cNvSpPr/>
          <p:nvPr/>
        </p:nvSpPr>
        <p:spPr>
          <a:xfrm>
            <a:off x="7985960" y="2928680"/>
            <a:ext cx="274769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监管</a:t>
            </a:r>
            <a:endParaRPr lang="en-US" sz="495" dirty="0"/>
          </a:p>
        </p:txBody>
      </p:sp>
      <p:sp>
        <p:nvSpPr>
          <p:cNvPr id="152" name="Text 91"/>
          <p:cNvSpPr/>
          <p:nvPr/>
        </p:nvSpPr>
        <p:spPr>
          <a:xfrm>
            <a:off x="7985960" y="3144185"/>
            <a:ext cx="274769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</a:t>
            </a:r>
            <a:endParaRPr lang="en-US" sz="495" dirty="0"/>
          </a:p>
        </p:txBody>
      </p:sp>
      <p:pic>
        <p:nvPicPr>
          <p:cNvPr id="15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26842" y="728733"/>
            <a:ext cx="314278" cy="103263"/>
          </a:xfrm>
          <a:prstGeom prst="rect">
            <a:avLst/>
          </a:prstGeom>
        </p:spPr>
      </p:pic>
      <p:pic>
        <p:nvPicPr>
          <p:cNvPr id="154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6271347" y="2026253"/>
            <a:ext cx="1257113" cy="224849"/>
          </a:xfrm>
          <a:prstGeom prst="rect">
            <a:avLst/>
          </a:prstGeom>
        </p:spPr>
      </p:pic>
      <p:sp>
        <p:nvSpPr>
          <p:cNvPr id="155" name="Text 92"/>
          <p:cNvSpPr/>
          <p:nvPr/>
        </p:nvSpPr>
        <p:spPr>
          <a:xfrm>
            <a:off x="6635910" y="2106559"/>
            <a:ext cx="527987" cy="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智能体数字身份</a:t>
            </a:r>
            <a:endParaRPr lang="en-US" sz="495" dirty="0"/>
          </a:p>
        </p:txBody>
      </p:sp>
      <p:pic>
        <p:nvPicPr>
          <p:cNvPr id="156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271347" y="2309467"/>
            <a:ext cx="1257113" cy="224849"/>
          </a:xfrm>
          <a:prstGeom prst="rect">
            <a:avLst/>
          </a:prstGeom>
        </p:spPr>
      </p:pic>
      <p:sp>
        <p:nvSpPr>
          <p:cNvPr id="157" name="Text 93"/>
          <p:cNvSpPr/>
          <p:nvPr/>
        </p:nvSpPr>
        <p:spPr>
          <a:xfrm>
            <a:off x="6635910" y="2389769"/>
            <a:ext cx="527987" cy="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智能体信用评级</a:t>
            </a:r>
            <a:endParaRPr lang="en-US" sz="495" dirty="0"/>
          </a:p>
        </p:txBody>
      </p:sp>
      <p:pic>
        <p:nvPicPr>
          <p:cNvPr id="158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271347" y="2592681"/>
            <a:ext cx="1257113" cy="224849"/>
          </a:xfrm>
          <a:prstGeom prst="rect">
            <a:avLst/>
          </a:prstGeom>
        </p:spPr>
      </p:pic>
      <p:sp>
        <p:nvSpPr>
          <p:cNvPr id="159" name="Text 94"/>
          <p:cNvSpPr/>
          <p:nvPr/>
        </p:nvSpPr>
        <p:spPr>
          <a:xfrm>
            <a:off x="6635910" y="2672985"/>
            <a:ext cx="527987" cy="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分布式协同认证</a:t>
            </a:r>
            <a:endParaRPr lang="en-US" sz="495" dirty="0"/>
          </a:p>
        </p:txBody>
      </p:sp>
      <p:pic>
        <p:nvPicPr>
          <p:cNvPr id="160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271347" y="2875900"/>
            <a:ext cx="1257113" cy="240910"/>
          </a:xfrm>
          <a:prstGeom prst="rect">
            <a:avLst/>
          </a:prstGeom>
        </p:spPr>
      </p:pic>
      <p:sp>
        <p:nvSpPr>
          <p:cNvPr id="161" name="Text 95"/>
          <p:cNvSpPr/>
          <p:nvPr/>
        </p:nvSpPr>
        <p:spPr>
          <a:xfrm>
            <a:off x="6635910" y="2964234"/>
            <a:ext cx="527987" cy="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模块化生态治理</a:t>
            </a:r>
            <a:endParaRPr lang="en-US" sz="49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38" y="611169"/>
            <a:ext cx="6680499" cy="47441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38" y="611169"/>
            <a:ext cx="919779" cy="4744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6315" y="698306"/>
            <a:ext cx="243983" cy="8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运营商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823659" y="809647"/>
            <a:ext cx="569295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9" dirty="0">
                <a:solidFill>
                  <a:srgbClr val="FFF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合作伙伴 · 卡发行方</a:t>
            </a:r>
            <a:endParaRPr lang="en-US" sz="419" dirty="0"/>
          </a:p>
        </p:txBody>
      </p:sp>
      <p:sp>
        <p:nvSpPr>
          <p:cNvPr id="6" name="Text 2"/>
          <p:cNvSpPr/>
          <p:nvPr/>
        </p:nvSpPr>
        <p:spPr>
          <a:xfrm>
            <a:off x="887076" y="896784"/>
            <a:ext cx="447303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9" dirty="0">
                <a:solidFill>
                  <a:srgbClr val="FFF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卡真实性背书方</a:t>
            </a:r>
            <a:endParaRPr lang="en-US" sz="419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435" y="678942"/>
            <a:ext cx="1355464" cy="3485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86661" y="712829"/>
            <a:ext cx="517013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发行 AI-eSIM 卡</a:t>
            </a:r>
            <a:endParaRPr lang="en-US" sz="457" dirty="0"/>
          </a:p>
        </p:txBody>
      </p:sp>
      <p:sp>
        <p:nvSpPr>
          <p:cNvPr id="9" name="Text 4"/>
          <p:cNvSpPr/>
          <p:nvPr/>
        </p:nvSpPr>
        <p:spPr>
          <a:xfrm>
            <a:off x="1730368" y="819329"/>
            <a:ext cx="720332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卡内含 SM2 国密密钥对</a:t>
            </a:r>
            <a:endParaRPr lang="en-US" sz="419" dirty="0"/>
          </a:p>
        </p:txBody>
      </p:sp>
      <p:sp>
        <p:nvSpPr>
          <p:cNvPr id="10" name="Text 5"/>
          <p:cNvSpPr/>
          <p:nvPr/>
        </p:nvSpPr>
        <p:spPr>
          <a:xfrm>
            <a:off x="1730368" y="906466"/>
            <a:ext cx="923652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焊接到客户终端 · 一卡一 ICCID</a:t>
            </a:r>
            <a:endParaRPr lang="en-US" sz="419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513" y="678942"/>
            <a:ext cx="1355464" cy="3485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564116" y="712829"/>
            <a:ext cx="418257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维护卡白名单</a:t>
            </a:r>
            <a:endParaRPr lang="en-US" sz="457" dirty="0"/>
          </a:p>
        </p:txBody>
      </p:sp>
      <p:sp>
        <p:nvSpPr>
          <p:cNvPr id="13" name="Text 7"/>
          <p:cNvSpPr/>
          <p:nvPr/>
        </p:nvSpPr>
        <p:spPr>
          <a:xfrm>
            <a:off x="3158445" y="819329"/>
            <a:ext cx="691286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(ICCID, 卡公钥) 对照表</a:t>
            </a:r>
            <a:endParaRPr lang="en-US" sz="419" dirty="0"/>
          </a:p>
        </p:txBody>
      </p:sp>
      <p:sp>
        <p:nvSpPr>
          <p:cNvPr id="14" name="Text 8"/>
          <p:cNvSpPr/>
          <p:nvPr/>
        </p:nvSpPr>
        <p:spPr>
          <a:xfrm>
            <a:off x="3158445" y="906466"/>
            <a:ext cx="975934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每日推送 · 运营商签名 · 实时变更</a:t>
            </a:r>
            <a:endParaRPr lang="en-US" sz="419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3591" y="678942"/>
            <a:ext cx="1355464" cy="3485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59483" y="712829"/>
            <a:ext cx="278838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背书责任</a:t>
            </a:r>
            <a:endParaRPr lang="en-US" sz="457" dirty="0"/>
          </a:p>
        </p:txBody>
      </p:sp>
      <p:sp>
        <p:nvSpPr>
          <p:cNvPr id="17" name="Text 10"/>
          <p:cNvSpPr/>
          <p:nvPr/>
        </p:nvSpPr>
        <p:spPr>
          <a:xfrm>
            <a:off x="4586523" y="819329"/>
            <a:ext cx="615768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担保白名单数据真实</a:t>
            </a:r>
            <a:endParaRPr lang="en-US" sz="419" dirty="0"/>
          </a:p>
        </p:txBody>
      </p:sp>
      <p:sp>
        <p:nvSpPr>
          <p:cNvPr id="18" name="Text 11"/>
          <p:cNvSpPr/>
          <p:nvPr/>
        </p:nvSpPr>
        <p:spPr>
          <a:xfrm>
            <a:off x="4586523" y="906466"/>
            <a:ext cx="807469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卡作废即时同步 · SLA 协议</a:t>
            </a:r>
            <a:endParaRPr lang="en-US" sz="419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1668" y="678942"/>
            <a:ext cx="1307054" cy="3485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63356" y="712829"/>
            <a:ext cx="278838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合作收益</a:t>
            </a:r>
            <a:endParaRPr lang="en-US" sz="457" dirty="0"/>
          </a:p>
        </p:txBody>
      </p:sp>
      <p:sp>
        <p:nvSpPr>
          <p:cNvPr id="21" name="Text 13"/>
          <p:cNvSpPr/>
          <p:nvPr/>
        </p:nvSpPr>
        <p:spPr>
          <a:xfrm>
            <a:off x="6014600" y="819329"/>
            <a:ext cx="714523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AI-eSIM 是 AI 身份载体</a:t>
            </a:r>
            <a:endParaRPr lang="en-US" sz="419" dirty="0"/>
          </a:p>
        </p:txBody>
      </p:sp>
      <p:sp>
        <p:nvSpPr>
          <p:cNvPr id="22" name="Text 14"/>
          <p:cNvSpPr/>
          <p:nvPr/>
        </p:nvSpPr>
        <p:spPr>
          <a:xfrm>
            <a:off x="6014600" y="906466"/>
            <a:ext cx="743569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卡价值放大 · AI 生态上游</a:t>
            </a:r>
            <a:endParaRPr lang="en-US" sz="419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838" y="1211446"/>
            <a:ext cx="6680499" cy="2696404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656" y="1284060"/>
            <a:ext cx="6486861" cy="484094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656" y="1284060"/>
            <a:ext cx="871369" cy="48409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65499" y="1405083"/>
            <a:ext cx="435685" cy="87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注册方接入</a:t>
            </a:r>
            <a:endParaRPr lang="en-US" sz="572" dirty="0"/>
          </a:p>
        </p:txBody>
      </p:sp>
      <p:sp>
        <p:nvSpPr>
          <p:cNvPr id="27" name="Text 16"/>
          <p:cNvSpPr/>
          <p:nvPr/>
        </p:nvSpPr>
        <p:spPr>
          <a:xfrm>
            <a:off x="950976" y="1530948"/>
            <a:ext cx="464730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1" dirty="0">
                <a:solidFill>
                  <a:srgbClr val="E5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基于运营商白名单</a:t>
            </a:r>
            <a:endParaRPr lang="en-US" sz="381" dirty="0"/>
          </a:p>
        </p:txBody>
      </p:sp>
      <p:sp>
        <p:nvSpPr>
          <p:cNvPr id="28" name="Text 17"/>
          <p:cNvSpPr/>
          <p:nvPr/>
        </p:nvSpPr>
        <p:spPr>
          <a:xfrm>
            <a:off x="980022" y="1603562"/>
            <a:ext cx="406639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1" dirty="0">
                <a:solidFill>
                  <a:srgbClr val="E5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的双方协同验证</a:t>
            </a:r>
            <a:endParaRPr lang="en-US" sz="381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5845" y="1351833"/>
            <a:ext cx="1670125" cy="34854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2313701" y="1385719"/>
            <a:ext cx="464730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白名单同步</a:t>
            </a:r>
            <a:endParaRPr lang="en-US" sz="457" dirty="0"/>
          </a:p>
        </p:txBody>
      </p:sp>
      <p:sp>
        <p:nvSpPr>
          <p:cNvPr id="31" name="Text 19"/>
          <p:cNvSpPr/>
          <p:nvPr/>
        </p:nvSpPr>
        <p:spPr>
          <a:xfrm>
            <a:off x="1788459" y="1492220"/>
            <a:ext cx="1115353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接收运营商每日推送 · 验证运营商签名</a:t>
            </a:r>
            <a:endParaRPr lang="en-US" sz="419" dirty="0"/>
          </a:p>
        </p:txBody>
      </p:sp>
      <p:sp>
        <p:nvSpPr>
          <p:cNvPr id="32" name="Text 20"/>
          <p:cNvSpPr/>
          <p:nvPr/>
        </p:nvSpPr>
        <p:spPr>
          <a:xfrm>
            <a:off x="1788459" y="1589039"/>
            <a:ext cx="726141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维护 ICCID → 公钥 索引</a:t>
            </a:r>
            <a:endParaRPr lang="en-US" sz="419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2788" y="1351833"/>
            <a:ext cx="1670125" cy="34854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4048210" y="1385719"/>
            <a:ext cx="534440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三步验证握手</a:t>
            </a:r>
            <a:endParaRPr lang="en-US" sz="457" dirty="0"/>
          </a:p>
        </p:txBody>
      </p:sp>
      <p:sp>
        <p:nvSpPr>
          <p:cNvPr id="35" name="Text 22"/>
          <p:cNvSpPr/>
          <p:nvPr/>
        </p:nvSpPr>
        <p:spPr>
          <a:xfrm>
            <a:off x="3555402" y="1492220"/>
            <a:ext cx="970125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ICCID 在白名单中？· 公钥匹配？</a:t>
            </a:r>
            <a:endParaRPr lang="en-US" sz="419" dirty="0"/>
          </a:p>
        </p:txBody>
      </p:sp>
      <p:sp>
        <p:nvSpPr>
          <p:cNvPr id="36" name="Text 23"/>
          <p:cNvSpPr/>
          <p:nvPr/>
        </p:nvSpPr>
        <p:spPr>
          <a:xfrm>
            <a:off x="3555402" y="1589039"/>
            <a:ext cx="952697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卡签名验证通过？ 任一不过即拒</a:t>
            </a:r>
            <a:endParaRPr lang="en-US" sz="419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49732" y="1351833"/>
            <a:ext cx="1912172" cy="34854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5829192" y="1385719"/>
            <a:ext cx="743569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颁发注册方接入凭证</a:t>
            </a:r>
            <a:endParaRPr lang="en-US" sz="457" dirty="0"/>
          </a:p>
        </p:txBody>
      </p:sp>
      <p:sp>
        <p:nvSpPr>
          <p:cNvPr id="39" name="Text 25"/>
          <p:cNvSpPr/>
          <p:nvPr/>
        </p:nvSpPr>
        <p:spPr>
          <a:xfrm>
            <a:off x="5322346" y="1492220"/>
            <a:ext cx="1156017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通过 → 颁发接入凭证 · 可申请多 Agent</a:t>
            </a:r>
            <a:endParaRPr lang="en-US" sz="419" dirty="0"/>
          </a:p>
        </p:txBody>
      </p:sp>
      <p:sp>
        <p:nvSpPr>
          <p:cNvPr id="40" name="Text 26"/>
          <p:cNvSpPr/>
          <p:nvPr/>
        </p:nvSpPr>
        <p:spPr>
          <a:xfrm>
            <a:off x="5322346" y="1589039"/>
            <a:ext cx="679668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卡注销时凭证连带失效</a:t>
            </a:r>
            <a:endParaRPr lang="en-US" sz="419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656" y="1816563"/>
            <a:ext cx="6486861" cy="435685"/>
          </a:xfrm>
          <a:prstGeom prst="rect">
            <a:avLst/>
          </a:prstGeom>
        </p:spPr>
      </p:pic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7656" y="1816563"/>
            <a:ext cx="871369" cy="435685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956785" y="1918223"/>
            <a:ext cx="453112" cy="87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身份</a:t>
            </a:r>
            <a:endParaRPr lang="en-US" sz="572" dirty="0"/>
          </a:p>
        </p:txBody>
      </p:sp>
      <p:sp>
        <p:nvSpPr>
          <p:cNvPr id="44" name="Text 28"/>
          <p:cNvSpPr/>
          <p:nvPr/>
        </p:nvSpPr>
        <p:spPr>
          <a:xfrm>
            <a:off x="1046827" y="2048928"/>
            <a:ext cx="273029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1" dirty="0">
                <a:solidFill>
                  <a:srgbClr val="DCE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核心 ★</a:t>
            </a:r>
            <a:endParaRPr lang="en-US" sz="381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5845" y="1884336"/>
            <a:ext cx="1670125" cy="300138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2266744" y="1918223"/>
            <a:ext cx="563486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novo_id 唯一标识</a:t>
            </a:r>
            <a:endParaRPr lang="en-US" sz="457" dirty="0"/>
          </a:p>
        </p:txBody>
      </p:sp>
      <p:sp>
        <p:nvSpPr>
          <p:cNvPr id="47" name="Text 30"/>
          <p:cNvSpPr/>
          <p:nvPr/>
        </p:nvSpPr>
        <p:spPr>
          <a:xfrm>
            <a:off x="1788459" y="2024724"/>
            <a:ext cx="859751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系统内唯一 · 一次颁发不可改</a:t>
            </a:r>
            <a:endParaRPr lang="en-US" sz="419" dirty="0"/>
          </a:p>
        </p:txBody>
      </p:sp>
      <p:sp>
        <p:nvSpPr>
          <p:cNvPr id="48" name="Text 31"/>
          <p:cNvSpPr/>
          <p:nvPr/>
        </p:nvSpPr>
        <p:spPr>
          <a:xfrm>
            <a:off x="1788459" y="2102179"/>
            <a:ext cx="819087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永不复用 · 跨设备/跨云通用</a:t>
            </a:r>
            <a:endParaRPr lang="en-US" sz="419" dirty="0"/>
          </a:p>
        </p:txBody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82788" y="1884336"/>
            <a:ext cx="1670125" cy="300138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3929607" y="1918223"/>
            <a:ext cx="766805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创世声明（数字身份证）</a:t>
            </a:r>
            <a:endParaRPr lang="en-US" sz="457" dirty="0"/>
          </a:p>
        </p:txBody>
      </p:sp>
      <p:sp>
        <p:nvSpPr>
          <p:cNvPr id="51" name="Text 33"/>
          <p:cNvSpPr/>
          <p:nvPr/>
        </p:nvSpPr>
        <p:spPr>
          <a:xfrm>
            <a:off x="3555402" y="2024724"/>
            <a:ext cx="842324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Novo 根密钥签发 · 公开可验</a:t>
            </a:r>
            <a:endParaRPr lang="en-US" sz="419" dirty="0"/>
          </a:p>
        </p:txBody>
      </p:sp>
      <p:sp>
        <p:nvSpPr>
          <p:cNvPr id="52" name="Text 34"/>
          <p:cNvSpPr/>
          <p:nvPr/>
        </p:nvSpPr>
        <p:spPr>
          <a:xfrm>
            <a:off x="3555402" y="2102179"/>
            <a:ext cx="871369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不含模型/Prompt 等本体信息</a:t>
            </a:r>
            <a:endParaRPr lang="en-US" sz="419" dirty="0"/>
          </a:p>
        </p:txBody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49732" y="1884336"/>
            <a:ext cx="1912172" cy="300138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5785140" y="1918223"/>
            <a:ext cx="836515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生命周期定义（数据模型）</a:t>
            </a:r>
            <a:endParaRPr lang="en-US" sz="457" dirty="0"/>
          </a:p>
        </p:txBody>
      </p:sp>
      <p:sp>
        <p:nvSpPr>
          <p:cNvPr id="55" name="Text 36"/>
          <p:cNvSpPr/>
          <p:nvPr/>
        </p:nvSpPr>
        <p:spPr>
          <a:xfrm>
            <a:off x="5322346" y="2024724"/>
            <a:ext cx="1295436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五种状态：活跃 / 暂停 / 撤销 / 归档 / 未注册</a:t>
            </a:r>
            <a:endParaRPr lang="en-US" sz="419" dirty="0"/>
          </a:p>
        </p:txBody>
      </p:sp>
      <p:sp>
        <p:nvSpPr>
          <p:cNvPr id="56" name="Text 37"/>
          <p:cNvSpPr/>
          <p:nvPr/>
        </p:nvSpPr>
        <p:spPr>
          <a:xfrm>
            <a:off x="5322346" y="2102179"/>
            <a:ext cx="987552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状态转换不可逆 · 撤销后永不复用</a:t>
            </a:r>
            <a:endParaRPr lang="en-US" sz="419" dirty="0"/>
          </a:p>
        </p:txBody>
      </p:sp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7656" y="2300657"/>
            <a:ext cx="6486861" cy="484094"/>
          </a:xfrm>
          <a:prstGeom prst="rect">
            <a:avLst/>
          </a:prstGeom>
        </p:spPr>
      </p:pic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656" y="2300657"/>
            <a:ext cx="871369" cy="484094"/>
          </a:xfrm>
          <a:prstGeom prst="rect">
            <a:avLst/>
          </a:prstGeom>
        </p:spPr>
      </p:pic>
      <p:sp>
        <p:nvSpPr>
          <p:cNvPr id="59" name="Text 38"/>
          <p:cNvSpPr/>
          <p:nvPr/>
        </p:nvSpPr>
        <p:spPr>
          <a:xfrm>
            <a:off x="1006647" y="2426522"/>
            <a:ext cx="348548" cy="87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签发服务</a:t>
            </a:r>
            <a:endParaRPr lang="en-US" sz="572" dirty="0"/>
          </a:p>
        </p:txBody>
      </p:sp>
      <p:sp>
        <p:nvSpPr>
          <p:cNvPr id="60" name="Text 39"/>
          <p:cNvSpPr/>
          <p:nvPr/>
        </p:nvSpPr>
        <p:spPr>
          <a:xfrm>
            <a:off x="1003258" y="2557227"/>
            <a:ext cx="360166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1" dirty="0">
                <a:solidFill>
                  <a:srgbClr val="F1E2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对外 API 服务</a:t>
            </a:r>
            <a:endParaRPr lang="en-US" sz="381" dirty="0"/>
          </a:p>
        </p:txBody>
      </p:sp>
      <p:pic>
        <p:nvPicPr>
          <p:cNvPr id="6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15845" y="2368430"/>
            <a:ext cx="1258645" cy="348548"/>
          </a:xfrm>
          <a:prstGeom prst="rect">
            <a:avLst/>
          </a:prstGeom>
        </p:spPr>
      </p:pic>
      <p:sp>
        <p:nvSpPr>
          <p:cNvPr id="62" name="Text 40"/>
          <p:cNvSpPr/>
          <p:nvPr/>
        </p:nvSpPr>
        <p:spPr>
          <a:xfrm>
            <a:off x="2203327" y="2402317"/>
            <a:ext cx="278838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注册受理</a:t>
            </a:r>
            <a:endParaRPr lang="en-US" sz="457" dirty="0"/>
          </a:p>
        </p:txBody>
      </p:sp>
      <p:sp>
        <p:nvSpPr>
          <p:cNvPr id="63" name="Text 41"/>
          <p:cNvSpPr/>
          <p:nvPr/>
        </p:nvSpPr>
        <p:spPr>
          <a:xfrm>
            <a:off x="1788459" y="2508818"/>
            <a:ext cx="755187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接收申请 · 资质/签名校验</a:t>
            </a:r>
            <a:endParaRPr lang="en-US" sz="419" dirty="0"/>
          </a:p>
        </p:txBody>
      </p:sp>
      <p:sp>
        <p:nvSpPr>
          <p:cNvPr id="64" name="Text 42"/>
          <p:cNvSpPr/>
          <p:nvPr/>
        </p:nvSpPr>
        <p:spPr>
          <a:xfrm>
            <a:off x="1788459" y="2605637"/>
            <a:ext cx="540249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幂等去重 · 防滥用</a:t>
            </a:r>
            <a:endParaRPr lang="en-US" sz="419" dirty="0"/>
          </a:p>
        </p:txBody>
      </p:sp>
      <p:pic>
        <p:nvPicPr>
          <p:cNvPr id="6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71308" y="2368430"/>
            <a:ext cx="1258645" cy="348548"/>
          </a:xfrm>
          <a:prstGeom prst="rect">
            <a:avLst/>
          </a:prstGeom>
        </p:spPr>
      </p:pic>
      <p:sp>
        <p:nvSpPr>
          <p:cNvPr id="66" name="Text 43"/>
          <p:cNvSpPr/>
          <p:nvPr/>
        </p:nvSpPr>
        <p:spPr>
          <a:xfrm>
            <a:off x="3558791" y="2402317"/>
            <a:ext cx="278838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身份颁发</a:t>
            </a:r>
            <a:endParaRPr lang="en-US" sz="457" dirty="0"/>
          </a:p>
        </p:txBody>
      </p:sp>
      <p:sp>
        <p:nvSpPr>
          <p:cNvPr id="67" name="Text 44"/>
          <p:cNvSpPr/>
          <p:nvPr/>
        </p:nvSpPr>
        <p:spPr>
          <a:xfrm>
            <a:off x="3143922" y="2508818"/>
            <a:ext cx="853942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分配 novo_id · 签发创世声明</a:t>
            </a:r>
            <a:endParaRPr lang="en-US" sz="419" dirty="0"/>
          </a:p>
        </p:txBody>
      </p:sp>
      <p:sp>
        <p:nvSpPr>
          <p:cNvPr id="68" name="Text 45"/>
          <p:cNvSpPr/>
          <p:nvPr/>
        </p:nvSpPr>
        <p:spPr>
          <a:xfrm>
            <a:off x="3143922" y="2605637"/>
            <a:ext cx="424066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写入演化日志</a:t>
            </a:r>
            <a:endParaRPr lang="en-US" sz="419" dirty="0"/>
          </a:p>
        </p:txBody>
      </p:sp>
      <p:pic>
        <p:nvPicPr>
          <p:cNvPr id="6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26772" y="2368430"/>
            <a:ext cx="1258645" cy="348548"/>
          </a:xfrm>
          <a:prstGeom prst="rect">
            <a:avLst/>
          </a:prstGeom>
        </p:spPr>
      </p:pic>
      <p:sp>
        <p:nvSpPr>
          <p:cNvPr id="70" name="Text 46"/>
          <p:cNvSpPr/>
          <p:nvPr/>
        </p:nvSpPr>
        <p:spPr>
          <a:xfrm>
            <a:off x="4914255" y="2402317"/>
            <a:ext cx="278838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状态管理</a:t>
            </a:r>
            <a:endParaRPr lang="en-US" sz="457" dirty="0"/>
          </a:p>
        </p:txBody>
      </p:sp>
      <p:sp>
        <p:nvSpPr>
          <p:cNvPr id="71" name="Text 47"/>
          <p:cNvSpPr/>
          <p:nvPr/>
        </p:nvSpPr>
        <p:spPr>
          <a:xfrm>
            <a:off x="4499386" y="2508818"/>
            <a:ext cx="650622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暂停/恢复 · 撤销/归档</a:t>
            </a:r>
            <a:endParaRPr lang="en-US" sz="419" dirty="0"/>
          </a:p>
        </p:txBody>
      </p:sp>
      <p:sp>
        <p:nvSpPr>
          <p:cNvPr id="72" name="Text 48"/>
          <p:cNvSpPr/>
          <p:nvPr/>
        </p:nvSpPr>
        <p:spPr>
          <a:xfrm>
            <a:off x="4499386" y="2605637"/>
            <a:ext cx="731950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凭证续期 · 撤销名单分发</a:t>
            </a:r>
            <a:endParaRPr lang="en-US" sz="419" dirty="0"/>
          </a:p>
        </p:txBody>
      </p:sp>
      <p:pic>
        <p:nvPicPr>
          <p:cNvPr id="7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82235" y="2368430"/>
            <a:ext cx="1379668" cy="348548"/>
          </a:xfrm>
          <a:prstGeom prst="rect">
            <a:avLst/>
          </a:prstGeom>
        </p:spPr>
      </p:pic>
      <p:sp>
        <p:nvSpPr>
          <p:cNvPr id="74" name="Text 49"/>
          <p:cNvSpPr/>
          <p:nvPr/>
        </p:nvSpPr>
        <p:spPr>
          <a:xfrm>
            <a:off x="6161765" y="2402317"/>
            <a:ext cx="615768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对外查询 · 互证支持</a:t>
            </a:r>
            <a:endParaRPr lang="en-US" sz="457" dirty="0"/>
          </a:p>
        </p:txBody>
      </p:sp>
      <p:sp>
        <p:nvSpPr>
          <p:cNvPr id="75" name="Text 50"/>
          <p:cNvSpPr/>
          <p:nvPr/>
        </p:nvSpPr>
        <p:spPr>
          <a:xfrm>
            <a:off x="5854849" y="2508818"/>
            <a:ext cx="912033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状态查询 · 凭证下载 · 历史档案</a:t>
            </a:r>
            <a:endParaRPr lang="en-US" sz="419" dirty="0"/>
          </a:p>
        </p:txBody>
      </p:sp>
      <p:sp>
        <p:nvSpPr>
          <p:cNvPr id="76" name="Text 51"/>
          <p:cNvSpPr/>
          <p:nvPr/>
        </p:nvSpPr>
        <p:spPr>
          <a:xfrm>
            <a:off x="5854849" y="2605637"/>
            <a:ext cx="668050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撤销名单 · 互证根公钥</a:t>
            </a:r>
            <a:endParaRPr lang="en-US" sz="419" dirty="0"/>
          </a:p>
        </p:txBody>
      </p:sp>
      <p:pic>
        <p:nvPicPr>
          <p:cNvPr id="7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7656" y="2833161"/>
            <a:ext cx="6486861" cy="484094"/>
          </a:xfrm>
          <a:prstGeom prst="rect">
            <a:avLst/>
          </a:prstGeom>
        </p:spPr>
      </p:pic>
      <p:pic>
        <p:nvPicPr>
          <p:cNvPr id="7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7656" y="2833161"/>
            <a:ext cx="871369" cy="484094"/>
          </a:xfrm>
          <a:prstGeom prst="rect">
            <a:avLst/>
          </a:prstGeom>
        </p:spPr>
      </p:pic>
      <p:sp>
        <p:nvSpPr>
          <p:cNvPr id="79" name="Text 52"/>
          <p:cNvSpPr/>
          <p:nvPr/>
        </p:nvSpPr>
        <p:spPr>
          <a:xfrm>
            <a:off x="1029883" y="2944502"/>
            <a:ext cx="302075" cy="77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事件汇入</a:t>
            </a:r>
            <a:endParaRPr lang="en-US" sz="496" dirty="0"/>
          </a:p>
        </p:txBody>
      </p:sp>
      <p:sp>
        <p:nvSpPr>
          <p:cNvPr id="80" name="Text 53"/>
          <p:cNvSpPr/>
          <p:nvPr/>
        </p:nvSpPr>
        <p:spPr>
          <a:xfrm>
            <a:off x="994544" y="3031639"/>
            <a:ext cx="377593" cy="77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与信用产出</a:t>
            </a:r>
            <a:endParaRPr lang="en-US" sz="496" dirty="0"/>
          </a:p>
        </p:txBody>
      </p:sp>
      <p:sp>
        <p:nvSpPr>
          <p:cNvPr id="81" name="Text 54"/>
          <p:cNvSpPr/>
          <p:nvPr/>
        </p:nvSpPr>
        <p:spPr>
          <a:xfrm>
            <a:off x="872553" y="3152663"/>
            <a:ext cx="621577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1" dirty="0">
                <a:solidFill>
                  <a:srgbClr val="EAE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 协同 · 信用算法</a:t>
            </a:r>
            <a:endParaRPr lang="en-US" sz="381" dirty="0"/>
          </a:p>
        </p:txBody>
      </p:sp>
      <p:pic>
        <p:nvPicPr>
          <p:cNvPr id="8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15845" y="2900934"/>
            <a:ext cx="2493085" cy="348548"/>
          </a:xfrm>
          <a:prstGeom prst="rect">
            <a:avLst/>
          </a:prstGeom>
        </p:spPr>
      </p:pic>
      <p:sp>
        <p:nvSpPr>
          <p:cNvPr id="83" name="Text 55"/>
          <p:cNvSpPr/>
          <p:nvPr/>
        </p:nvSpPr>
        <p:spPr>
          <a:xfrm>
            <a:off x="2376633" y="2934821"/>
            <a:ext cx="1161826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事件源 · Novo 自记录 + 兄弟中心写入</a:t>
            </a:r>
            <a:endParaRPr lang="en-US" sz="457" dirty="0"/>
          </a:p>
        </p:txBody>
      </p:sp>
      <p:sp>
        <p:nvSpPr>
          <p:cNvPr id="84" name="Text 56"/>
          <p:cNvSpPr/>
          <p:nvPr/>
        </p:nvSpPr>
        <p:spPr>
          <a:xfrm>
            <a:off x="1788459" y="3036480"/>
            <a:ext cx="586722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病毒中心 → 异常告警</a:t>
            </a:r>
            <a:endParaRPr lang="en-US" sz="381" dirty="0"/>
          </a:p>
        </p:txBody>
      </p:sp>
      <p:sp>
        <p:nvSpPr>
          <p:cNvPr id="85" name="Text 57"/>
          <p:cNvSpPr/>
          <p:nvPr/>
        </p:nvSpPr>
        <p:spPr>
          <a:xfrm>
            <a:off x="2635624" y="3036480"/>
            <a:ext cx="586722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疫苗中心 → 补丁修复</a:t>
            </a:r>
            <a:endParaRPr lang="en-US" sz="381" dirty="0"/>
          </a:p>
        </p:txBody>
      </p:sp>
      <p:sp>
        <p:nvSpPr>
          <p:cNvPr id="86" name="Text 58"/>
          <p:cNvSpPr/>
          <p:nvPr/>
        </p:nvSpPr>
        <p:spPr>
          <a:xfrm>
            <a:off x="3458584" y="3036480"/>
            <a:ext cx="586722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体检中心 → 健康评估</a:t>
            </a:r>
            <a:endParaRPr lang="en-US" sz="381" dirty="0"/>
          </a:p>
        </p:txBody>
      </p:sp>
      <p:sp>
        <p:nvSpPr>
          <p:cNvPr id="87" name="Text 59"/>
          <p:cNvSpPr/>
          <p:nvPr/>
        </p:nvSpPr>
        <p:spPr>
          <a:xfrm>
            <a:off x="1788459" y="3123617"/>
            <a:ext cx="900415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Novo 自记录 → STATUS_QUERY</a:t>
            </a:r>
            <a:endParaRPr lang="en-US" sz="381" dirty="0"/>
          </a:p>
        </p:txBody>
      </p:sp>
      <p:sp>
        <p:nvSpPr>
          <p:cNvPr id="88" name="Text 60"/>
          <p:cNvSpPr/>
          <p:nvPr/>
        </p:nvSpPr>
        <p:spPr>
          <a:xfrm>
            <a:off x="2829261" y="3123617"/>
            <a:ext cx="836515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i="1" dirty="0">
                <a:solidFill>
                  <a:srgbClr val="6A4E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不依赖回写 · 仅记录可验证事实</a:t>
            </a:r>
            <a:endParaRPr lang="en-US" sz="381" dirty="0"/>
          </a:p>
        </p:txBody>
      </p:sp>
      <p:pic>
        <p:nvPicPr>
          <p:cNvPr id="8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81544" y="2900934"/>
            <a:ext cx="2880360" cy="348548"/>
          </a:xfrm>
          <a:prstGeom prst="rect">
            <a:avLst/>
          </a:prstGeom>
        </p:spPr>
      </p:pic>
      <p:sp>
        <p:nvSpPr>
          <p:cNvPr id="90" name="Text 61"/>
          <p:cNvSpPr/>
          <p:nvPr/>
        </p:nvSpPr>
        <p:spPr>
          <a:xfrm>
            <a:off x="5225043" y="2934821"/>
            <a:ext cx="993361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信用算法 · 读取事件 → 产出画像</a:t>
            </a:r>
            <a:endParaRPr lang="en-US" sz="457" dirty="0"/>
          </a:p>
        </p:txBody>
      </p:sp>
      <p:sp>
        <p:nvSpPr>
          <p:cNvPr id="91" name="Text 62"/>
          <p:cNvSpPr/>
          <p:nvPr/>
        </p:nvSpPr>
        <p:spPr>
          <a:xfrm>
            <a:off x="4354158" y="3036480"/>
            <a:ext cx="406639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单 Agent 评分</a:t>
            </a:r>
            <a:endParaRPr lang="en-US" sz="381" dirty="0"/>
          </a:p>
        </p:txBody>
      </p:sp>
      <p:sp>
        <p:nvSpPr>
          <p:cNvPr id="92" name="Text 63"/>
          <p:cNvSpPr/>
          <p:nvPr/>
        </p:nvSpPr>
        <p:spPr>
          <a:xfrm>
            <a:off x="5031889" y="3036480"/>
            <a:ext cx="383403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群体信用传播</a:t>
            </a:r>
            <a:endParaRPr lang="en-US" sz="381" dirty="0"/>
          </a:p>
        </p:txBody>
      </p:sp>
      <p:sp>
        <p:nvSpPr>
          <p:cNvPr id="93" name="Text 64"/>
          <p:cNvSpPr/>
          <p:nvPr/>
        </p:nvSpPr>
        <p:spPr>
          <a:xfrm>
            <a:off x="5782235" y="3036480"/>
            <a:ext cx="267220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时间衰减</a:t>
            </a:r>
            <a:endParaRPr lang="en-US" sz="381" dirty="0"/>
          </a:p>
        </p:txBody>
      </p:sp>
      <p:sp>
        <p:nvSpPr>
          <p:cNvPr id="94" name="Text 65"/>
          <p:cNvSpPr/>
          <p:nvPr/>
        </p:nvSpPr>
        <p:spPr>
          <a:xfrm>
            <a:off x="6411558" y="3036480"/>
            <a:ext cx="267220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风险预警</a:t>
            </a:r>
            <a:endParaRPr lang="en-US" sz="381" dirty="0"/>
          </a:p>
        </p:txBody>
      </p:sp>
      <p:sp>
        <p:nvSpPr>
          <p:cNvPr id="95" name="Text 66"/>
          <p:cNvSpPr/>
          <p:nvPr/>
        </p:nvSpPr>
        <p:spPr>
          <a:xfrm>
            <a:off x="4354158" y="3123617"/>
            <a:ext cx="894606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实时信用画像门户 · 决策反馈接口</a:t>
            </a:r>
            <a:endParaRPr lang="en-US" sz="381" dirty="0"/>
          </a:p>
        </p:txBody>
      </p:sp>
      <p:sp>
        <p:nvSpPr>
          <p:cNvPr id="96" name="Text 67"/>
          <p:cNvSpPr/>
          <p:nvPr/>
        </p:nvSpPr>
        <p:spPr>
          <a:xfrm>
            <a:off x="5782235" y="3123617"/>
            <a:ext cx="546058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i="1" dirty="0">
                <a:solidFill>
                  <a:srgbClr val="6A4E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反馈上游 · 治理闭环</a:t>
            </a:r>
            <a:endParaRPr lang="en-US" sz="381" dirty="0"/>
          </a:p>
        </p:txBody>
      </p:sp>
      <p:pic>
        <p:nvPicPr>
          <p:cNvPr id="97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7656" y="3365664"/>
            <a:ext cx="3195021" cy="484094"/>
          </a:xfrm>
          <a:prstGeom prst="rect">
            <a:avLst/>
          </a:prstGeom>
        </p:spPr>
      </p:pic>
      <p:pic>
        <p:nvPicPr>
          <p:cNvPr id="9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7656" y="3365664"/>
            <a:ext cx="871369" cy="484094"/>
          </a:xfrm>
          <a:prstGeom prst="rect">
            <a:avLst/>
          </a:prstGeom>
        </p:spPr>
      </p:pic>
      <p:sp>
        <p:nvSpPr>
          <p:cNvPr id="99" name="Text 68"/>
          <p:cNvSpPr/>
          <p:nvPr/>
        </p:nvSpPr>
        <p:spPr>
          <a:xfrm>
            <a:off x="1058929" y="3481847"/>
            <a:ext cx="243983" cy="8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信任根</a:t>
            </a:r>
            <a:endParaRPr lang="en-US" sz="534" dirty="0"/>
          </a:p>
        </p:txBody>
      </p:sp>
      <p:sp>
        <p:nvSpPr>
          <p:cNvPr id="100" name="Text 69"/>
          <p:cNvSpPr/>
          <p:nvPr/>
        </p:nvSpPr>
        <p:spPr>
          <a:xfrm>
            <a:off x="1009067" y="3598030"/>
            <a:ext cx="348548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1" dirty="0">
                <a:solidFill>
                  <a:srgbClr val="BFCA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硬件加密保护</a:t>
            </a:r>
            <a:endParaRPr lang="en-US" sz="381" dirty="0"/>
          </a:p>
        </p:txBody>
      </p:sp>
      <p:pic>
        <p:nvPicPr>
          <p:cNvPr id="10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15845" y="3433438"/>
            <a:ext cx="1040802" cy="348548"/>
          </a:xfrm>
          <a:prstGeom prst="rect">
            <a:avLst/>
          </a:prstGeom>
        </p:spPr>
      </p:pic>
      <p:sp>
        <p:nvSpPr>
          <p:cNvPr id="102" name="Text 70"/>
          <p:cNvSpPr/>
          <p:nvPr/>
        </p:nvSpPr>
        <p:spPr>
          <a:xfrm>
            <a:off x="2033410" y="3467324"/>
            <a:ext cx="400830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 根密钥</a:t>
            </a:r>
            <a:endParaRPr lang="en-US" sz="457" dirty="0"/>
          </a:p>
        </p:txBody>
      </p:sp>
      <p:sp>
        <p:nvSpPr>
          <p:cNvPr id="103" name="Text 71"/>
          <p:cNvSpPr/>
          <p:nvPr/>
        </p:nvSpPr>
        <p:spPr>
          <a:xfrm>
            <a:off x="1764254" y="3573825"/>
            <a:ext cx="819087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国密 SM2 + HSM 硬件保护</a:t>
            </a:r>
            <a:endParaRPr lang="en-US" sz="419" dirty="0"/>
          </a:p>
        </p:txBody>
      </p:sp>
      <p:sp>
        <p:nvSpPr>
          <p:cNvPr id="104" name="Text 72"/>
          <p:cNvSpPr/>
          <p:nvPr/>
        </p:nvSpPr>
        <p:spPr>
          <a:xfrm>
            <a:off x="1764254" y="3670644"/>
            <a:ext cx="795851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多人多因子授权 · 密钥轮换</a:t>
            </a:r>
            <a:endParaRPr lang="en-US" sz="419" dirty="0"/>
          </a:p>
        </p:txBody>
      </p:sp>
      <p:pic>
        <p:nvPicPr>
          <p:cNvPr id="10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829261" y="3433438"/>
            <a:ext cx="1040802" cy="348548"/>
          </a:xfrm>
          <a:prstGeom prst="rect">
            <a:avLst/>
          </a:prstGeom>
        </p:spPr>
      </p:pic>
      <p:sp>
        <p:nvSpPr>
          <p:cNvPr id="106" name="Text 73"/>
          <p:cNvSpPr/>
          <p:nvPr/>
        </p:nvSpPr>
        <p:spPr>
          <a:xfrm>
            <a:off x="3170548" y="3467324"/>
            <a:ext cx="348548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运营商公钥</a:t>
            </a:r>
            <a:endParaRPr lang="en-US" sz="457" dirty="0"/>
          </a:p>
        </p:txBody>
      </p:sp>
      <p:sp>
        <p:nvSpPr>
          <p:cNvPr id="107" name="Text 74"/>
          <p:cNvSpPr/>
          <p:nvPr/>
        </p:nvSpPr>
        <p:spPr>
          <a:xfrm>
            <a:off x="2877671" y="3573825"/>
            <a:ext cx="795851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用于白名单验签 · 双边公示</a:t>
            </a:r>
            <a:endParaRPr lang="en-US" sz="419" dirty="0"/>
          </a:p>
        </p:txBody>
      </p:sp>
      <p:sp>
        <p:nvSpPr>
          <p:cNvPr id="108" name="Text 75"/>
          <p:cNvSpPr/>
          <p:nvPr/>
        </p:nvSpPr>
        <p:spPr>
          <a:xfrm>
            <a:off x="2877671" y="3670644"/>
            <a:ext cx="900415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简化 PKI · 支持轮换 · 灾备双活</a:t>
            </a:r>
            <a:endParaRPr lang="en-US" sz="419" dirty="0"/>
          </a:p>
        </p:txBody>
      </p:sp>
      <p:pic>
        <p:nvPicPr>
          <p:cNvPr id="109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39496" y="3365664"/>
            <a:ext cx="3195021" cy="484094"/>
          </a:xfrm>
          <a:prstGeom prst="rect">
            <a:avLst/>
          </a:prstGeom>
        </p:spPr>
      </p:pic>
      <p:pic>
        <p:nvPicPr>
          <p:cNvPr id="110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039496" y="3365664"/>
            <a:ext cx="871369" cy="484094"/>
          </a:xfrm>
          <a:prstGeom prst="rect">
            <a:avLst/>
          </a:prstGeom>
        </p:spPr>
      </p:pic>
      <p:sp>
        <p:nvSpPr>
          <p:cNvPr id="111" name="Text 76"/>
          <p:cNvSpPr/>
          <p:nvPr/>
        </p:nvSpPr>
        <p:spPr>
          <a:xfrm>
            <a:off x="4310105" y="3481847"/>
            <a:ext cx="325311" cy="8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演化日志</a:t>
            </a:r>
            <a:endParaRPr lang="en-US" sz="534" dirty="0"/>
          </a:p>
        </p:txBody>
      </p:sp>
      <p:sp>
        <p:nvSpPr>
          <p:cNvPr id="112" name="Text 77"/>
          <p:cNvSpPr/>
          <p:nvPr/>
        </p:nvSpPr>
        <p:spPr>
          <a:xfrm>
            <a:off x="4300907" y="3598030"/>
            <a:ext cx="348548" cy="5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1" dirty="0">
                <a:solidFill>
                  <a:srgbClr val="DCE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不可篡改档案</a:t>
            </a:r>
            <a:endParaRPr lang="en-US" sz="381" dirty="0"/>
          </a:p>
        </p:txBody>
      </p:sp>
      <p:pic>
        <p:nvPicPr>
          <p:cNvPr id="113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007685" y="3433438"/>
            <a:ext cx="1040802" cy="348548"/>
          </a:xfrm>
          <a:prstGeom prst="rect">
            <a:avLst/>
          </a:prstGeom>
        </p:spPr>
      </p:pic>
      <p:sp>
        <p:nvSpPr>
          <p:cNvPr id="114" name="Text 78"/>
          <p:cNvSpPr/>
          <p:nvPr/>
        </p:nvSpPr>
        <p:spPr>
          <a:xfrm>
            <a:off x="5348971" y="3467324"/>
            <a:ext cx="348548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追加式存证</a:t>
            </a:r>
            <a:endParaRPr lang="en-US" sz="457" dirty="0"/>
          </a:p>
        </p:txBody>
      </p:sp>
      <p:sp>
        <p:nvSpPr>
          <p:cNvPr id="115" name="Text 79"/>
          <p:cNvSpPr/>
          <p:nvPr/>
        </p:nvSpPr>
        <p:spPr>
          <a:xfrm>
            <a:off x="5056094" y="3573825"/>
            <a:ext cx="946888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每个 Agent 独立账本 · 顺序存证</a:t>
            </a:r>
            <a:endParaRPr lang="en-US" sz="419" dirty="0"/>
          </a:p>
        </p:txBody>
      </p:sp>
      <p:sp>
        <p:nvSpPr>
          <p:cNvPr id="116" name="Text 80"/>
          <p:cNvSpPr/>
          <p:nvPr/>
        </p:nvSpPr>
        <p:spPr>
          <a:xfrm>
            <a:off x="5056094" y="3670644"/>
            <a:ext cx="859751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哈希环环相扣 · 改动即被察觉</a:t>
            </a:r>
            <a:endParaRPr lang="en-US" sz="419" dirty="0"/>
          </a:p>
        </p:txBody>
      </p:sp>
      <p:pic>
        <p:nvPicPr>
          <p:cNvPr id="117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121101" y="3433438"/>
            <a:ext cx="1040802" cy="348548"/>
          </a:xfrm>
          <a:prstGeom prst="rect">
            <a:avLst/>
          </a:prstGeom>
        </p:spPr>
      </p:pic>
      <p:sp>
        <p:nvSpPr>
          <p:cNvPr id="118" name="Text 81"/>
          <p:cNvSpPr/>
          <p:nvPr/>
        </p:nvSpPr>
        <p:spPr>
          <a:xfrm>
            <a:off x="6497242" y="3467324"/>
            <a:ext cx="278838" cy="7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透明日志</a:t>
            </a:r>
            <a:endParaRPr lang="en-US" sz="457" dirty="0"/>
          </a:p>
        </p:txBody>
      </p:sp>
      <p:sp>
        <p:nvSpPr>
          <p:cNvPr id="119" name="Text 82"/>
          <p:cNvSpPr/>
          <p:nvPr/>
        </p:nvSpPr>
        <p:spPr>
          <a:xfrm>
            <a:off x="6169511" y="3573825"/>
            <a:ext cx="668050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分块归档 · 海量可扩展</a:t>
            </a:r>
            <a:endParaRPr lang="en-US" sz="419" dirty="0"/>
          </a:p>
        </p:txBody>
      </p:sp>
      <p:sp>
        <p:nvSpPr>
          <p:cNvPr id="120" name="Text 83"/>
          <p:cNvSpPr/>
          <p:nvPr/>
        </p:nvSpPr>
        <p:spPr>
          <a:xfrm>
            <a:off x="6169511" y="3670644"/>
            <a:ext cx="795851" cy="6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9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每日公示 · 外部时间戳锚定</a:t>
            </a:r>
            <a:endParaRPr lang="en-US" sz="419" dirty="0"/>
          </a:p>
        </p:txBody>
      </p:sp>
      <p:pic>
        <p:nvPicPr>
          <p:cNvPr id="12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428155" y="611169"/>
            <a:ext cx="1065007" cy="3296681"/>
          </a:xfrm>
          <a:prstGeom prst="rect">
            <a:avLst/>
          </a:prstGeom>
        </p:spPr>
      </p:pic>
      <p:pic>
        <p:nvPicPr>
          <p:cNvPr id="12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500769" y="691115"/>
            <a:ext cx="919779" cy="597259"/>
          </a:xfrm>
          <a:prstGeom prst="rect">
            <a:avLst/>
          </a:prstGeom>
        </p:spPr>
      </p:pic>
      <p:sp>
        <p:nvSpPr>
          <p:cNvPr id="123" name="Text 84"/>
          <p:cNvSpPr/>
          <p:nvPr/>
        </p:nvSpPr>
        <p:spPr>
          <a:xfrm>
            <a:off x="7798003" y="733440"/>
            <a:ext cx="325311" cy="70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国密栈</a:t>
            </a:r>
            <a:endParaRPr lang="en-US" sz="457" dirty="0"/>
          </a:p>
        </p:txBody>
      </p:sp>
      <p:sp>
        <p:nvSpPr>
          <p:cNvPr id="124" name="Text 85"/>
          <p:cNvSpPr/>
          <p:nvPr/>
        </p:nvSpPr>
        <p:spPr>
          <a:xfrm>
            <a:off x="7549179" y="846309"/>
            <a:ext cx="290456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算法套件：</a:t>
            </a:r>
            <a:endParaRPr lang="en-US" sz="381" dirty="0"/>
          </a:p>
        </p:txBody>
      </p:sp>
      <p:sp>
        <p:nvSpPr>
          <p:cNvPr id="125" name="Text 86"/>
          <p:cNvSpPr/>
          <p:nvPr/>
        </p:nvSpPr>
        <p:spPr>
          <a:xfrm>
            <a:off x="7597588" y="921556"/>
            <a:ext cx="406639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SM2 签名验签</a:t>
            </a:r>
            <a:endParaRPr lang="en-US" sz="381" dirty="0"/>
          </a:p>
        </p:txBody>
      </p:sp>
      <p:sp>
        <p:nvSpPr>
          <p:cNvPr id="126" name="Text 87"/>
          <p:cNvSpPr/>
          <p:nvPr/>
        </p:nvSpPr>
        <p:spPr>
          <a:xfrm>
            <a:off x="7597588" y="996799"/>
            <a:ext cx="296266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SM3 哈希</a:t>
            </a:r>
            <a:endParaRPr lang="en-US" sz="381" dirty="0"/>
          </a:p>
        </p:txBody>
      </p:sp>
      <p:sp>
        <p:nvSpPr>
          <p:cNvPr id="127" name="Text 88"/>
          <p:cNvSpPr/>
          <p:nvPr/>
        </p:nvSpPr>
        <p:spPr>
          <a:xfrm>
            <a:off x="7597588" y="1072046"/>
            <a:ext cx="575104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SM4-GCM 对称加密</a:t>
            </a:r>
            <a:endParaRPr lang="en-US" sz="381" dirty="0"/>
          </a:p>
        </p:txBody>
      </p:sp>
      <p:sp>
        <p:nvSpPr>
          <p:cNvPr id="128" name="Text 89"/>
          <p:cNvSpPr/>
          <p:nvPr/>
        </p:nvSpPr>
        <p:spPr>
          <a:xfrm>
            <a:off x="7549179" y="1166104"/>
            <a:ext cx="522822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合规：国密二级以上</a:t>
            </a:r>
            <a:endParaRPr lang="en-US" sz="381" dirty="0"/>
          </a:p>
        </p:txBody>
      </p:sp>
      <p:pic>
        <p:nvPicPr>
          <p:cNvPr id="12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00769" y="1335405"/>
            <a:ext cx="919779" cy="597259"/>
          </a:xfrm>
          <a:prstGeom prst="rect">
            <a:avLst/>
          </a:prstGeom>
        </p:spPr>
      </p:pic>
      <p:sp>
        <p:nvSpPr>
          <p:cNvPr id="130" name="Text 90"/>
          <p:cNvSpPr/>
          <p:nvPr/>
        </p:nvSpPr>
        <p:spPr>
          <a:xfrm>
            <a:off x="7760244" y="1377730"/>
            <a:ext cx="400830" cy="70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国密 TLS</a:t>
            </a:r>
            <a:endParaRPr lang="en-US" sz="457" dirty="0"/>
          </a:p>
        </p:txBody>
      </p:sp>
      <p:sp>
        <p:nvSpPr>
          <p:cNvPr id="131" name="Text 91"/>
          <p:cNvSpPr/>
          <p:nvPr/>
        </p:nvSpPr>
        <p:spPr>
          <a:xfrm>
            <a:off x="7549179" y="1490599"/>
            <a:ext cx="174274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标准：</a:t>
            </a:r>
            <a:endParaRPr lang="en-US" sz="381" dirty="0"/>
          </a:p>
        </p:txBody>
      </p:sp>
      <p:sp>
        <p:nvSpPr>
          <p:cNvPr id="132" name="Text 92"/>
          <p:cNvSpPr/>
          <p:nvPr/>
        </p:nvSpPr>
        <p:spPr>
          <a:xfrm>
            <a:off x="7597588" y="1565841"/>
            <a:ext cx="511203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GM/T 0024-2014</a:t>
            </a:r>
            <a:endParaRPr lang="en-US" sz="381" dirty="0"/>
          </a:p>
        </p:txBody>
      </p:sp>
      <p:sp>
        <p:nvSpPr>
          <p:cNvPr id="133" name="Text 93"/>
          <p:cNvSpPr/>
          <p:nvPr/>
        </p:nvSpPr>
        <p:spPr>
          <a:xfrm>
            <a:off x="7597588" y="1641089"/>
            <a:ext cx="325311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国密双证书</a:t>
            </a:r>
            <a:endParaRPr lang="en-US" sz="381" dirty="0"/>
          </a:p>
        </p:txBody>
      </p:sp>
      <p:sp>
        <p:nvSpPr>
          <p:cNvPr id="134" name="Text 94"/>
          <p:cNvSpPr/>
          <p:nvPr/>
        </p:nvSpPr>
        <p:spPr>
          <a:xfrm>
            <a:off x="7549179" y="1735146"/>
            <a:ext cx="290456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覆盖范围：</a:t>
            </a:r>
            <a:endParaRPr lang="en-US" sz="381" dirty="0"/>
          </a:p>
        </p:txBody>
      </p:sp>
      <p:sp>
        <p:nvSpPr>
          <p:cNvPr id="135" name="Text 95"/>
          <p:cNvSpPr/>
          <p:nvPr/>
        </p:nvSpPr>
        <p:spPr>
          <a:xfrm>
            <a:off x="7597588" y="1810389"/>
            <a:ext cx="679668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所有对外 API + 推送通道</a:t>
            </a:r>
            <a:endParaRPr lang="en-US" sz="381" dirty="0"/>
          </a:p>
        </p:txBody>
      </p:sp>
      <p:pic>
        <p:nvPicPr>
          <p:cNvPr id="136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500769" y="1979690"/>
            <a:ext cx="919779" cy="597259"/>
          </a:xfrm>
          <a:prstGeom prst="rect">
            <a:avLst/>
          </a:prstGeom>
        </p:spPr>
      </p:pic>
      <p:sp>
        <p:nvSpPr>
          <p:cNvPr id="137" name="Text 96"/>
          <p:cNvSpPr/>
          <p:nvPr/>
        </p:nvSpPr>
        <p:spPr>
          <a:xfrm>
            <a:off x="7725873" y="2022015"/>
            <a:ext cx="464730" cy="70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审计与合规</a:t>
            </a:r>
            <a:endParaRPr lang="en-US" sz="457" dirty="0"/>
          </a:p>
        </p:txBody>
      </p:sp>
      <p:sp>
        <p:nvSpPr>
          <p:cNvPr id="138" name="Text 97"/>
          <p:cNvSpPr/>
          <p:nvPr/>
        </p:nvSpPr>
        <p:spPr>
          <a:xfrm>
            <a:off x="7549179" y="2134883"/>
            <a:ext cx="348548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全链路审计：</a:t>
            </a:r>
            <a:endParaRPr lang="en-US" sz="381" dirty="0"/>
          </a:p>
        </p:txBody>
      </p:sp>
      <p:sp>
        <p:nvSpPr>
          <p:cNvPr id="139" name="Text 98"/>
          <p:cNvSpPr/>
          <p:nvPr/>
        </p:nvSpPr>
        <p:spPr>
          <a:xfrm>
            <a:off x="7597588" y="2210131"/>
            <a:ext cx="499585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关键操作签名归档</a:t>
            </a:r>
            <a:endParaRPr lang="en-US" sz="381" dirty="0"/>
          </a:p>
        </p:txBody>
      </p:sp>
      <p:sp>
        <p:nvSpPr>
          <p:cNvPr id="140" name="Text 99"/>
          <p:cNvSpPr/>
          <p:nvPr/>
        </p:nvSpPr>
        <p:spPr>
          <a:xfrm>
            <a:off x="7597588" y="2285373"/>
            <a:ext cx="383403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不可篡改日志</a:t>
            </a:r>
            <a:endParaRPr lang="en-US" sz="381" dirty="0"/>
          </a:p>
        </p:txBody>
      </p:sp>
      <p:sp>
        <p:nvSpPr>
          <p:cNvPr id="141" name="Text 100"/>
          <p:cNvSpPr/>
          <p:nvPr/>
        </p:nvSpPr>
        <p:spPr>
          <a:xfrm>
            <a:off x="7549179" y="2379431"/>
            <a:ext cx="290456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监管对接：</a:t>
            </a:r>
            <a:endParaRPr lang="en-US" sz="381" dirty="0"/>
          </a:p>
        </p:txBody>
      </p:sp>
      <p:sp>
        <p:nvSpPr>
          <p:cNvPr id="142" name="Text 101"/>
          <p:cNvSpPr/>
          <p:nvPr/>
        </p:nvSpPr>
        <p:spPr>
          <a:xfrm>
            <a:off x="7597588" y="2454679"/>
            <a:ext cx="604149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取证接口 · 等保 / 关基</a:t>
            </a:r>
            <a:endParaRPr lang="en-US" sz="381" dirty="0"/>
          </a:p>
        </p:txBody>
      </p:sp>
      <p:pic>
        <p:nvPicPr>
          <p:cNvPr id="143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500769" y="2623979"/>
            <a:ext cx="919779" cy="597259"/>
          </a:xfrm>
          <a:prstGeom prst="rect">
            <a:avLst/>
          </a:prstGeom>
        </p:spPr>
      </p:pic>
      <p:sp>
        <p:nvSpPr>
          <p:cNvPr id="144" name="Text 102"/>
          <p:cNvSpPr/>
          <p:nvPr/>
        </p:nvSpPr>
        <p:spPr>
          <a:xfrm>
            <a:off x="7658584" y="2666304"/>
            <a:ext cx="604149" cy="70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与运营商对接面</a:t>
            </a:r>
            <a:endParaRPr lang="en-US" sz="457" dirty="0"/>
          </a:p>
        </p:txBody>
      </p:sp>
      <p:sp>
        <p:nvSpPr>
          <p:cNvPr id="145" name="Text 103"/>
          <p:cNvSpPr/>
          <p:nvPr/>
        </p:nvSpPr>
        <p:spPr>
          <a:xfrm>
            <a:off x="7549179" y="2779171"/>
            <a:ext cx="290456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协议规范：</a:t>
            </a:r>
            <a:endParaRPr lang="en-US" sz="381" dirty="0"/>
          </a:p>
        </p:txBody>
      </p:sp>
      <p:sp>
        <p:nvSpPr>
          <p:cNvPr id="146" name="Text 104"/>
          <p:cNvSpPr/>
          <p:nvPr/>
        </p:nvSpPr>
        <p:spPr>
          <a:xfrm>
            <a:off x="7597588" y="2854416"/>
            <a:ext cx="685477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白名单 JSON · 增量/全量</a:t>
            </a:r>
            <a:endParaRPr lang="en-US" sz="381" dirty="0"/>
          </a:p>
        </p:txBody>
      </p:sp>
      <p:sp>
        <p:nvSpPr>
          <p:cNvPr id="147" name="Text 105"/>
          <p:cNvSpPr/>
          <p:nvPr/>
        </p:nvSpPr>
        <p:spPr>
          <a:xfrm>
            <a:off x="7549179" y="2948474"/>
            <a:ext cx="290456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推送通道：</a:t>
            </a:r>
            <a:endParaRPr lang="en-US" sz="381" dirty="0"/>
          </a:p>
        </p:txBody>
      </p:sp>
      <p:sp>
        <p:nvSpPr>
          <p:cNvPr id="148" name="Text 106"/>
          <p:cNvSpPr/>
          <p:nvPr/>
        </p:nvSpPr>
        <p:spPr>
          <a:xfrm>
            <a:off x="7597588" y="3023719"/>
            <a:ext cx="894606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HTTPS POST · 运营商 SM2 签名</a:t>
            </a:r>
            <a:endParaRPr lang="en-US" sz="381" dirty="0"/>
          </a:p>
        </p:txBody>
      </p:sp>
      <p:sp>
        <p:nvSpPr>
          <p:cNvPr id="149" name="Text 107"/>
          <p:cNvSpPr/>
          <p:nvPr/>
        </p:nvSpPr>
        <p:spPr>
          <a:xfrm>
            <a:off x="7549179" y="3117774"/>
            <a:ext cx="540249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服务等级：双边 SLA</a:t>
            </a:r>
            <a:endParaRPr lang="en-US" sz="381" dirty="0"/>
          </a:p>
        </p:txBody>
      </p:sp>
      <p:pic>
        <p:nvPicPr>
          <p:cNvPr id="150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00769" y="3268266"/>
            <a:ext cx="919779" cy="597259"/>
          </a:xfrm>
          <a:prstGeom prst="rect">
            <a:avLst/>
          </a:prstGeom>
        </p:spPr>
      </p:pic>
      <p:sp>
        <p:nvSpPr>
          <p:cNvPr id="151" name="Text 108"/>
          <p:cNvSpPr/>
          <p:nvPr/>
        </p:nvSpPr>
        <p:spPr>
          <a:xfrm>
            <a:off x="7632443" y="3310592"/>
            <a:ext cx="656432" cy="70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7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 密码敏捷 · 抗量子</a:t>
            </a:r>
            <a:endParaRPr lang="en-US" sz="457" dirty="0"/>
          </a:p>
        </p:txBody>
      </p:sp>
      <p:sp>
        <p:nvSpPr>
          <p:cNvPr id="152" name="Text 109"/>
          <p:cNvSpPr/>
          <p:nvPr/>
        </p:nvSpPr>
        <p:spPr>
          <a:xfrm>
            <a:off x="7549179" y="3423458"/>
            <a:ext cx="290456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设计预留：</a:t>
            </a:r>
            <a:endParaRPr lang="en-US" sz="381" dirty="0"/>
          </a:p>
        </p:txBody>
      </p:sp>
      <p:sp>
        <p:nvSpPr>
          <p:cNvPr id="153" name="Text 110"/>
          <p:cNvSpPr/>
          <p:nvPr/>
        </p:nvSpPr>
        <p:spPr>
          <a:xfrm>
            <a:off x="7597588" y="3498705"/>
            <a:ext cx="557676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签名结构带算法字段</a:t>
            </a:r>
            <a:endParaRPr lang="en-US" sz="381" dirty="0"/>
          </a:p>
        </p:txBody>
      </p:sp>
      <p:sp>
        <p:nvSpPr>
          <p:cNvPr id="154" name="Text 111"/>
          <p:cNvSpPr/>
          <p:nvPr/>
        </p:nvSpPr>
        <p:spPr>
          <a:xfrm>
            <a:off x="7597588" y="3573950"/>
            <a:ext cx="499585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签名服务算法无关</a:t>
            </a:r>
            <a:endParaRPr lang="en-US" sz="381" dirty="0"/>
          </a:p>
        </p:txBody>
      </p:sp>
      <p:sp>
        <p:nvSpPr>
          <p:cNvPr id="155" name="Text 112"/>
          <p:cNvSpPr/>
          <p:nvPr/>
        </p:nvSpPr>
        <p:spPr>
          <a:xfrm>
            <a:off x="7549179" y="3668006"/>
            <a:ext cx="290456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长期保护：</a:t>
            </a:r>
            <a:endParaRPr lang="en-US" sz="381" dirty="0"/>
          </a:p>
        </p:txBody>
      </p:sp>
      <p:sp>
        <p:nvSpPr>
          <p:cNvPr id="156" name="Text 113"/>
          <p:cNvSpPr/>
          <p:nvPr/>
        </p:nvSpPr>
        <p:spPr>
          <a:xfrm>
            <a:off x="7597588" y="3743251"/>
            <a:ext cx="499585" cy="56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档案根时间戳锚定</a:t>
            </a:r>
            <a:endParaRPr lang="en-US" sz="38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45" y="934743"/>
            <a:ext cx="7130339" cy="45158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39" y="934743"/>
            <a:ext cx="1010131" cy="4515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50974" y="1059524"/>
            <a:ext cx="246888" cy="202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运营商</a:t>
            </a:r>
            <a:endParaRPr lang="en-US" sz="655" dirty="0"/>
          </a:p>
        </p:txBody>
      </p:sp>
      <p:sp>
        <p:nvSpPr>
          <p:cNvPr id="5" name="Text 1"/>
          <p:cNvSpPr/>
          <p:nvPr/>
        </p:nvSpPr>
        <p:spPr>
          <a:xfrm>
            <a:off x="731718" y="1196189"/>
            <a:ext cx="698773" cy="77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15" dirty="0">
                <a:solidFill>
                  <a:srgbClr val="FFF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合作伙伴 · 卡发行方</a:t>
            </a:r>
            <a:endParaRPr lang="en-US" sz="515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009" y="1017930"/>
            <a:ext cx="1901424" cy="28521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338421" y="1059524"/>
            <a:ext cx="634600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发行 AI-eSIM 卡</a:t>
            </a:r>
            <a:endParaRPr lang="en-US" sz="561" dirty="0"/>
          </a:p>
        </p:txBody>
      </p:sp>
      <p:sp>
        <p:nvSpPr>
          <p:cNvPr id="8" name="Text 3"/>
          <p:cNvSpPr/>
          <p:nvPr/>
        </p:nvSpPr>
        <p:spPr>
          <a:xfrm>
            <a:off x="1867819" y="1172421"/>
            <a:ext cx="1575805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卡内 SM2 密钥 · 焊接终端 · 一卡一 ICCID</a:t>
            </a:r>
            <a:endParaRPr lang="en-US" sz="561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272" y="1017930"/>
            <a:ext cx="1901424" cy="28521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419292" y="1059524"/>
            <a:ext cx="513384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维护卡白名单</a:t>
            </a:r>
            <a:endParaRPr lang="en-US" sz="561" dirty="0"/>
          </a:p>
        </p:txBody>
      </p:sp>
      <p:sp>
        <p:nvSpPr>
          <p:cNvPr id="11" name="Text 5"/>
          <p:cNvSpPr/>
          <p:nvPr/>
        </p:nvSpPr>
        <p:spPr>
          <a:xfrm>
            <a:off x="3945124" y="1172421"/>
            <a:ext cx="1461720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每日推送 (ICCID, 卡公钥) · 运营商签名</a:t>
            </a:r>
            <a:endParaRPr lang="en-US" sz="561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535" y="1017930"/>
            <a:ext cx="1842004" cy="28521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95409" y="1059524"/>
            <a:ext cx="342256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背书责任</a:t>
            </a:r>
            <a:endParaRPr lang="en-US" sz="561" dirty="0"/>
          </a:p>
        </p:txBody>
      </p:sp>
      <p:sp>
        <p:nvSpPr>
          <p:cNvPr id="14" name="Text 7"/>
          <p:cNvSpPr/>
          <p:nvPr/>
        </p:nvSpPr>
        <p:spPr>
          <a:xfrm>
            <a:off x="6028372" y="1172421"/>
            <a:ext cx="1276331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担保白名单真实 · 卡作废即时同步</a:t>
            </a:r>
            <a:endParaRPr lang="en-US" sz="561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39" y="1469518"/>
            <a:ext cx="7130339" cy="2792716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884" y="1552706"/>
            <a:ext cx="6892661" cy="451588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878" y="1552706"/>
            <a:ext cx="1010131" cy="45158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50382" y="1683429"/>
            <a:ext cx="499124" cy="101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注册方接入</a:t>
            </a:r>
            <a:endParaRPr lang="en-US" sz="655" dirty="0"/>
          </a:p>
        </p:txBody>
      </p:sp>
      <p:sp>
        <p:nvSpPr>
          <p:cNvPr id="19" name="Text 9"/>
          <p:cNvSpPr/>
          <p:nvPr/>
        </p:nvSpPr>
        <p:spPr>
          <a:xfrm>
            <a:off x="843427" y="1820093"/>
            <a:ext cx="713034" cy="7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E5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基于白名单的协同验证</a:t>
            </a:r>
            <a:endParaRPr lang="en-US" sz="468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3848" y="1635893"/>
            <a:ext cx="1812295" cy="285214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2441811" y="1677487"/>
            <a:ext cx="570427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白名单同步</a:t>
            </a:r>
            <a:endParaRPr lang="en-US" sz="561" dirty="0"/>
          </a:p>
        </p:txBody>
      </p:sp>
      <p:sp>
        <p:nvSpPr>
          <p:cNvPr id="22" name="Text 11"/>
          <p:cNvSpPr/>
          <p:nvPr/>
        </p:nvSpPr>
        <p:spPr>
          <a:xfrm>
            <a:off x="2224336" y="1790384"/>
            <a:ext cx="1005378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接收推送 · 验签 · 维护索引</a:t>
            </a:r>
            <a:endParaRPr lang="en-US" sz="561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4982" y="1635893"/>
            <a:ext cx="1812295" cy="285214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4330163" y="1677487"/>
            <a:ext cx="655991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三步验证握手</a:t>
            </a:r>
            <a:endParaRPr lang="en-US" sz="561" dirty="0"/>
          </a:p>
        </p:txBody>
      </p:sp>
      <p:sp>
        <p:nvSpPr>
          <p:cNvPr id="25" name="Text 13"/>
          <p:cNvSpPr/>
          <p:nvPr/>
        </p:nvSpPr>
        <p:spPr>
          <a:xfrm>
            <a:off x="3923733" y="1790384"/>
            <a:ext cx="1468850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ICCID + 公钥 + 卡签名，任一不过即拒</a:t>
            </a:r>
            <a:endParaRPr lang="en-US" sz="561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6116" y="1635893"/>
            <a:ext cx="1812295" cy="285214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6261296" y="1677487"/>
            <a:ext cx="655991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颁发接入凭证</a:t>
            </a:r>
            <a:endParaRPr lang="en-US" sz="561" dirty="0"/>
          </a:p>
        </p:txBody>
      </p:sp>
      <p:sp>
        <p:nvSpPr>
          <p:cNvPr id="28" name="Text 15"/>
          <p:cNvSpPr/>
          <p:nvPr/>
        </p:nvSpPr>
        <p:spPr>
          <a:xfrm>
            <a:off x="5972517" y="1790384"/>
            <a:ext cx="1233549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 → 接入凭证 · 卡注销即失效</a:t>
            </a:r>
            <a:endParaRPr lang="en-US" sz="561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884" y="2051829"/>
            <a:ext cx="6892661" cy="451588"/>
          </a:xfrm>
          <a:prstGeom prst="rect">
            <a:avLst/>
          </a:prstGeom>
        </p:spPr>
      </p:pic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878" y="2051829"/>
            <a:ext cx="1010131" cy="451588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939686" y="2182552"/>
            <a:ext cx="520515" cy="101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身份</a:t>
            </a:r>
            <a:endParaRPr lang="en-US" sz="655" dirty="0"/>
          </a:p>
        </p:txBody>
      </p:sp>
      <p:sp>
        <p:nvSpPr>
          <p:cNvPr id="32" name="Text 17"/>
          <p:cNvSpPr/>
          <p:nvPr/>
        </p:nvSpPr>
        <p:spPr>
          <a:xfrm>
            <a:off x="1032381" y="2319217"/>
            <a:ext cx="335126" cy="7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DCE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核心 ★</a:t>
            </a:r>
            <a:endParaRPr lang="en-US" sz="468" dirty="0"/>
          </a:p>
        </p:txBody>
      </p:sp>
      <p:pic>
        <p:nvPicPr>
          <p:cNvPr id="3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23848" y="2135017"/>
            <a:ext cx="1812295" cy="285214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2381203" y="2176610"/>
            <a:ext cx="691643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novo_id 唯一标识</a:t>
            </a:r>
            <a:endParaRPr lang="en-US" sz="561" dirty="0"/>
          </a:p>
        </p:txBody>
      </p:sp>
      <p:sp>
        <p:nvSpPr>
          <p:cNvPr id="35" name="Text 19"/>
          <p:cNvSpPr/>
          <p:nvPr/>
        </p:nvSpPr>
        <p:spPr>
          <a:xfrm>
            <a:off x="2095990" y="2289507"/>
            <a:ext cx="1262070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系统内唯一 · 一次颁发 · 永不复用</a:t>
            </a:r>
            <a:endParaRPr lang="en-US" sz="561" dirty="0"/>
          </a:p>
        </p:txBody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54982" y="2135017"/>
            <a:ext cx="1812295" cy="285214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4187556" y="2176610"/>
            <a:ext cx="941205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创世声明（数字身份证）</a:t>
            </a:r>
            <a:endParaRPr lang="en-US" sz="561" dirty="0"/>
          </a:p>
        </p:txBody>
      </p:sp>
      <p:sp>
        <p:nvSpPr>
          <p:cNvPr id="38" name="Text 21"/>
          <p:cNvSpPr/>
          <p:nvPr/>
        </p:nvSpPr>
        <p:spPr>
          <a:xfrm>
            <a:off x="4119818" y="2289507"/>
            <a:ext cx="1076681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 根密钥签发 · 公开可验</a:t>
            </a:r>
            <a:endParaRPr lang="en-US" sz="561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86116" y="2135017"/>
            <a:ext cx="1812295" cy="285214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6332600" y="2176610"/>
            <a:ext cx="513384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生命周期定义</a:t>
            </a:r>
            <a:endParaRPr lang="en-US" sz="561" dirty="0"/>
          </a:p>
        </p:txBody>
      </p:sp>
      <p:sp>
        <p:nvSpPr>
          <p:cNvPr id="41" name="Text 23"/>
          <p:cNvSpPr/>
          <p:nvPr/>
        </p:nvSpPr>
        <p:spPr>
          <a:xfrm>
            <a:off x="5958257" y="2289507"/>
            <a:ext cx="1262070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活跃 / 暂停 / 撤销 / 归档 / 未注册</a:t>
            </a:r>
            <a:endParaRPr lang="en-US" sz="561" dirty="0"/>
          </a:p>
        </p:txBody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884" y="2550953"/>
            <a:ext cx="6892661" cy="451588"/>
          </a:xfrm>
          <a:prstGeom prst="rect">
            <a:avLst/>
          </a:prstGeom>
        </p:spPr>
      </p:pic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4878" y="2550953"/>
            <a:ext cx="1010131" cy="451588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1000294" y="2681676"/>
            <a:ext cx="399299" cy="101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签发服务</a:t>
            </a:r>
            <a:endParaRPr lang="en-US" sz="655" dirty="0"/>
          </a:p>
        </p:txBody>
      </p:sp>
      <p:sp>
        <p:nvSpPr>
          <p:cNvPr id="45" name="Text 25"/>
          <p:cNvSpPr/>
          <p:nvPr/>
        </p:nvSpPr>
        <p:spPr>
          <a:xfrm>
            <a:off x="1060902" y="2818341"/>
            <a:ext cx="278083" cy="7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F1E2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对外 API</a:t>
            </a:r>
            <a:endParaRPr lang="en-US" sz="468" dirty="0"/>
          </a:p>
        </p:txBody>
      </p:sp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23848" y="2634140"/>
            <a:ext cx="1336939" cy="285214"/>
          </a:xfrm>
          <a:prstGeom prst="rect">
            <a:avLst/>
          </a:prstGeom>
        </p:spPr>
      </p:pic>
      <p:sp>
        <p:nvSpPr>
          <p:cNvPr id="47" name="Text 26"/>
          <p:cNvSpPr/>
          <p:nvPr/>
        </p:nvSpPr>
        <p:spPr>
          <a:xfrm>
            <a:off x="2318219" y="2675734"/>
            <a:ext cx="342256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注册受理</a:t>
            </a:r>
            <a:endParaRPr lang="en-US" sz="561" dirty="0"/>
          </a:p>
        </p:txBody>
      </p:sp>
      <p:sp>
        <p:nvSpPr>
          <p:cNvPr id="48" name="Text 27"/>
          <p:cNvSpPr/>
          <p:nvPr/>
        </p:nvSpPr>
        <p:spPr>
          <a:xfrm>
            <a:off x="2107874" y="2788631"/>
            <a:ext cx="762946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资质校验 · 幂等去重</a:t>
            </a:r>
            <a:endParaRPr lang="en-US" sz="561" dirty="0"/>
          </a:p>
        </p:txBody>
      </p:sp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79626" y="2634140"/>
            <a:ext cx="1336939" cy="285214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3773996" y="2675734"/>
            <a:ext cx="342256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身份颁发</a:t>
            </a:r>
            <a:endParaRPr lang="en-US" sz="561" dirty="0"/>
          </a:p>
        </p:txBody>
      </p:sp>
      <p:sp>
        <p:nvSpPr>
          <p:cNvPr id="51" name="Text 29"/>
          <p:cNvSpPr/>
          <p:nvPr/>
        </p:nvSpPr>
        <p:spPr>
          <a:xfrm>
            <a:off x="3481652" y="2788631"/>
            <a:ext cx="926944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分配 novo_id · 写入档案</a:t>
            </a:r>
            <a:endParaRPr lang="en-US" sz="561" dirty="0"/>
          </a:p>
        </p:txBody>
      </p:sp>
      <p:pic>
        <p:nvPicPr>
          <p:cNvPr id="5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35404" y="2634140"/>
            <a:ext cx="1336939" cy="285214"/>
          </a:xfrm>
          <a:prstGeom prst="rect">
            <a:avLst/>
          </a:prstGeom>
        </p:spPr>
      </p:pic>
      <p:sp>
        <p:nvSpPr>
          <p:cNvPr id="53" name="Text 30"/>
          <p:cNvSpPr/>
          <p:nvPr/>
        </p:nvSpPr>
        <p:spPr>
          <a:xfrm>
            <a:off x="5229774" y="2675734"/>
            <a:ext cx="342256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状态管理</a:t>
            </a:r>
            <a:endParaRPr lang="en-US" sz="561" dirty="0"/>
          </a:p>
        </p:txBody>
      </p:sp>
      <p:sp>
        <p:nvSpPr>
          <p:cNvPr id="54" name="Text 31"/>
          <p:cNvSpPr/>
          <p:nvPr/>
        </p:nvSpPr>
        <p:spPr>
          <a:xfrm>
            <a:off x="4937430" y="2788631"/>
            <a:ext cx="926944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暂停 / 恢复 / 撤销 / 归档</a:t>
            </a:r>
            <a:endParaRPr lang="en-US" sz="561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91181" y="2634140"/>
            <a:ext cx="1307229" cy="285214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552452" y="2675734"/>
            <a:ext cx="584688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对外查询 · 互证</a:t>
            </a:r>
            <a:endParaRPr lang="en-US" sz="561" dirty="0"/>
          </a:p>
        </p:txBody>
      </p:sp>
      <p:sp>
        <p:nvSpPr>
          <p:cNvPr id="57" name="Text 33"/>
          <p:cNvSpPr/>
          <p:nvPr/>
        </p:nvSpPr>
        <p:spPr>
          <a:xfrm>
            <a:off x="6427671" y="2788631"/>
            <a:ext cx="834250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状态 · 凭证 · 撤销名单</a:t>
            </a:r>
            <a:endParaRPr lang="en-US" sz="561" dirty="0"/>
          </a:p>
        </p:txBody>
      </p:sp>
      <p:pic>
        <p:nvPicPr>
          <p:cNvPr id="5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4884" y="3050077"/>
            <a:ext cx="6892661" cy="451588"/>
          </a:xfrm>
          <a:prstGeom prst="rect">
            <a:avLst/>
          </a:prstGeom>
        </p:spPr>
      </p:pic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4878" y="3050077"/>
            <a:ext cx="1010131" cy="451588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1014555" y="3162974"/>
            <a:ext cx="370778" cy="95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事件汇入</a:t>
            </a:r>
            <a:endParaRPr lang="en-US" sz="608" dirty="0"/>
          </a:p>
        </p:txBody>
      </p:sp>
      <p:sp>
        <p:nvSpPr>
          <p:cNvPr id="61" name="Text 35"/>
          <p:cNvSpPr/>
          <p:nvPr/>
        </p:nvSpPr>
        <p:spPr>
          <a:xfrm>
            <a:off x="968208" y="3269929"/>
            <a:ext cx="463472" cy="95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与信用产出</a:t>
            </a:r>
            <a:endParaRPr lang="en-US" sz="608" dirty="0"/>
          </a:p>
        </p:txBody>
      </p:sp>
      <p:sp>
        <p:nvSpPr>
          <p:cNvPr id="62" name="Text 36"/>
          <p:cNvSpPr/>
          <p:nvPr/>
        </p:nvSpPr>
        <p:spPr>
          <a:xfrm>
            <a:off x="918295" y="3400652"/>
            <a:ext cx="563297" cy="7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EAE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 协同闭环</a:t>
            </a:r>
            <a:endParaRPr lang="en-US" sz="468" dirty="0"/>
          </a:p>
        </p:txBody>
      </p:sp>
      <p:pic>
        <p:nvPicPr>
          <p:cNvPr id="6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23848" y="3133264"/>
            <a:ext cx="2763006" cy="285214"/>
          </a:xfrm>
          <a:prstGeom prst="rect">
            <a:avLst/>
          </a:prstGeom>
        </p:spPr>
      </p:pic>
      <p:sp>
        <p:nvSpPr>
          <p:cNvPr id="64" name="Text 37"/>
          <p:cNvSpPr/>
          <p:nvPr/>
        </p:nvSpPr>
        <p:spPr>
          <a:xfrm>
            <a:off x="2489347" y="3174858"/>
            <a:ext cx="1426068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事件源 · 兄弟中心写入 + Novo 自记录</a:t>
            </a:r>
            <a:endParaRPr lang="en-US" sz="561" dirty="0"/>
          </a:p>
        </p:txBody>
      </p:sp>
      <p:sp>
        <p:nvSpPr>
          <p:cNvPr id="65" name="Text 38"/>
          <p:cNvSpPr/>
          <p:nvPr/>
        </p:nvSpPr>
        <p:spPr>
          <a:xfrm>
            <a:off x="2382392" y="3287755"/>
            <a:ext cx="1639978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病毒（告警）· 疫苗（修复）· 体检（评估）</a:t>
            </a:r>
            <a:endParaRPr lang="en-US" sz="561" dirty="0"/>
          </a:p>
        </p:txBody>
      </p:sp>
      <p:pic>
        <p:nvPicPr>
          <p:cNvPr id="66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705694" y="3133264"/>
            <a:ext cx="2792716" cy="285214"/>
          </a:xfrm>
          <a:prstGeom prst="rect">
            <a:avLst/>
          </a:prstGeom>
        </p:spPr>
      </p:pic>
      <p:sp>
        <p:nvSpPr>
          <p:cNvPr id="67" name="Text 39"/>
          <p:cNvSpPr/>
          <p:nvPr/>
        </p:nvSpPr>
        <p:spPr>
          <a:xfrm>
            <a:off x="5492408" y="3174858"/>
            <a:ext cx="1219288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信用算法 · 读取事件 → 产出画像</a:t>
            </a:r>
            <a:endParaRPr lang="en-US" sz="561" dirty="0"/>
          </a:p>
        </p:txBody>
      </p:sp>
      <p:sp>
        <p:nvSpPr>
          <p:cNvPr id="68" name="Text 40"/>
          <p:cNvSpPr/>
          <p:nvPr/>
        </p:nvSpPr>
        <p:spPr>
          <a:xfrm>
            <a:off x="5207194" y="3287755"/>
            <a:ext cx="1789715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 Agent 评分 · 群体传播 · 时间衰减 · 风险预警</a:t>
            </a:r>
            <a:endParaRPr lang="en-US" sz="561" dirty="0"/>
          </a:p>
        </p:txBody>
      </p:sp>
      <p:pic>
        <p:nvPicPr>
          <p:cNvPr id="6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4884" y="3644272"/>
            <a:ext cx="3386911" cy="546659"/>
          </a:xfrm>
          <a:prstGeom prst="rect">
            <a:avLst/>
          </a:prstGeom>
        </p:spPr>
      </p:pic>
      <p:pic>
        <p:nvPicPr>
          <p:cNvPr id="7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4878" y="3644272"/>
            <a:ext cx="1010131" cy="546659"/>
          </a:xfrm>
          <a:prstGeom prst="rect">
            <a:avLst/>
          </a:prstGeom>
        </p:spPr>
      </p:pic>
      <p:sp>
        <p:nvSpPr>
          <p:cNvPr id="71" name="Text 41"/>
          <p:cNvSpPr/>
          <p:nvPr/>
        </p:nvSpPr>
        <p:spPr>
          <a:xfrm>
            <a:off x="1050207" y="3786879"/>
            <a:ext cx="299474" cy="101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信任根</a:t>
            </a:r>
            <a:endParaRPr lang="en-US" sz="655" dirty="0"/>
          </a:p>
        </p:txBody>
      </p:sp>
      <p:sp>
        <p:nvSpPr>
          <p:cNvPr id="72" name="Text 42"/>
          <p:cNvSpPr/>
          <p:nvPr/>
        </p:nvSpPr>
        <p:spPr>
          <a:xfrm>
            <a:off x="986034" y="3929485"/>
            <a:ext cx="427820" cy="7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BFCA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硬件加密保护</a:t>
            </a:r>
            <a:endParaRPr lang="en-US" sz="468" dirty="0"/>
          </a:p>
        </p:txBody>
      </p:sp>
      <p:pic>
        <p:nvPicPr>
          <p:cNvPr id="7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23848" y="3727459"/>
            <a:ext cx="1069551" cy="380285"/>
          </a:xfrm>
          <a:prstGeom prst="rect">
            <a:avLst/>
          </a:prstGeom>
        </p:spPr>
      </p:pic>
      <p:sp>
        <p:nvSpPr>
          <p:cNvPr id="74" name="Text 43"/>
          <p:cNvSpPr/>
          <p:nvPr/>
        </p:nvSpPr>
        <p:spPr>
          <a:xfrm>
            <a:off x="2112627" y="3786879"/>
            <a:ext cx="491993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 根密钥</a:t>
            </a:r>
            <a:endParaRPr lang="en-US" sz="561" dirty="0"/>
          </a:p>
        </p:txBody>
      </p:sp>
      <p:sp>
        <p:nvSpPr>
          <p:cNvPr id="75" name="Text 44"/>
          <p:cNvSpPr/>
          <p:nvPr/>
        </p:nvSpPr>
        <p:spPr>
          <a:xfrm>
            <a:off x="1970020" y="3923544"/>
            <a:ext cx="777207" cy="77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1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SM2 + HSM 多人授权</a:t>
            </a:r>
            <a:endParaRPr lang="en-US" sz="515" dirty="0"/>
          </a:p>
        </p:txBody>
      </p:sp>
      <p:pic>
        <p:nvPicPr>
          <p:cNvPr id="7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952819" y="3727459"/>
            <a:ext cx="1069551" cy="380285"/>
          </a:xfrm>
          <a:prstGeom prst="rect">
            <a:avLst/>
          </a:prstGeom>
        </p:spPr>
      </p:pic>
      <p:sp>
        <p:nvSpPr>
          <p:cNvPr id="77" name="Text 45"/>
          <p:cNvSpPr/>
          <p:nvPr/>
        </p:nvSpPr>
        <p:spPr>
          <a:xfrm>
            <a:off x="3273684" y="3786879"/>
            <a:ext cx="427820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运营商公钥</a:t>
            </a:r>
            <a:endParaRPr lang="en-US" sz="561" dirty="0"/>
          </a:p>
        </p:txBody>
      </p:sp>
      <p:sp>
        <p:nvSpPr>
          <p:cNvPr id="78" name="Text 46"/>
          <p:cNvSpPr/>
          <p:nvPr/>
        </p:nvSpPr>
        <p:spPr>
          <a:xfrm>
            <a:off x="3020557" y="3923544"/>
            <a:ext cx="934074" cy="77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1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用于白名单验签 · 双边公示</a:t>
            </a:r>
            <a:endParaRPr lang="en-US" sz="515" dirty="0"/>
          </a:p>
        </p:txBody>
      </p:sp>
      <p:pic>
        <p:nvPicPr>
          <p:cNvPr id="7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200628" y="3644272"/>
            <a:ext cx="3386911" cy="546659"/>
          </a:xfrm>
          <a:prstGeom prst="rect">
            <a:avLst/>
          </a:prstGeom>
        </p:spPr>
      </p:pic>
      <p:pic>
        <p:nvPicPr>
          <p:cNvPr id="80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00628" y="3644272"/>
            <a:ext cx="1010131" cy="546659"/>
          </a:xfrm>
          <a:prstGeom prst="rect">
            <a:avLst/>
          </a:prstGeom>
        </p:spPr>
      </p:pic>
      <p:sp>
        <p:nvSpPr>
          <p:cNvPr id="81" name="Text 47"/>
          <p:cNvSpPr/>
          <p:nvPr/>
        </p:nvSpPr>
        <p:spPr>
          <a:xfrm>
            <a:off x="4506044" y="3786879"/>
            <a:ext cx="399299" cy="101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演化日志</a:t>
            </a:r>
            <a:endParaRPr lang="en-US" sz="655" dirty="0"/>
          </a:p>
        </p:txBody>
      </p:sp>
      <p:sp>
        <p:nvSpPr>
          <p:cNvPr id="82" name="Text 48"/>
          <p:cNvSpPr/>
          <p:nvPr/>
        </p:nvSpPr>
        <p:spPr>
          <a:xfrm>
            <a:off x="4491784" y="3929485"/>
            <a:ext cx="427820" cy="7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DCE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不可篡改档案</a:t>
            </a:r>
            <a:endParaRPr lang="en-US" sz="468" dirty="0"/>
          </a:p>
        </p:txBody>
      </p:sp>
      <p:pic>
        <p:nvPicPr>
          <p:cNvPr id="83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329599" y="3727459"/>
            <a:ext cx="1069551" cy="380285"/>
          </a:xfrm>
          <a:prstGeom prst="rect">
            <a:avLst/>
          </a:prstGeom>
        </p:spPr>
      </p:pic>
      <p:sp>
        <p:nvSpPr>
          <p:cNvPr id="84" name="Text 49"/>
          <p:cNvSpPr/>
          <p:nvPr/>
        </p:nvSpPr>
        <p:spPr>
          <a:xfrm>
            <a:off x="5650464" y="3786879"/>
            <a:ext cx="427820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追加式存证</a:t>
            </a:r>
            <a:endParaRPr lang="en-US" sz="561" dirty="0"/>
          </a:p>
        </p:txBody>
      </p:sp>
      <p:sp>
        <p:nvSpPr>
          <p:cNvPr id="85" name="Text 50"/>
          <p:cNvSpPr/>
          <p:nvPr/>
        </p:nvSpPr>
        <p:spPr>
          <a:xfrm>
            <a:off x="5436554" y="3923544"/>
            <a:ext cx="855641" cy="77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15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哈希环环相扣 · 改动可察</a:t>
            </a:r>
            <a:endParaRPr lang="en-US" sz="515" dirty="0"/>
          </a:p>
        </p:txBody>
      </p:sp>
      <p:pic>
        <p:nvPicPr>
          <p:cNvPr id="8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58569" y="3727459"/>
            <a:ext cx="1069551" cy="380285"/>
          </a:xfrm>
          <a:prstGeom prst="rect">
            <a:avLst/>
          </a:prstGeom>
        </p:spPr>
      </p:pic>
      <p:sp>
        <p:nvSpPr>
          <p:cNvPr id="87" name="Text 51"/>
          <p:cNvSpPr/>
          <p:nvPr/>
        </p:nvSpPr>
        <p:spPr>
          <a:xfrm>
            <a:off x="6822216" y="3786879"/>
            <a:ext cx="342256" cy="8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透明日志</a:t>
            </a:r>
            <a:endParaRPr lang="en-US" sz="561" dirty="0"/>
          </a:p>
        </p:txBody>
      </p:sp>
      <p:sp>
        <p:nvSpPr>
          <p:cNvPr id="88" name="Text 52"/>
          <p:cNvSpPr/>
          <p:nvPr/>
        </p:nvSpPr>
        <p:spPr>
          <a:xfrm>
            <a:off x="6604741" y="3923544"/>
            <a:ext cx="777207" cy="77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15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每日公示 · 时间戳锚定</a:t>
            </a:r>
            <a:endParaRPr lang="en-US" sz="515" dirty="0"/>
          </a:p>
        </p:txBody>
      </p:sp>
      <p:pic>
        <p:nvPicPr>
          <p:cNvPr id="89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771728" y="922859"/>
            <a:ext cx="831873" cy="3327492"/>
          </a:xfrm>
          <a:prstGeom prst="rect">
            <a:avLst/>
          </a:prstGeom>
        </p:spPr>
      </p:pic>
      <p:sp>
        <p:nvSpPr>
          <p:cNvPr id="90" name="Text 53"/>
          <p:cNvSpPr/>
          <p:nvPr/>
        </p:nvSpPr>
        <p:spPr>
          <a:xfrm>
            <a:off x="7973766" y="1279376"/>
            <a:ext cx="427820" cy="77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横切关注点</a:t>
            </a:r>
            <a:endParaRPr lang="en-US" sz="561" dirty="0"/>
          </a:p>
        </p:txBody>
      </p:sp>
      <p:pic>
        <p:nvPicPr>
          <p:cNvPr id="9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19275" y="964453"/>
            <a:ext cx="736802" cy="623646"/>
          </a:xfrm>
          <a:prstGeom prst="rect">
            <a:avLst/>
          </a:prstGeom>
        </p:spPr>
      </p:pic>
      <p:sp>
        <p:nvSpPr>
          <p:cNvPr id="92" name="Text 54"/>
          <p:cNvSpPr/>
          <p:nvPr/>
        </p:nvSpPr>
        <p:spPr>
          <a:xfrm>
            <a:off x="8005853" y="1060829"/>
            <a:ext cx="363647" cy="73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15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国密栈</a:t>
            </a:r>
            <a:endParaRPr lang="en-US" sz="515" dirty="0"/>
          </a:p>
        </p:txBody>
      </p:sp>
      <p:sp>
        <p:nvSpPr>
          <p:cNvPr id="93" name="Text 55"/>
          <p:cNvSpPr/>
          <p:nvPr/>
        </p:nvSpPr>
        <p:spPr>
          <a:xfrm>
            <a:off x="7788377" y="1247931"/>
            <a:ext cx="798598" cy="6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SM2 / SM3 / SM4-GCM</a:t>
            </a:r>
            <a:endParaRPr lang="en-US" sz="468" dirty="0"/>
          </a:p>
        </p:txBody>
      </p:sp>
      <p:sp>
        <p:nvSpPr>
          <p:cNvPr id="94" name="Text 56"/>
          <p:cNvSpPr/>
          <p:nvPr/>
        </p:nvSpPr>
        <p:spPr>
          <a:xfrm>
            <a:off x="7902463" y="1406681"/>
            <a:ext cx="570427" cy="6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国密二级以上合规</a:t>
            </a:r>
            <a:endParaRPr lang="en-US" sz="468" dirty="0"/>
          </a:p>
        </p:txBody>
      </p:sp>
      <p:pic>
        <p:nvPicPr>
          <p:cNvPr id="95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19275" y="1644800"/>
            <a:ext cx="736802" cy="623646"/>
          </a:xfrm>
          <a:prstGeom prst="rect">
            <a:avLst/>
          </a:prstGeom>
        </p:spPr>
      </p:pic>
      <p:sp>
        <p:nvSpPr>
          <p:cNvPr id="96" name="Text 57"/>
          <p:cNvSpPr/>
          <p:nvPr/>
        </p:nvSpPr>
        <p:spPr>
          <a:xfrm>
            <a:off x="7959505" y="1741177"/>
            <a:ext cx="456342" cy="73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15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国密 TLS</a:t>
            </a:r>
            <a:endParaRPr lang="en-US" sz="515" dirty="0"/>
          </a:p>
        </p:txBody>
      </p:sp>
      <p:sp>
        <p:nvSpPr>
          <p:cNvPr id="97" name="Text 58"/>
          <p:cNvSpPr/>
          <p:nvPr/>
        </p:nvSpPr>
        <p:spPr>
          <a:xfrm>
            <a:off x="7877506" y="1928279"/>
            <a:ext cx="620340" cy="6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GM/T 0024 双证书</a:t>
            </a:r>
            <a:endParaRPr lang="en-US" sz="468" dirty="0"/>
          </a:p>
        </p:txBody>
      </p:sp>
      <p:sp>
        <p:nvSpPr>
          <p:cNvPr id="98" name="Text 59"/>
          <p:cNvSpPr/>
          <p:nvPr/>
        </p:nvSpPr>
        <p:spPr>
          <a:xfrm>
            <a:off x="7902463" y="2087017"/>
            <a:ext cx="570427" cy="6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覆盖所有对外通道</a:t>
            </a:r>
            <a:endParaRPr lang="en-US" sz="468" dirty="0"/>
          </a:p>
        </p:txBody>
      </p:sp>
      <p:pic>
        <p:nvPicPr>
          <p:cNvPr id="9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819275" y="2325142"/>
            <a:ext cx="736802" cy="623646"/>
          </a:xfrm>
          <a:prstGeom prst="rect">
            <a:avLst/>
          </a:prstGeom>
        </p:spPr>
      </p:pic>
      <p:sp>
        <p:nvSpPr>
          <p:cNvPr id="100" name="Text 60"/>
          <p:cNvSpPr/>
          <p:nvPr/>
        </p:nvSpPr>
        <p:spPr>
          <a:xfrm>
            <a:off x="7927419" y="2421518"/>
            <a:ext cx="520515" cy="73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15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审计与合规</a:t>
            </a:r>
            <a:endParaRPr lang="en-US" sz="515" dirty="0"/>
          </a:p>
        </p:txBody>
      </p:sp>
      <p:sp>
        <p:nvSpPr>
          <p:cNvPr id="101" name="Text 61"/>
          <p:cNvSpPr/>
          <p:nvPr/>
        </p:nvSpPr>
        <p:spPr>
          <a:xfrm>
            <a:off x="7902463" y="2608609"/>
            <a:ext cx="570427" cy="6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3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关键操作签名归档</a:t>
            </a:r>
            <a:endParaRPr lang="en-US" sz="468" dirty="0"/>
          </a:p>
        </p:txBody>
      </p:sp>
      <p:sp>
        <p:nvSpPr>
          <p:cNvPr id="102" name="Text 62"/>
          <p:cNvSpPr/>
          <p:nvPr/>
        </p:nvSpPr>
        <p:spPr>
          <a:xfrm>
            <a:off x="7909593" y="2767359"/>
            <a:ext cx="556166" cy="6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等保 / 关基 · 取证</a:t>
            </a:r>
            <a:endParaRPr lang="en-US" sz="468" dirty="0"/>
          </a:p>
        </p:txBody>
      </p:sp>
      <p:pic>
        <p:nvPicPr>
          <p:cNvPr id="103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819275" y="3005477"/>
            <a:ext cx="736802" cy="623646"/>
          </a:xfrm>
          <a:prstGeom prst="rect">
            <a:avLst/>
          </a:prstGeom>
        </p:spPr>
      </p:pic>
      <p:sp>
        <p:nvSpPr>
          <p:cNvPr id="104" name="Text 63"/>
          <p:cNvSpPr/>
          <p:nvPr/>
        </p:nvSpPr>
        <p:spPr>
          <a:xfrm>
            <a:off x="7930390" y="3101860"/>
            <a:ext cx="520515" cy="73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15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运营商对接</a:t>
            </a:r>
            <a:endParaRPr lang="en-US" sz="515" dirty="0"/>
          </a:p>
        </p:txBody>
      </p:sp>
      <p:sp>
        <p:nvSpPr>
          <p:cNvPr id="105" name="Text 64"/>
          <p:cNvSpPr/>
          <p:nvPr/>
        </p:nvSpPr>
        <p:spPr>
          <a:xfrm>
            <a:off x="7866811" y="3288950"/>
            <a:ext cx="641731" cy="6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+ SM2 签名</a:t>
            </a:r>
            <a:endParaRPr lang="en-US" sz="468" dirty="0"/>
          </a:p>
        </p:txBody>
      </p:sp>
      <p:sp>
        <p:nvSpPr>
          <p:cNvPr id="106" name="Text 65"/>
          <p:cNvSpPr/>
          <p:nvPr/>
        </p:nvSpPr>
        <p:spPr>
          <a:xfrm>
            <a:off x="7898898" y="3447706"/>
            <a:ext cx="577557" cy="6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白名单 · 双边 SLA</a:t>
            </a:r>
            <a:endParaRPr lang="en-US" sz="468" dirty="0"/>
          </a:p>
        </p:txBody>
      </p:sp>
      <p:pic>
        <p:nvPicPr>
          <p:cNvPr id="107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819275" y="3685819"/>
            <a:ext cx="736802" cy="521595"/>
          </a:xfrm>
          <a:prstGeom prst="rect">
            <a:avLst/>
          </a:prstGeom>
        </p:spPr>
      </p:pic>
      <p:sp>
        <p:nvSpPr>
          <p:cNvPr id="108" name="Text 66"/>
          <p:cNvSpPr/>
          <p:nvPr/>
        </p:nvSpPr>
        <p:spPr>
          <a:xfrm>
            <a:off x="7852550" y="3765191"/>
            <a:ext cx="670252" cy="6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 密码敏捷 · 抗量子</a:t>
            </a:r>
            <a:endParaRPr lang="en-US" sz="468" dirty="0"/>
          </a:p>
        </p:txBody>
      </p:sp>
      <p:sp>
        <p:nvSpPr>
          <p:cNvPr id="109" name="Text 67"/>
          <p:cNvSpPr/>
          <p:nvPr/>
        </p:nvSpPr>
        <p:spPr>
          <a:xfrm>
            <a:off x="7938114" y="3935274"/>
            <a:ext cx="499124" cy="6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签名带算法字段</a:t>
            </a:r>
            <a:endParaRPr lang="en-US" sz="468" dirty="0"/>
          </a:p>
        </p:txBody>
      </p:sp>
      <p:sp>
        <p:nvSpPr>
          <p:cNvPr id="110" name="Text 68"/>
          <p:cNvSpPr/>
          <p:nvPr/>
        </p:nvSpPr>
        <p:spPr>
          <a:xfrm>
            <a:off x="7902463" y="4082685"/>
            <a:ext cx="570427" cy="6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8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档案根时间戳锚定</a:t>
            </a:r>
            <a:endParaRPr lang="en-US" sz="46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智能体健康运营体系架构 3-Novo Credit 信用中心 · 身份体系架构</dc:title>
  <dc:subject>由 Figma Frame 转换生成</dc:subject>
  <dc:creator>Frame2PPT</dc:creator>
  <cp:lastModifiedBy>Frame2PPT</cp:lastModifiedBy>
  <cp:revision>1</cp:revision>
  <dcterms:created xsi:type="dcterms:W3CDTF">2026-08-12T09:30:09Z</dcterms:created>
  <dcterms:modified xsi:type="dcterms:W3CDTF">2026-08-12T09:30:09Z</dcterms:modified>
</cp:coreProperties>
</file>