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image" Target="../media/image-1-23.png"/><Relationship Id="rId24" Type="http://schemas.openxmlformats.org/officeDocument/2006/relationships/image" Target="../media/image-1-24.png"/><Relationship Id="rId25" Type="http://schemas.openxmlformats.org/officeDocument/2006/relationships/image" Target="../media/image-1-25.png"/><Relationship Id="rId26" Type="http://schemas.openxmlformats.org/officeDocument/2006/relationships/image" Target="../media/image-1-26.png"/><Relationship Id="rId27" Type="http://schemas.openxmlformats.org/officeDocument/2006/relationships/image" Target="../media/image-1-27.png"/><Relationship Id="rId28" Type="http://schemas.openxmlformats.org/officeDocument/2006/relationships/image" Target="../media/image-1-28.png"/><Relationship Id="rId29" Type="http://schemas.openxmlformats.org/officeDocument/2006/relationships/image" Target="../media/image-1-29.png"/><Relationship Id="rId30" Type="http://schemas.openxmlformats.org/officeDocument/2006/relationships/image" Target="../media/image-1-30.png"/><Relationship Id="rId31" Type="http://schemas.openxmlformats.org/officeDocument/2006/relationships/image" Target="../media/image-1-31.png"/><Relationship Id="rId32" Type="http://schemas.openxmlformats.org/officeDocument/2006/relationships/image" Target="../media/image-1-32.png"/><Relationship Id="rId33" Type="http://schemas.openxmlformats.org/officeDocument/2006/relationships/image" Target="../media/image-1-33.png"/><Relationship Id="rId34" Type="http://schemas.openxmlformats.org/officeDocument/2006/relationships/image" Target="../media/image-1-34.png"/><Relationship Id="rId35" Type="http://schemas.openxmlformats.org/officeDocument/2006/relationships/image" Target="../media/image-1-35.png"/><Relationship Id="rId36" Type="http://schemas.openxmlformats.org/officeDocument/2006/relationships/image" Target="../media/image-1-36.png"/><Relationship Id="rId37" Type="http://schemas.openxmlformats.org/officeDocument/2006/relationships/image" Target="../media/image-1-37.png"/><Relationship Id="rId38" Type="http://schemas.openxmlformats.org/officeDocument/2006/relationships/image" Target="../media/image-1-38.png"/><Relationship Id="rId39" Type="http://schemas.openxmlformats.org/officeDocument/2006/relationships/image" Target="../media/image-1-39.png"/><Relationship Id="rId40" Type="http://schemas.openxmlformats.org/officeDocument/2006/relationships/image" Target="../media/image-1-40.png"/><Relationship Id="rId41" Type="http://schemas.openxmlformats.org/officeDocument/2006/relationships/image" Target="../media/image-1-41.png"/><Relationship Id="rId42" Type="http://schemas.openxmlformats.org/officeDocument/2006/relationships/image" Target="../media/image-1-42.png"/><Relationship Id="rId43" Type="http://schemas.openxmlformats.org/officeDocument/2006/relationships/image" Target="../media/image-1-43.png"/><Relationship Id="rId44" Type="http://schemas.openxmlformats.org/officeDocument/2006/relationships/image" Target="../media/image-1-44.png"/><Relationship Id="rId45" Type="http://schemas.openxmlformats.org/officeDocument/2006/relationships/image" Target="../media/image-1-45.png"/><Relationship Id="rId46" Type="http://schemas.openxmlformats.org/officeDocument/2006/relationships/image" Target="../media/image-1-46.png"/><Relationship Id="rId47" Type="http://schemas.openxmlformats.org/officeDocument/2006/relationships/image" Target="../media/image-1-47.png"/><Relationship Id="rId48" Type="http://schemas.openxmlformats.org/officeDocument/2006/relationships/image" Target="../media/image-1-48.png"/><Relationship Id="rId49" Type="http://schemas.openxmlformats.org/officeDocument/2006/relationships/image" Target="../media/image-1-49.png"/><Relationship Id="rId50" Type="http://schemas.openxmlformats.org/officeDocument/2006/relationships/image" Target="../media/image-1-50.png"/><Relationship Id="rId51" Type="http://schemas.openxmlformats.org/officeDocument/2006/relationships/image" Target="../media/image-1-51.png"/><Relationship Id="rId52" Type="http://schemas.openxmlformats.org/officeDocument/2006/relationships/image" Target="../media/image-1-52.png"/><Relationship Id="rId53" Type="http://schemas.openxmlformats.org/officeDocument/2006/relationships/image" Target="../media/image-1-53.png"/><Relationship Id="rId54" Type="http://schemas.openxmlformats.org/officeDocument/2006/relationships/image" Target="../media/image-1-54.png"/><Relationship Id="rId55" Type="http://schemas.openxmlformats.org/officeDocument/2006/relationships/image" Target="../media/image-1-55.png"/><Relationship Id="rId56" Type="http://schemas.openxmlformats.org/officeDocument/2006/relationships/image" Target="../media/image-1-56.png"/><Relationship Id="rId57" Type="http://schemas.openxmlformats.org/officeDocument/2006/relationships/image" Target="../media/image-1-57.png"/><Relationship Id="rId58" Type="http://schemas.openxmlformats.org/officeDocument/2006/relationships/image" Target="../media/image-1-58.png"/><Relationship Id="rId59" Type="http://schemas.openxmlformats.org/officeDocument/2006/relationships/image" Target="../media/image-1-59.png"/><Relationship Id="rId60" Type="http://schemas.openxmlformats.org/officeDocument/2006/relationships/image" Target="../media/image-1-60.png"/><Relationship Id="rId61" Type="http://schemas.openxmlformats.org/officeDocument/2006/relationships/image" Target="../media/image-1-61.png"/><Relationship Id="rId62" Type="http://schemas.openxmlformats.org/officeDocument/2006/relationships/image" Target="../media/image-1-62.png"/><Relationship Id="rId63" Type="http://schemas.openxmlformats.org/officeDocument/2006/relationships/image" Target="../media/image-1-63.png"/><Relationship Id="rId64" Type="http://schemas.openxmlformats.org/officeDocument/2006/relationships/image" Target="../media/image-1-64.png"/><Relationship Id="rId65" Type="http://schemas.openxmlformats.org/officeDocument/2006/relationships/slideLayout" Target="../slideLayouts/slideLayout1.xml"/><Relationship Id="rId6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3318" y="647918"/>
            <a:ext cx="956304" cy="37713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1684" y="751181"/>
            <a:ext cx="848551" cy="1975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36" b="1" dirty="0">
                <a:solidFill>
                  <a:srgbClr val="3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战略指挥层</a:t>
            </a:r>
            <a:endParaRPr lang="en-US" sz="636" dirty="0"/>
          </a:p>
          <a:p>
            <a:pPr algn="ctr" indent="0" marL="0">
              <a:buNone/>
            </a:pPr>
            <a:r>
              <a:rPr lang="en-US" sz="636" b="1" dirty="0">
                <a:solidFill>
                  <a:srgbClr val="3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Strategy</a:t>
            </a:r>
            <a:endParaRPr lang="en-US" sz="636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18" y="1051990"/>
            <a:ext cx="956304" cy="53876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81684" y="1236068"/>
            <a:ext cx="848551" cy="1975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36" b="1" dirty="0">
                <a:solidFill>
                  <a:srgbClr val="3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协同运营层</a:t>
            </a:r>
            <a:endParaRPr lang="en-US" sz="636" dirty="0"/>
          </a:p>
          <a:p>
            <a:pPr algn="ctr" indent="0" marL="0">
              <a:buNone/>
            </a:pPr>
            <a:r>
              <a:rPr lang="en-US" sz="636" b="1" dirty="0">
                <a:solidFill>
                  <a:srgbClr val="3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Harmony</a:t>
            </a:r>
            <a:endParaRPr lang="en-US" sz="636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18" y="1617691"/>
            <a:ext cx="956304" cy="166118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81684" y="2304614"/>
            <a:ext cx="848551" cy="2963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36" b="1" dirty="0">
                <a:solidFill>
                  <a:srgbClr val="3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免疫引擎层</a:t>
            </a:r>
            <a:endParaRPr lang="en-US" sz="636" dirty="0"/>
          </a:p>
          <a:p>
            <a:pPr algn="ctr" indent="0" marL="0">
              <a:buNone/>
            </a:pPr>
            <a:r>
              <a:rPr lang="en-US" sz="636" b="1" dirty="0">
                <a:solidFill>
                  <a:srgbClr val="3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Immune </a:t>
            </a:r>
            <a:endParaRPr lang="en-US" sz="636" dirty="0"/>
          </a:p>
          <a:p>
            <a:pPr algn="ctr" indent="0" marL="0">
              <a:buNone/>
            </a:pPr>
            <a:r>
              <a:rPr lang="en-US" sz="636" b="1" dirty="0">
                <a:solidFill>
                  <a:srgbClr val="3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Engine</a:t>
            </a:r>
            <a:endParaRPr lang="en-US" sz="636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318" y="3305814"/>
            <a:ext cx="956304" cy="359175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681684" y="3400098"/>
            <a:ext cx="848551" cy="1975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36" b="1" dirty="0">
                <a:solidFill>
                  <a:srgbClr val="3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安全交换层 Exchange</a:t>
            </a:r>
            <a:endParaRPr lang="en-US" sz="636" dirty="0"/>
          </a:p>
        </p:txBody>
      </p:sp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318" y="3691927"/>
            <a:ext cx="956304" cy="808144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775968" y="4010695"/>
            <a:ext cx="668964" cy="1975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36" b="1" dirty="0">
                <a:solidFill>
                  <a:srgbClr val="3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接入层</a:t>
            </a:r>
            <a:endParaRPr lang="en-US" sz="636" dirty="0"/>
          </a:p>
          <a:p>
            <a:pPr algn="ctr" indent="0" marL="0">
              <a:buNone/>
            </a:pPr>
            <a:r>
              <a:rPr lang="en-US" sz="636" b="1" dirty="0">
                <a:solidFill>
                  <a:srgbClr val="3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Landing</a:t>
            </a:r>
            <a:endParaRPr lang="en-US" sz="636" dirty="0"/>
          </a:p>
        </p:txBody>
      </p:sp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7027" y="643429"/>
            <a:ext cx="803654" cy="3852153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7739476" y="2219309"/>
            <a:ext cx="781206" cy="1975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36" b="1" dirty="0">
                <a:solidFill>
                  <a:srgbClr val="3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授权治理层</a:t>
            </a:r>
            <a:endParaRPr lang="en-US" sz="636" dirty="0"/>
          </a:p>
          <a:p>
            <a:pPr algn="ctr" indent="0" marL="0">
              <a:buNone/>
            </a:pPr>
            <a:r>
              <a:rPr lang="en-US" sz="636" b="1" dirty="0">
                <a:solidFill>
                  <a:srgbClr val="3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Delegation</a:t>
            </a:r>
            <a:endParaRPr lang="en-US" sz="636" dirty="0"/>
          </a:p>
        </p:txBody>
      </p:sp>
      <p:pic>
        <p:nvPicPr>
          <p:cNvPr id="1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33499" y="643429"/>
            <a:ext cx="6038632" cy="377134"/>
          </a:xfrm>
          <a:prstGeom prst="rect">
            <a:avLst/>
          </a:prstGeom>
        </p:spPr>
      </p:pic>
      <p:pic>
        <p:nvPicPr>
          <p:cNvPr id="1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23292" y="715264"/>
            <a:ext cx="1346907" cy="233464"/>
          </a:xfrm>
          <a:prstGeom prst="rect">
            <a:avLst/>
          </a:prstGeom>
        </p:spPr>
      </p:pic>
      <p:sp>
        <p:nvSpPr>
          <p:cNvPr id="16" name="Text 6"/>
          <p:cNvSpPr/>
          <p:nvPr/>
        </p:nvSpPr>
        <p:spPr>
          <a:xfrm>
            <a:off x="2194710" y="746691"/>
            <a:ext cx="404072" cy="80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30" b="1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决策驾驶舱</a:t>
            </a:r>
            <a:endParaRPr lang="en-US" sz="530" dirty="0"/>
          </a:p>
        </p:txBody>
      </p:sp>
      <p:sp>
        <p:nvSpPr>
          <p:cNvPr id="17" name="Text 7"/>
          <p:cNvSpPr/>
          <p:nvPr/>
        </p:nvSpPr>
        <p:spPr>
          <a:xfrm>
            <a:off x="1857534" y="849954"/>
            <a:ext cx="1082913" cy="67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2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健康态势图 · 免疫热力图 · 信用风险图</a:t>
            </a:r>
            <a:endParaRPr lang="en-US" sz="424" dirty="0"/>
          </a:p>
        </p:txBody>
      </p:sp>
      <p:pic>
        <p:nvPicPr>
          <p:cNvPr id="1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82415" y="715264"/>
            <a:ext cx="1077525" cy="233464"/>
          </a:xfrm>
          <a:prstGeom prst="rect">
            <a:avLst/>
          </a:prstGeom>
        </p:spPr>
      </p:pic>
      <p:pic>
        <p:nvPicPr>
          <p:cNvPr id="1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37544" y="715264"/>
            <a:ext cx="1077525" cy="233464"/>
          </a:xfrm>
          <a:prstGeom prst="rect">
            <a:avLst/>
          </a:prstGeom>
        </p:spPr>
      </p:pic>
      <p:sp>
        <p:nvSpPr>
          <p:cNvPr id="20" name="Text 8"/>
          <p:cNvSpPr/>
          <p:nvPr/>
        </p:nvSpPr>
        <p:spPr>
          <a:xfrm>
            <a:off x="4699956" y="746691"/>
            <a:ext cx="242443" cy="80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30" b="1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网页端</a:t>
            </a:r>
            <a:endParaRPr lang="en-US" sz="530" dirty="0"/>
          </a:p>
        </p:txBody>
      </p:sp>
      <p:sp>
        <p:nvSpPr>
          <p:cNvPr id="21" name="Text 9"/>
          <p:cNvSpPr/>
          <p:nvPr/>
        </p:nvSpPr>
        <p:spPr>
          <a:xfrm>
            <a:off x="3501658" y="746691"/>
            <a:ext cx="344808" cy="85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66" b="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应急指挥</a:t>
            </a:r>
            <a:endParaRPr lang="en-US" sz="566" dirty="0"/>
          </a:p>
        </p:txBody>
      </p:sp>
      <p:sp>
        <p:nvSpPr>
          <p:cNvPr id="22" name="Text 10"/>
          <p:cNvSpPr/>
          <p:nvPr/>
        </p:nvSpPr>
        <p:spPr>
          <a:xfrm>
            <a:off x="4341230" y="849954"/>
            <a:ext cx="964385" cy="67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2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体检报告下载 · 安全等级证书查看</a:t>
            </a:r>
            <a:endParaRPr lang="en-US" sz="424" dirty="0"/>
          </a:p>
        </p:txBody>
      </p:sp>
      <p:sp>
        <p:nvSpPr>
          <p:cNvPr id="23" name="Text 11"/>
          <p:cNvSpPr/>
          <p:nvPr/>
        </p:nvSpPr>
        <p:spPr>
          <a:xfrm>
            <a:off x="3390314" y="849954"/>
            <a:ext cx="576476" cy="67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2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应急熔断 · 紧急隔离</a:t>
            </a:r>
            <a:endParaRPr lang="en-US" sz="424" dirty="0"/>
          </a:p>
        </p:txBody>
      </p:sp>
      <p:pic>
        <p:nvPicPr>
          <p:cNvPr id="2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27286" y="715264"/>
            <a:ext cx="1077525" cy="233464"/>
          </a:xfrm>
          <a:prstGeom prst="rect">
            <a:avLst/>
          </a:prstGeom>
        </p:spPr>
      </p:pic>
      <p:sp>
        <p:nvSpPr>
          <p:cNvPr id="25" name="Text 12"/>
          <p:cNvSpPr/>
          <p:nvPr/>
        </p:nvSpPr>
        <p:spPr>
          <a:xfrm>
            <a:off x="5847072" y="746691"/>
            <a:ext cx="242443" cy="80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30" b="1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移动端</a:t>
            </a:r>
            <a:endParaRPr lang="en-US" sz="530" dirty="0"/>
          </a:p>
        </p:txBody>
      </p:sp>
      <p:sp>
        <p:nvSpPr>
          <p:cNvPr id="26" name="Text 13"/>
          <p:cNvSpPr/>
          <p:nvPr/>
        </p:nvSpPr>
        <p:spPr>
          <a:xfrm>
            <a:off x="5680055" y="849954"/>
            <a:ext cx="576476" cy="67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2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告警推送 · 远程操作</a:t>
            </a:r>
            <a:endParaRPr lang="en-US" sz="424" dirty="0"/>
          </a:p>
        </p:txBody>
      </p:sp>
      <p:pic>
        <p:nvPicPr>
          <p:cNvPr id="2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72156" y="715264"/>
            <a:ext cx="1032628" cy="233464"/>
          </a:xfrm>
          <a:prstGeom prst="rect">
            <a:avLst/>
          </a:prstGeom>
        </p:spPr>
      </p:pic>
      <p:sp>
        <p:nvSpPr>
          <p:cNvPr id="28" name="Text 14"/>
          <p:cNvSpPr/>
          <p:nvPr/>
        </p:nvSpPr>
        <p:spPr>
          <a:xfrm>
            <a:off x="6926842" y="746691"/>
            <a:ext cx="323258" cy="80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30" b="1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服务门户</a:t>
            </a:r>
            <a:endParaRPr lang="en-US" sz="530" dirty="0"/>
          </a:p>
        </p:txBody>
      </p:sp>
      <p:sp>
        <p:nvSpPr>
          <p:cNvPr id="29" name="Text 15"/>
          <p:cNvSpPr/>
          <p:nvPr/>
        </p:nvSpPr>
        <p:spPr>
          <a:xfrm>
            <a:off x="6797539" y="849954"/>
            <a:ext cx="581864" cy="67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2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客户接入与对外服务</a:t>
            </a:r>
            <a:endParaRPr lang="en-US" sz="424" dirty="0"/>
          </a:p>
        </p:txBody>
      </p:sp>
      <p:pic>
        <p:nvPicPr>
          <p:cNvPr id="30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633499" y="1047501"/>
            <a:ext cx="6038632" cy="538763"/>
          </a:xfrm>
          <a:prstGeom prst="rect">
            <a:avLst/>
          </a:prstGeom>
        </p:spPr>
      </p:pic>
      <p:pic>
        <p:nvPicPr>
          <p:cNvPr id="31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714313" y="1110356"/>
            <a:ext cx="1436700" cy="413051"/>
          </a:xfrm>
          <a:prstGeom prst="rect">
            <a:avLst/>
          </a:prstGeom>
        </p:spPr>
      </p:pic>
      <p:sp>
        <p:nvSpPr>
          <p:cNvPr id="32" name="Text 16"/>
          <p:cNvSpPr/>
          <p:nvPr/>
        </p:nvSpPr>
        <p:spPr>
          <a:xfrm>
            <a:off x="2273728" y="1155253"/>
            <a:ext cx="317870" cy="98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636" b="1" dirty="0">
                <a:solidFill>
                  <a:srgbClr val="1A36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🩺 体检</a:t>
            </a:r>
            <a:endParaRPr lang="en-US" sz="636" dirty="0"/>
          </a:p>
        </p:txBody>
      </p:sp>
      <p:sp>
        <p:nvSpPr>
          <p:cNvPr id="33" name="Text 17"/>
          <p:cNvSpPr/>
          <p:nvPr/>
        </p:nvSpPr>
        <p:spPr>
          <a:xfrm>
            <a:off x="2187526" y="1285454"/>
            <a:ext cx="490274" cy="71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6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发现智能体问题</a:t>
            </a:r>
            <a:endParaRPr lang="en-US" sz="460" dirty="0"/>
          </a:p>
        </p:txBody>
      </p:sp>
      <p:sp>
        <p:nvSpPr>
          <p:cNvPr id="34" name="Text 18"/>
          <p:cNvSpPr/>
          <p:nvPr/>
        </p:nvSpPr>
        <p:spPr>
          <a:xfrm>
            <a:off x="1891207" y="1406676"/>
            <a:ext cx="1082913" cy="67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2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上线前打分 · 运行中观察 · 分析与报告</a:t>
            </a:r>
            <a:endParaRPr lang="en-US" sz="424" dirty="0"/>
          </a:p>
        </p:txBody>
      </p:sp>
      <p:pic>
        <p:nvPicPr>
          <p:cNvPr id="35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204890" y="1110356"/>
            <a:ext cx="1436700" cy="413051"/>
          </a:xfrm>
          <a:prstGeom prst="rect">
            <a:avLst/>
          </a:prstGeom>
        </p:spPr>
      </p:pic>
      <p:sp>
        <p:nvSpPr>
          <p:cNvPr id="36" name="Text 19"/>
          <p:cNvSpPr/>
          <p:nvPr/>
        </p:nvSpPr>
        <p:spPr>
          <a:xfrm rot="-10800000">
            <a:off x="3870262" y="1254026"/>
            <a:ext cx="96977" cy="80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636" b="1" dirty="0">
                <a:solidFill>
                  <a:srgbClr val="1A36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💉</a:t>
            </a:r>
            <a:endParaRPr lang="en-US" sz="636" dirty="0"/>
          </a:p>
        </p:txBody>
      </p:sp>
      <p:sp>
        <p:nvSpPr>
          <p:cNvPr id="37" name="Text 20"/>
          <p:cNvSpPr/>
          <p:nvPr/>
        </p:nvSpPr>
        <p:spPr>
          <a:xfrm>
            <a:off x="3889118" y="1155253"/>
            <a:ext cx="193955" cy="98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636" b="1" dirty="0">
                <a:solidFill>
                  <a:srgbClr val="1A36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治疗</a:t>
            </a:r>
            <a:endParaRPr lang="en-US" sz="636" dirty="0"/>
          </a:p>
        </p:txBody>
      </p:sp>
      <p:sp>
        <p:nvSpPr>
          <p:cNvPr id="38" name="Text 21"/>
          <p:cNvSpPr/>
          <p:nvPr/>
        </p:nvSpPr>
        <p:spPr>
          <a:xfrm>
            <a:off x="3678103" y="1285454"/>
            <a:ext cx="490274" cy="71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6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使智能体更健康</a:t>
            </a:r>
            <a:endParaRPr lang="en-US" sz="460" dirty="0"/>
          </a:p>
        </p:txBody>
      </p:sp>
      <p:sp>
        <p:nvSpPr>
          <p:cNvPr id="39" name="Text 22"/>
          <p:cNvSpPr/>
          <p:nvPr/>
        </p:nvSpPr>
        <p:spPr>
          <a:xfrm>
            <a:off x="3554187" y="1406676"/>
            <a:ext cx="738105" cy="67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2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卫士 · AI 疫苗 · AI 进化</a:t>
            </a:r>
            <a:endParaRPr lang="en-US" sz="424" dirty="0"/>
          </a:p>
        </p:txBody>
      </p:sp>
      <p:pic>
        <p:nvPicPr>
          <p:cNvPr id="40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695466" y="1110356"/>
            <a:ext cx="1436700" cy="413051"/>
          </a:xfrm>
          <a:prstGeom prst="rect">
            <a:avLst/>
          </a:prstGeom>
        </p:spPr>
      </p:pic>
      <p:sp>
        <p:nvSpPr>
          <p:cNvPr id="41" name="Text 23"/>
          <p:cNvSpPr/>
          <p:nvPr/>
        </p:nvSpPr>
        <p:spPr>
          <a:xfrm>
            <a:off x="5254882" y="1155253"/>
            <a:ext cx="317870" cy="98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636" b="1" dirty="0">
                <a:solidFill>
                  <a:srgbClr val="1A36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⚖️ 秩序</a:t>
            </a:r>
            <a:endParaRPr lang="en-US" sz="636" dirty="0"/>
          </a:p>
        </p:txBody>
      </p:sp>
      <p:sp>
        <p:nvSpPr>
          <p:cNvPr id="42" name="Text 24"/>
          <p:cNvSpPr/>
          <p:nvPr/>
        </p:nvSpPr>
        <p:spPr>
          <a:xfrm>
            <a:off x="5168680" y="1285454"/>
            <a:ext cx="490274" cy="71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6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让智能体守规矩</a:t>
            </a:r>
            <a:endParaRPr lang="en-US" sz="460" dirty="0"/>
          </a:p>
        </p:txBody>
      </p:sp>
      <p:sp>
        <p:nvSpPr>
          <p:cNvPr id="43" name="Text 25"/>
          <p:cNvSpPr/>
          <p:nvPr/>
        </p:nvSpPr>
        <p:spPr>
          <a:xfrm>
            <a:off x="4969337" y="1406676"/>
            <a:ext cx="888958" cy="67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2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规范运行 · 信用评级 · 动态治理</a:t>
            </a:r>
            <a:endParaRPr lang="en-US" sz="424" dirty="0"/>
          </a:p>
        </p:txBody>
      </p:sp>
      <p:pic>
        <p:nvPicPr>
          <p:cNvPr id="44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186043" y="1110356"/>
            <a:ext cx="1436700" cy="413051"/>
          </a:xfrm>
          <a:prstGeom prst="rect">
            <a:avLst/>
          </a:prstGeom>
        </p:spPr>
      </p:pic>
      <p:sp>
        <p:nvSpPr>
          <p:cNvPr id="45" name="Text 26"/>
          <p:cNvSpPr/>
          <p:nvPr/>
        </p:nvSpPr>
        <p:spPr>
          <a:xfrm>
            <a:off x="6745458" y="1155253"/>
            <a:ext cx="317870" cy="98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636" b="1" dirty="0">
                <a:solidFill>
                  <a:srgbClr val="1A36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📊 管理</a:t>
            </a:r>
            <a:endParaRPr lang="en-US" sz="636" dirty="0"/>
          </a:p>
        </p:txBody>
      </p:sp>
      <p:sp>
        <p:nvSpPr>
          <p:cNvPr id="46" name="Text 27"/>
          <p:cNvSpPr/>
          <p:nvPr/>
        </p:nvSpPr>
        <p:spPr>
          <a:xfrm>
            <a:off x="6589217" y="1285454"/>
            <a:ext cx="630352" cy="71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6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让健康秩序一览无余</a:t>
            </a:r>
            <a:endParaRPr lang="en-US" sz="460" dirty="0"/>
          </a:p>
        </p:txBody>
      </p:sp>
      <p:sp>
        <p:nvSpPr>
          <p:cNvPr id="47" name="Text 28"/>
          <p:cNvSpPr/>
          <p:nvPr/>
        </p:nvSpPr>
        <p:spPr>
          <a:xfrm>
            <a:off x="6459914" y="1406676"/>
            <a:ext cx="888958" cy="67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2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统筹管理 · 运营分析 · 决策支持</a:t>
            </a:r>
            <a:endParaRPr lang="en-US" sz="424" dirty="0"/>
          </a:p>
        </p:txBody>
      </p:sp>
      <p:pic>
        <p:nvPicPr>
          <p:cNvPr id="48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633499" y="1613201"/>
            <a:ext cx="6038632" cy="1661185"/>
          </a:xfrm>
          <a:prstGeom prst="rect">
            <a:avLst/>
          </a:prstGeom>
        </p:spPr>
      </p:pic>
      <p:pic>
        <p:nvPicPr>
          <p:cNvPr id="49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714313" y="1685036"/>
            <a:ext cx="1436700" cy="1526494"/>
          </a:xfrm>
          <a:prstGeom prst="rect">
            <a:avLst/>
          </a:prstGeom>
        </p:spPr>
      </p:pic>
      <p:pic>
        <p:nvPicPr>
          <p:cNvPr id="50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714313" y="1685036"/>
            <a:ext cx="1436700" cy="269381"/>
          </a:xfrm>
          <a:prstGeom prst="rect">
            <a:avLst/>
          </a:prstGeom>
        </p:spPr>
      </p:pic>
      <p:sp>
        <p:nvSpPr>
          <p:cNvPr id="51" name="Text 29"/>
          <p:cNvSpPr/>
          <p:nvPr/>
        </p:nvSpPr>
        <p:spPr>
          <a:xfrm>
            <a:off x="2217158" y="1720954"/>
            <a:ext cx="431010" cy="107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70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体检中心</a:t>
            </a:r>
            <a:endParaRPr lang="en-US" sz="707" dirty="0"/>
          </a:p>
        </p:txBody>
      </p:sp>
      <p:sp>
        <p:nvSpPr>
          <p:cNvPr id="52" name="Text 30"/>
          <p:cNvSpPr/>
          <p:nvPr/>
        </p:nvSpPr>
        <p:spPr>
          <a:xfrm>
            <a:off x="2192914" y="1842176"/>
            <a:ext cx="479499" cy="71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早发现 · 早预警</a:t>
            </a:r>
            <a:endParaRPr lang="en-US" sz="460" dirty="0"/>
          </a:p>
        </p:txBody>
      </p:sp>
      <p:pic>
        <p:nvPicPr>
          <p:cNvPr id="53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804107" y="2017273"/>
            <a:ext cx="1257113" cy="170608"/>
          </a:xfrm>
          <a:prstGeom prst="rect">
            <a:avLst/>
          </a:prstGeom>
        </p:spPr>
      </p:pic>
      <p:sp>
        <p:nvSpPr>
          <p:cNvPr id="54" name="Text 31"/>
          <p:cNvSpPr/>
          <p:nvPr/>
        </p:nvSpPr>
        <p:spPr>
          <a:xfrm>
            <a:off x="2093243" y="2062170"/>
            <a:ext cx="678841" cy="76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95" b="1" dirty="0">
                <a:solidFill>
                  <a:srgbClr val="1A36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全周期评测标准建设</a:t>
            </a:r>
            <a:endParaRPr lang="en-US" sz="495" dirty="0"/>
          </a:p>
        </p:txBody>
      </p:sp>
      <p:pic>
        <p:nvPicPr>
          <p:cNvPr id="55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804107" y="2223799"/>
            <a:ext cx="1257113" cy="170608"/>
          </a:xfrm>
          <a:prstGeom prst="rect">
            <a:avLst/>
          </a:prstGeom>
        </p:spPr>
      </p:pic>
      <p:sp>
        <p:nvSpPr>
          <p:cNvPr id="56" name="Text 32"/>
          <p:cNvSpPr/>
          <p:nvPr/>
        </p:nvSpPr>
        <p:spPr>
          <a:xfrm>
            <a:off x="2093243" y="2268696"/>
            <a:ext cx="678841" cy="76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95" b="1" dirty="0">
                <a:solidFill>
                  <a:srgbClr val="1A36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全方位评测标准建设</a:t>
            </a:r>
            <a:endParaRPr lang="en-US" sz="495" dirty="0"/>
          </a:p>
        </p:txBody>
      </p:sp>
      <p:pic>
        <p:nvPicPr>
          <p:cNvPr id="57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804107" y="2439304"/>
            <a:ext cx="606108" cy="682433"/>
          </a:xfrm>
          <a:prstGeom prst="rect">
            <a:avLst/>
          </a:prstGeom>
        </p:spPr>
      </p:pic>
      <p:sp>
        <p:nvSpPr>
          <p:cNvPr id="58" name="Text 33"/>
          <p:cNvSpPr/>
          <p:nvPr/>
        </p:nvSpPr>
        <p:spPr>
          <a:xfrm>
            <a:off x="1956307" y="2511139"/>
            <a:ext cx="301707" cy="76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95" b="1" dirty="0">
                <a:solidFill>
                  <a:srgbClr val="1A36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静态受控</a:t>
            </a:r>
            <a:endParaRPr lang="en-US" sz="495" dirty="0"/>
          </a:p>
        </p:txBody>
      </p:sp>
      <p:sp>
        <p:nvSpPr>
          <p:cNvPr id="59" name="Text 34"/>
          <p:cNvSpPr/>
          <p:nvPr/>
        </p:nvSpPr>
        <p:spPr>
          <a:xfrm>
            <a:off x="1956307" y="2600933"/>
            <a:ext cx="301707" cy="76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95" b="1" dirty="0">
                <a:solidFill>
                  <a:srgbClr val="1A36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环境评测</a:t>
            </a:r>
            <a:endParaRPr lang="en-US" sz="495" dirty="0"/>
          </a:p>
        </p:txBody>
      </p:sp>
      <p:sp>
        <p:nvSpPr>
          <p:cNvPr id="60" name="Text 35"/>
          <p:cNvSpPr/>
          <p:nvPr/>
        </p:nvSpPr>
        <p:spPr>
          <a:xfrm>
            <a:off x="1926675" y="2798479"/>
            <a:ext cx="360971" cy="67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2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基线 → 测试</a:t>
            </a:r>
            <a:endParaRPr lang="en-US" sz="424" dirty="0"/>
          </a:p>
        </p:txBody>
      </p:sp>
      <p:sp>
        <p:nvSpPr>
          <p:cNvPr id="61" name="Text 36"/>
          <p:cNvSpPr/>
          <p:nvPr/>
        </p:nvSpPr>
        <p:spPr>
          <a:xfrm>
            <a:off x="1926675" y="2888273"/>
            <a:ext cx="360971" cy="67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2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评分 → 报告</a:t>
            </a:r>
            <a:endParaRPr lang="en-US" sz="424" dirty="0"/>
          </a:p>
        </p:txBody>
      </p:sp>
      <p:pic>
        <p:nvPicPr>
          <p:cNvPr id="62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455112" y="2439304"/>
            <a:ext cx="606108" cy="682433"/>
          </a:xfrm>
          <a:prstGeom prst="rect">
            <a:avLst/>
          </a:prstGeom>
        </p:spPr>
      </p:pic>
      <p:sp>
        <p:nvSpPr>
          <p:cNvPr id="63" name="Text 37"/>
          <p:cNvSpPr/>
          <p:nvPr/>
        </p:nvSpPr>
        <p:spPr>
          <a:xfrm>
            <a:off x="2607312" y="2511139"/>
            <a:ext cx="301707" cy="76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95" b="1" dirty="0">
                <a:solidFill>
                  <a:srgbClr val="1A36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动态生产</a:t>
            </a:r>
            <a:endParaRPr lang="en-US" sz="495" dirty="0"/>
          </a:p>
        </p:txBody>
      </p:sp>
      <p:sp>
        <p:nvSpPr>
          <p:cNvPr id="64" name="Text 38"/>
          <p:cNvSpPr/>
          <p:nvPr/>
        </p:nvSpPr>
        <p:spPr>
          <a:xfrm>
            <a:off x="2607312" y="2600933"/>
            <a:ext cx="301707" cy="76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95" b="1" dirty="0">
                <a:solidFill>
                  <a:srgbClr val="1A36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环境监测</a:t>
            </a:r>
            <a:endParaRPr lang="en-US" sz="495" dirty="0"/>
          </a:p>
        </p:txBody>
      </p:sp>
      <p:sp>
        <p:nvSpPr>
          <p:cNvPr id="65" name="Text 39"/>
          <p:cNvSpPr/>
          <p:nvPr/>
        </p:nvSpPr>
        <p:spPr>
          <a:xfrm>
            <a:off x="2577680" y="2798479"/>
            <a:ext cx="360971" cy="67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2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采集 → 告警</a:t>
            </a:r>
            <a:endParaRPr lang="en-US" sz="424" dirty="0"/>
          </a:p>
        </p:txBody>
      </p:sp>
      <p:sp>
        <p:nvSpPr>
          <p:cNvPr id="66" name="Text 40"/>
          <p:cNvSpPr/>
          <p:nvPr/>
        </p:nvSpPr>
        <p:spPr>
          <a:xfrm>
            <a:off x="2577680" y="2888273"/>
            <a:ext cx="360971" cy="67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2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分析 → 处置</a:t>
            </a:r>
            <a:endParaRPr lang="en-US" sz="424" dirty="0"/>
          </a:p>
        </p:txBody>
      </p:sp>
      <p:pic>
        <p:nvPicPr>
          <p:cNvPr id="67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204890" y="1685036"/>
            <a:ext cx="1436700" cy="1526494"/>
          </a:xfrm>
          <a:prstGeom prst="rect">
            <a:avLst/>
          </a:prstGeom>
        </p:spPr>
      </p:pic>
      <p:pic>
        <p:nvPicPr>
          <p:cNvPr id="68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204890" y="1685036"/>
            <a:ext cx="1436700" cy="269381"/>
          </a:xfrm>
          <a:prstGeom prst="rect">
            <a:avLst/>
          </a:prstGeom>
        </p:spPr>
      </p:pic>
      <p:sp>
        <p:nvSpPr>
          <p:cNvPr id="69" name="Text 41"/>
          <p:cNvSpPr/>
          <p:nvPr/>
        </p:nvSpPr>
        <p:spPr>
          <a:xfrm>
            <a:off x="3707735" y="1720954"/>
            <a:ext cx="431010" cy="107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70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病毒中心</a:t>
            </a:r>
            <a:endParaRPr lang="en-US" sz="707" dirty="0"/>
          </a:p>
        </p:txBody>
      </p:sp>
      <p:sp>
        <p:nvSpPr>
          <p:cNvPr id="70" name="Text 42"/>
          <p:cNvSpPr/>
          <p:nvPr/>
        </p:nvSpPr>
        <p:spPr>
          <a:xfrm>
            <a:off x="3653859" y="1842176"/>
            <a:ext cx="538763" cy="71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识别 · 合成 · 迭代</a:t>
            </a:r>
            <a:endParaRPr lang="en-US" sz="460" dirty="0"/>
          </a:p>
        </p:txBody>
      </p:sp>
      <p:pic>
        <p:nvPicPr>
          <p:cNvPr id="71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294683" y="2017273"/>
            <a:ext cx="1257113" cy="170608"/>
          </a:xfrm>
          <a:prstGeom prst="rect">
            <a:avLst/>
          </a:prstGeom>
        </p:spPr>
      </p:pic>
      <p:sp>
        <p:nvSpPr>
          <p:cNvPr id="72" name="Text 43"/>
          <p:cNvSpPr/>
          <p:nvPr/>
        </p:nvSpPr>
        <p:spPr>
          <a:xfrm>
            <a:off x="3583819" y="2062170"/>
            <a:ext cx="678841" cy="76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95" b="1" dirty="0">
                <a:solidFill>
                  <a:srgbClr val="2254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特征分析与判定模型</a:t>
            </a:r>
            <a:endParaRPr lang="en-US" sz="495" dirty="0"/>
          </a:p>
        </p:txBody>
      </p:sp>
      <p:pic>
        <p:nvPicPr>
          <p:cNvPr id="73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294683" y="2223799"/>
            <a:ext cx="606108" cy="493866"/>
          </a:xfrm>
          <a:prstGeom prst="rect">
            <a:avLst/>
          </a:prstGeom>
        </p:spPr>
      </p:pic>
      <p:sp>
        <p:nvSpPr>
          <p:cNvPr id="74" name="Text 44"/>
          <p:cNvSpPr/>
          <p:nvPr/>
        </p:nvSpPr>
        <p:spPr>
          <a:xfrm>
            <a:off x="3409171" y="2322572"/>
            <a:ext cx="377134" cy="76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95" b="1" dirty="0">
                <a:solidFill>
                  <a:srgbClr val="2254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自然样本库</a:t>
            </a:r>
            <a:endParaRPr lang="en-US" sz="495" dirty="0"/>
          </a:p>
        </p:txBody>
      </p:sp>
      <p:sp>
        <p:nvSpPr>
          <p:cNvPr id="75" name="Text 45"/>
          <p:cNvSpPr/>
          <p:nvPr/>
        </p:nvSpPr>
        <p:spPr>
          <a:xfrm>
            <a:off x="3417252" y="2511139"/>
            <a:ext cx="360971" cy="67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2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采集 → 标注</a:t>
            </a:r>
            <a:endParaRPr lang="en-US" sz="424" dirty="0"/>
          </a:p>
        </p:txBody>
      </p:sp>
      <p:pic>
        <p:nvPicPr>
          <p:cNvPr id="76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3945688" y="2223799"/>
            <a:ext cx="606108" cy="493866"/>
          </a:xfrm>
          <a:prstGeom prst="rect">
            <a:avLst/>
          </a:prstGeom>
        </p:spPr>
      </p:pic>
      <p:sp>
        <p:nvSpPr>
          <p:cNvPr id="77" name="Text 46"/>
          <p:cNvSpPr/>
          <p:nvPr/>
        </p:nvSpPr>
        <p:spPr>
          <a:xfrm>
            <a:off x="4060175" y="2322572"/>
            <a:ext cx="377134" cy="76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95" b="1" dirty="0">
                <a:solidFill>
                  <a:srgbClr val="2254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合成样本库</a:t>
            </a:r>
            <a:endParaRPr lang="en-US" sz="495" dirty="0"/>
          </a:p>
        </p:txBody>
      </p:sp>
      <p:sp>
        <p:nvSpPr>
          <p:cNvPr id="78" name="Text 47"/>
          <p:cNvSpPr/>
          <p:nvPr/>
        </p:nvSpPr>
        <p:spPr>
          <a:xfrm>
            <a:off x="4068257" y="2511139"/>
            <a:ext cx="360971" cy="67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2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生成 → 扩增</a:t>
            </a:r>
            <a:endParaRPr lang="en-US" sz="424" dirty="0"/>
          </a:p>
        </p:txBody>
      </p:sp>
      <p:pic>
        <p:nvPicPr>
          <p:cNvPr id="79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3294683" y="2762562"/>
            <a:ext cx="1257113" cy="359175"/>
          </a:xfrm>
          <a:prstGeom prst="rect">
            <a:avLst/>
          </a:prstGeom>
        </p:spPr>
      </p:pic>
      <p:sp>
        <p:nvSpPr>
          <p:cNvPr id="80" name="Text 48"/>
          <p:cNvSpPr/>
          <p:nvPr/>
        </p:nvSpPr>
        <p:spPr>
          <a:xfrm>
            <a:off x="3462598" y="2906232"/>
            <a:ext cx="921284" cy="76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95" b="1" dirty="0">
                <a:solidFill>
                  <a:srgbClr val="2254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演练靶场（幻境 NovoOS）</a:t>
            </a:r>
            <a:endParaRPr lang="en-US" sz="495" dirty="0"/>
          </a:p>
        </p:txBody>
      </p:sp>
      <p:pic>
        <p:nvPicPr>
          <p:cNvPr id="81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4695466" y="1685036"/>
            <a:ext cx="1436700" cy="1526494"/>
          </a:xfrm>
          <a:prstGeom prst="rect">
            <a:avLst/>
          </a:prstGeom>
        </p:spPr>
      </p:pic>
      <p:pic>
        <p:nvPicPr>
          <p:cNvPr id="82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4695466" y="1685036"/>
            <a:ext cx="1436700" cy="269381"/>
          </a:xfrm>
          <a:prstGeom prst="rect">
            <a:avLst/>
          </a:prstGeom>
        </p:spPr>
      </p:pic>
      <p:sp>
        <p:nvSpPr>
          <p:cNvPr id="83" name="Text 49"/>
          <p:cNvSpPr/>
          <p:nvPr/>
        </p:nvSpPr>
        <p:spPr>
          <a:xfrm>
            <a:off x="5198312" y="1720954"/>
            <a:ext cx="431010" cy="107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70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疫苗中心</a:t>
            </a:r>
            <a:endParaRPr lang="en-US" sz="707" dirty="0"/>
          </a:p>
        </p:txBody>
      </p:sp>
      <p:sp>
        <p:nvSpPr>
          <p:cNvPr id="84" name="Text 50"/>
          <p:cNvSpPr/>
          <p:nvPr/>
        </p:nvSpPr>
        <p:spPr>
          <a:xfrm>
            <a:off x="5144435" y="1842176"/>
            <a:ext cx="538763" cy="71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预防 · 治疗 · 免疫</a:t>
            </a:r>
            <a:endParaRPr lang="en-US" sz="460" dirty="0"/>
          </a:p>
        </p:txBody>
      </p:sp>
      <p:pic>
        <p:nvPicPr>
          <p:cNvPr id="85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4785260" y="2017273"/>
            <a:ext cx="1257113" cy="170608"/>
          </a:xfrm>
          <a:prstGeom prst="rect">
            <a:avLst/>
          </a:prstGeom>
        </p:spPr>
      </p:pic>
      <p:sp>
        <p:nvSpPr>
          <p:cNvPr id="86" name="Text 51"/>
          <p:cNvSpPr/>
          <p:nvPr/>
        </p:nvSpPr>
        <p:spPr>
          <a:xfrm>
            <a:off x="5187536" y="2062170"/>
            <a:ext cx="452561" cy="76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95" b="1" dirty="0">
                <a:solidFill>
                  <a:srgbClr val="7B34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疫苗免疫模型</a:t>
            </a:r>
            <a:endParaRPr lang="en-US" sz="495" dirty="0"/>
          </a:p>
        </p:txBody>
      </p:sp>
      <p:pic>
        <p:nvPicPr>
          <p:cNvPr id="87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785260" y="2241758"/>
            <a:ext cx="606108" cy="413051"/>
          </a:xfrm>
          <a:prstGeom prst="rect">
            <a:avLst/>
          </a:prstGeom>
        </p:spPr>
      </p:pic>
      <p:sp>
        <p:nvSpPr>
          <p:cNvPr id="88" name="Text 52"/>
          <p:cNvSpPr/>
          <p:nvPr/>
        </p:nvSpPr>
        <p:spPr>
          <a:xfrm>
            <a:off x="4937461" y="2376449"/>
            <a:ext cx="301707" cy="76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95" b="1" dirty="0">
                <a:solidFill>
                  <a:srgbClr val="7B34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高维特征</a:t>
            </a:r>
            <a:endParaRPr lang="en-US" sz="495" dirty="0"/>
          </a:p>
        </p:txBody>
      </p:sp>
      <p:sp>
        <p:nvSpPr>
          <p:cNvPr id="89" name="Text 53"/>
          <p:cNvSpPr/>
          <p:nvPr/>
        </p:nvSpPr>
        <p:spPr>
          <a:xfrm>
            <a:off x="5012887" y="2466242"/>
            <a:ext cx="150854" cy="76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95" b="1" dirty="0">
                <a:solidFill>
                  <a:srgbClr val="7B34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提取</a:t>
            </a:r>
            <a:endParaRPr lang="en-US" sz="495" dirty="0"/>
          </a:p>
        </p:txBody>
      </p:sp>
      <p:pic>
        <p:nvPicPr>
          <p:cNvPr id="90" name="Image 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5436265" y="2241758"/>
            <a:ext cx="606108" cy="413051"/>
          </a:xfrm>
          <a:prstGeom prst="rect">
            <a:avLst/>
          </a:prstGeom>
        </p:spPr>
      </p:pic>
      <p:sp>
        <p:nvSpPr>
          <p:cNvPr id="91" name="Text 54"/>
          <p:cNvSpPr/>
          <p:nvPr/>
        </p:nvSpPr>
        <p:spPr>
          <a:xfrm>
            <a:off x="5588466" y="2376449"/>
            <a:ext cx="301707" cy="76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95" b="1" dirty="0">
                <a:solidFill>
                  <a:srgbClr val="7B34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自主进化</a:t>
            </a:r>
            <a:endParaRPr lang="en-US" sz="495" dirty="0"/>
          </a:p>
        </p:txBody>
      </p:sp>
      <p:sp>
        <p:nvSpPr>
          <p:cNvPr id="92" name="Text 55"/>
          <p:cNvSpPr/>
          <p:nvPr/>
        </p:nvSpPr>
        <p:spPr>
          <a:xfrm>
            <a:off x="5663892" y="2466242"/>
            <a:ext cx="150854" cy="76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95" b="1" dirty="0">
                <a:solidFill>
                  <a:srgbClr val="7B34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引擎</a:t>
            </a:r>
            <a:endParaRPr lang="en-US" sz="495" dirty="0"/>
          </a:p>
        </p:txBody>
      </p:sp>
      <p:pic>
        <p:nvPicPr>
          <p:cNvPr id="93" name="Image 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4785260" y="2699706"/>
            <a:ext cx="606108" cy="413051"/>
          </a:xfrm>
          <a:prstGeom prst="rect">
            <a:avLst/>
          </a:prstGeom>
        </p:spPr>
      </p:pic>
      <p:sp>
        <p:nvSpPr>
          <p:cNvPr id="94" name="Text 56"/>
          <p:cNvSpPr/>
          <p:nvPr/>
        </p:nvSpPr>
        <p:spPr>
          <a:xfrm>
            <a:off x="4937461" y="2834397"/>
            <a:ext cx="301707" cy="76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95" b="1" dirty="0">
                <a:solidFill>
                  <a:srgbClr val="7B34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疫苗实时</a:t>
            </a:r>
            <a:endParaRPr lang="en-US" sz="495" dirty="0"/>
          </a:p>
        </p:txBody>
      </p:sp>
      <p:sp>
        <p:nvSpPr>
          <p:cNvPr id="95" name="Text 57"/>
          <p:cNvSpPr/>
          <p:nvPr/>
        </p:nvSpPr>
        <p:spPr>
          <a:xfrm>
            <a:off x="5012887" y="2924191"/>
            <a:ext cx="150854" cy="76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95" b="1" dirty="0">
                <a:solidFill>
                  <a:srgbClr val="7B34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分发</a:t>
            </a:r>
            <a:endParaRPr lang="en-US" sz="495" dirty="0"/>
          </a:p>
        </p:txBody>
      </p:sp>
      <p:pic>
        <p:nvPicPr>
          <p:cNvPr id="96" name="Image 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5436265" y="2699706"/>
            <a:ext cx="606108" cy="413051"/>
          </a:xfrm>
          <a:prstGeom prst="rect">
            <a:avLst/>
          </a:prstGeom>
        </p:spPr>
      </p:pic>
      <p:sp>
        <p:nvSpPr>
          <p:cNvPr id="97" name="Text 58"/>
          <p:cNvSpPr/>
          <p:nvPr/>
        </p:nvSpPr>
        <p:spPr>
          <a:xfrm>
            <a:off x="5588466" y="2834397"/>
            <a:ext cx="301707" cy="76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95" b="1" dirty="0">
                <a:solidFill>
                  <a:srgbClr val="7B34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闭环验证</a:t>
            </a:r>
            <a:endParaRPr lang="en-US" sz="495" dirty="0"/>
          </a:p>
        </p:txBody>
      </p:sp>
      <p:sp>
        <p:nvSpPr>
          <p:cNvPr id="98" name="Text 59"/>
          <p:cNvSpPr/>
          <p:nvPr/>
        </p:nvSpPr>
        <p:spPr>
          <a:xfrm>
            <a:off x="5663892" y="2924191"/>
            <a:ext cx="150854" cy="76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95" b="1" dirty="0">
                <a:solidFill>
                  <a:srgbClr val="7B34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迭代</a:t>
            </a:r>
            <a:endParaRPr lang="en-US" sz="495" dirty="0"/>
          </a:p>
        </p:txBody>
      </p:sp>
      <p:pic>
        <p:nvPicPr>
          <p:cNvPr id="99" name="Image 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6186043" y="1685036"/>
            <a:ext cx="1436700" cy="1526494"/>
          </a:xfrm>
          <a:prstGeom prst="rect">
            <a:avLst/>
          </a:prstGeom>
        </p:spPr>
      </p:pic>
      <p:pic>
        <p:nvPicPr>
          <p:cNvPr id="100" name="Image 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6186043" y="1685036"/>
            <a:ext cx="1436700" cy="269381"/>
          </a:xfrm>
          <a:prstGeom prst="rect">
            <a:avLst/>
          </a:prstGeom>
        </p:spPr>
      </p:pic>
      <p:sp>
        <p:nvSpPr>
          <p:cNvPr id="101" name="Text 60"/>
          <p:cNvSpPr/>
          <p:nvPr/>
        </p:nvSpPr>
        <p:spPr>
          <a:xfrm>
            <a:off x="6688888" y="1720954"/>
            <a:ext cx="431010" cy="107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70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信用中心</a:t>
            </a:r>
            <a:endParaRPr lang="en-US" sz="707" dirty="0"/>
          </a:p>
        </p:txBody>
      </p:sp>
      <p:sp>
        <p:nvSpPr>
          <p:cNvPr id="102" name="Text 61"/>
          <p:cNvSpPr/>
          <p:nvPr/>
        </p:nvSpPr>
        <p:spPr>
          <a:xfrm>
            <a:off x="6635012" y="1842176"/>
            <a:ext cx="538763" cy="71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认证 · 评级 · 治理</a:t>
            </a:r>
            <a:endParaRPr lang="en-US" sz="460" dirty="0"/>
          </a:p>
        </p:txBody>
      </p:sp>
      <p:pic>
        <p:nvPicPr>
          <p:cNvPr id="103" name="Image 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1633499" y="3301324"/>
            <a:ext cx="6038632" cy="359175"/>
          </a:xfrm>
          <a:prstGeom prst="rect">
            <a:avLst/>
          </a:prstGeom>
        </p:spPr>
      </p:pic>
      <p:pic>
        <p:nvPicPr>
          <p:cNvPr id="104" name="Image 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1723292" y="3409077"/>
            <a:ext cx="1409214" cy="143670"/>
          </a:xfrm>
          <a:prstGeom prst="rect">
            <a:avLst/>
          </a:prstGeom>
        </p:spPr>
      </p:pic>
      <p:sp>
        <p:nvSpPr>
          <p:cNvPr id="105" name="Text 62"/>
          <p:cNvSpPr/>
          <p:nvPr/>
        </p:nvSpPr>
        <p:spPr>
          <a:xfrm>
            <a:off x="2060917" y="3444995"/>
            <a:ext cx="797369" cy="76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95" b="1" dirty="0">
                <a:solidFill>
                  <a:srgbClr val="7B34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熠序智连（NovoLink）</a:t>
            </a:r>
            <a:endParaRPr lang="en-US" sz="495" dirty="0"/>
          </a:p>
        </p:txBody>
      </p:sp>
      <p:pic>
        <p:nvPicPr>
          <p:cNvPr id="106" name="Image 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3199611" y="3409077"/>
            <a:ext cx="1442767" cy="143670"/>
          </a:xfrm>
          <a:prstGeom prst="rect">
            <a:avLst/>
          </a:prstGeom>
        </p:spPr>
      </p:pic>
      <p:sp>
        <p:nvSpPr>
          <p:cNvPr id="107" name="Text 63"/>
          <p:cNvSpPr/>
          <p:nvPr/>
        </p:nvSpPr>
        <p:spPr>
          <a:xfrm>
            <a:off x="3339580" y="3440505"/>
            <a:ext cx="1293030" cy="76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95" b="1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智能体协议（A2A / MCP / ANP）</a:t>
            </a:r>
            <a:endParaRPr lang="en-US" sz="495" dirty="0"/>
          </a:p>
        </p:txBody>
      </p:sp>
      <p:pic>
        <p:nvPicPr>
          <p:cNvPr id="108" name="Image 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4709484" y="3409077"/>
            <a:ext cx="1409214" cy="143670"/>
          </a:xfrm>
          <a:prstGeom prst="rect">
            <a:avLst/>
          </a:prstGeom>
        </p:spPr>
      </p:pic>
      <p:pic>
        <p:nvPicPr>
          <p:cNvPr id="109" name="Image 43" descr="preencoded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6195023" y="3409077"/>
            <a:ext cx="1409214" cy="143670"/>
          </a:xfrm>
          <a:prstGeom prst="rect">
            <a:avLst/>
          </a:prstGeom>
        </p:spPr>
      </p:pic>
      <p:sp>
        <p:nvSpPr>
          <p:cNvPr id="110" name="Text 64"/>
          <p:cNvSpPr/>
          <p:nvPr/>
        </p:nvSpPr>
        <p:spPr>
          <a:xfrm>
            <a:off x="4876401" y="3444995"/>
            <a:ext cx="1115239" cy="76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95" b="1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通信网络（5G / 星闪 / 光纤）</a:t>
            </a:r>
            <a:endParaRPr lang="en-US" sz="495" dirty="0"/>
          </a:p>
        </p:txBody>
      </p:sp>
      <p:sp>
        <p:nvSpPr>
          <p:cNvPr id="111" name="Text 65"/>
          <p:cNvSpPr/>
          <p:nvPr/>
        </p:nvSpPr>
        <p:spPr>
          <a:xfrm>
            <a:off x="6338693" y="3444995"/>
            <a:ext cx="1131402" cy="76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95" b="1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智能设备交互协议（米家 / 鸿蒙）</a:t>
            </a:r>
            <a:endParaRPr lang="en-US" sz="495" dirty="0"/>
          </a:p>
        </p:txBody>
      </p:sp>
      <p:pic>
        <p:nvPicPr>
          <p:cNvPr id="112" name="Image 44" descr="preencoded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1633499" y="3687438"/>
            <a:ext cx="6038632" cy="808144"/>
          </a:xfrm>
          <a:prstGeom prst="rect">
            <a:avLst/>
          </a:prstGeom>
        </p:spPr>
      </p:pic>
      <p:pic>
        <p:nvPicPr>
          <p:cNvPr id="113" name="Image 45" descr="preencoded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700844" y="3732335"/>
            <a:ext cx="5903941" cy="359175"/>
          </a:xfrm>
          <a:prstGeom prst="rect">
            <a:avLst/>
          </a:prstGeom>
        </p:spPr>
      </p:pic>
      <p:sp>
        <p:nvSpPr>
          <p:cNvPr id="114" name="Text 66"/>
          <p:cNvSpPr/>
          <p:nvPr/>
        </p:nvSpPr>
        <p:spPr>
          <a:xfrm>
            <a:off x="4529348" y="3754783"/>
            <a:ext cx="242443" cy="80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30" b="1" dirty="0">
                <a:solidFill>
                  <a:srgbClr val="553C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智能体</a:t>
            </a:r>
            <a:endParaRPr lang="en-US" sz="530" dirty="0"/>
          </a:p>
        </p:txBody>
      </p:sp>
      <p:pic>
        <p:nvPicPr>
          <p:cNvPr id="115" name="Image 46" descr="preencoded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1723292" y="3862536"/>
            <a:ext cx="808144" cy="197546"/>
          </a:xfrm>
          <a:prstGeom prst="rect">
            <a:avLst/>
          </a:prstGeom>
        </p:spPr>
      </p:pic>
      <p:sp>
        <p:nvSpPr>
          <p:cNvPr id="116" name="Text 67"/>
          <p:cNvSpPr/>
          <p:nvPr/>
        </p:nvSpPr>
        <p:spPr>
          <a:xfrm>
            <a:off x="1952266" y="3889474"/>
            <a:ext cx="350196" cy="71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7B34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熠序智能体</a:t>
            </a:r>
            <a:endParaRPr lang="en-US" sz="460" dirty="0"/>
          </a:p>
        </p:txBody>
      </p:sp>
      <p:sp>
        <p:nvSpPr>
          <p:cNvPr id="117" name="Text 68"/>
          <p:cNvSpPr/>
          <p:nvPr/>
        </p:nvSpPr>
        <p:spPr>
          <a:xfrm>
            <a:off x="1957654" y="3965798"/>
            <a:ext cx="339420" cy="67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24" dirty="0">
                <a:solidFill>
                  <a:srgbClr val="7B34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NovoAgent</a:t>
            </a:r>
            <a:endParaRPr lang="en-US" sz="424" dirty="0"/>
          </a:p>
        </p:txBody>
      </p:sp>
      <p:pic>
        <p:nvPicPr>
          <p:cNvPr id="118" name="Image 47" descr="preencoded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2733472" y="3862536"/>
            <a:ext cx="808144" cy="197546"/>
          </a:xfrm>
          <a:prstGeom prst="rect">
            <a:avLst/>
          </a:prstGeom>
        </p:spPr>
      </p:pic>
      <p:sp>
        <p:nvSpPr>
          <p:cNvPr id="119" name="Text 69"/>
          <p:cNvSpPr/>
          <p:nvPr/>
        </p:nvSpPr>
        <p:spPr>
          <a:xfrm>
            <a:off x="2959753" y="3889474"/>
            <a:ext cx="355583" cy="71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智谱 / KIMI</a:t>
            </a:r>
            <a:endParaRPr lang="en-US" sz="460" dirty="0"/>
          </a:p>
        </p:txBody>
      </p:sp>
      <p:sp>
        <p:nvSpPr>
          <p:cNvPr id="120" name="Text 70"/>
          <p:cNvSpPr/>
          <p:nvPr/>
        </p:nvSpPr>
        <p:spPr>
          <a:xfrm>
            <a:off x="2975916" y="3965798"/>
            <a:ext cx="323258" cy="67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2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大厂智能体</a:t>
            </a:r>
            <a:endParaRPr lang="en-US" sz="424" dirty="0"/>
          </a:p>
        </p:txBody>
      </p:sp>
      <p:pic>
        <p:nvPicPr>
          <p:cNvPr id="121" name="Image 48" descr="preencoded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3743652" y="3862536"/>
            <a:ext cx="808144" cy="197546"/>
          </a:xfrm>
          <a:prstGeom prst="rect">
            <a:avLst/>
          </a:prstGeom>
        </p:spPr>
      </p:pic>
      <p:sp>
        <p:nvSpPr>
          <p:cNvPr id="122" name="Text 71"/>
          <p:cNvSpPr/>
          <p:nvPr/>
        </p:nvSpPr>
        <p:spPr>
          <a:xfrm>
            <a:off x="3921444" y="3889474"/>
            <a:ext cx="452561" cy="71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/ GPT</a:t>
            </a:r>
            <a:endParaRPr lang="en-US" sz="460" dirty="0"/>
          </a:p>
        </p:txBody>
      </p:sp>
      <p:sp>
        <p:nvSpPr>
          <p:cNvPr id="123" name="Text 72"/>
          <p:cNvSpPr/>
          <p:nvPr/>
        </p:nvSpPr>
        <p:spPr>
          <a:xfrm>
            <a:off x="3986096" y="3965798"/>
            <a:ext cx="323258" cy="67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2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海外智能体</a:t>
            </a:r>
            <a:endParaRPr lang="en-US" sz="424" dirty="0"/>
          </a:p>
        </p:txBody>
      </p:sp>
      <p:pic>
        <p:nvPicPr>
          <p:cNvPr id="124" name="Image 49" descr="preencoded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4753832" y="3862536"/>
            <a:ext cx="808144" cy="197546"/>
          </a:xfrm>
          <a:prstGeom prst="rect">
            <a:avLst/>
          </a:prstGeom>
        </p:spPr>
      </p:pic>
      <p:sp>
        <p:nvSpPr>
          <p:cNvPr id="125" name="Text 73"/>
          <p:cNvSpPr/>
          <p:nvPr/>
        </p:nvSpPr>
        <p:spPr>
          <a:xfrm>
            <a:off x="4982807" y="3889474"/>
            <a:ext cx="350196" cy="71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行业智能体</a:t>
            </a:r>
            <a:endParaRPr lang="en-US" sz="460" dirty="0"/>
          </a:p>
        </p:txBody>
      </p:sp>
      <p:sp>
        <p:nvSpPr>
          <p:cNvPr id="126" name="Text 74"/>
          <p:cNvSpPr/>
          <p:nvPr/>
        </p:nvSpPr>
        <p:spPr>
          <a:xfrm>
            <a:off x="4904237" y="3965798"/>
            <a:ext cx="511825" cy="67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2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通信 / 能源 / 金融 </a:t>
            </a:r>
            <a:endParaRPr lang="en-US" sz="424" dirty="0"/>
          </a:p>
        </p:txBody>
      </p:sp>
      <p:pic>
        <p:nvPicPr>
          <p:cNvPr id="127" name="Image 50" descr="preencoded.png">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5764012" y="3862536"/>
            <a:ext cx="808144" cy="197546"/>
          </a:xfrm>
          <a:prstGeom prst="rect">
            <a:avLst/>
          </a:prstGeom>
        </p:spPr>
      </p:pic>
      <p:sp>
        <p:nvSpPr>
          <p:cNvPr id="128" name="Text 75"/>
          <p:cNvSpPr/>
          <p:nvPr/>
        </p:nvSpPr>
        <p:spPr>
          <a:xfrm>
            <a:off x="6025761" y="3889474"/>
            <a:ext cx="280157" cy="71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数字员工</a:t>
            </a:r>
            <a:endParaRPr lang="en-US" sz="460" dirty="0"/>
          </a:p>
        </p:txBody>
      </p:sp>
      <p:sp>
        <p:nvSpPr>
          <p:cNvPr id="129" name="Text 76"/>
          <p:cNvSpPr/>
          <p:nvPr/>
        </p:nvSpPr>
        <p:spPr>
          <a:xfrm>
            <a:off x="6006456" y="3965798"/>
            <a:ext cx="323258" cy="67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2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提效 / 赋能</a:t>
            </a:r>
            <a:endParaRPr lang="en-US" sz="424" dirty="0"/>
          </a:p>
        </p:txBody>
      </p:sp>
      <p:pic>
        <p:nvPicPr>
          <p:cNvPr id="130" name="Image 51" descr="preencoded.png">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6774192" y="3862536"/>
            <a:ext cx="808144" cy="197546"/>
          </a:xfrm>
          <a:prstGeom prst="rect">
            <a:avLst/>
          </a:prstGeom>
        </p:spPr>
      </p:pic>
      <p:sp>
        <p:nvSpPr>
          <p:cNvPr id="131" name="Text 77"/>
          <p:cNvSpPr/>
          <p:nvPr/>
        </p:nvSpPr>
        <p:spPr>
          <a:xfrm>
            <a:off x="6968147" y="3889474"/>
            <a:ext cx="420235" cy="71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移动端智能体</a:t>
            </a:r>
            <a:endParaRPr lang="en-US" sz="460" dirty="0"/>
          </a:p>
        </p:txBody>
      </p:sp>
      <p:sp>
        <p:nvSpPr>
          <p:cNvPr id="132" name="Text 78"/>
          <p:cNvSpPr/>
          <p:nvPr/>
        </p:nvSpPr>
        <p:spPr>
          <a:xfrm>
            <a:off x="6989698" y="3965798"/>
            <a:ext cx="377134" cy="67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2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 / 小程序</a:t>
            </a:r>
            <a:endParaRPr lang="en-US" sz="424" dirty="0"/>
          </a:p>
        </p:txBody>
      </p:sp>
      <p:pic>
        <p:nvPicPr>
          <p:cNvPr id="133" name="Image 52" descr="preencoded.png">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1700844" y="4127427"/>
            <a:ext cx="5903941" cy="341216"/>
          </a:xfrm>
          <a:prstGeom prst="rect">
            <a:avLst/>
          </a:prstGeom>
        </p:spPr>
      </p:pic>
      <p:sp>
        <p:nvSpPr>
          <p:cNvPr id="134" name="Text 79"/>
          <p:cNvSpPr/>
          <p:nvPr/>
        </p:nvSpPr>
        <p:spPr>
          <a:xfrm>
            <a:off x="4488941" y="4149876"/>
            <a:ext cx="323258" cy="80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30" b="1" dirty="0">
                <a:solidFill>
                  <a:srgbClr val="553C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智能设备</a:t>
            </a:r>
            <a:endParaRPr lang="en-US" sz="530" dirty="0"/>
          </a:p>
        </p:txBody>
      </p:sp>
      <p:pic>
        <p:nvPicPr>
          <p:cNvPr id="135" name="Image 53" descr="preencoded.png">    </p:cNvPr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1723292" y="4262118"/>
            <a:ext cx="930291" cy="179588"/>
          </a:xfrm>
          <a:prstGeom prst="rect">
            <a:avLst/>
          </a:prstGeom>
        </p:spPr>
      </p:pic>
      <p:sp>
        <p:nvSpPr>
          <p:cNvPr id="136" name="Text 80"/>
          <p:cNvSpPr/>
          <p:nvPr/>
        </p:nvSpPr>
        <p:spPr>
          <a:xfrm>
            <a:off x="1946920" y="4315994"/>
            <a:ext cx="483036" cy="71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摄像头 / 传感器</a:t>
            </a:r>
            <a:endParaRPr lang="en-US" sz="460" dirty="0"/>
          </a:p>
        </p:txBody>
      </p:sp>
      <p:pic>
        <p:nvPicPr>
          <p:cNvPr id="137" name="Image 54" descr="preencoded.png">    </p:cNvPr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2698309" y="4262118"/>
            <a:ext cx="930291" cy="179588"/>
          </a:xfrm>
          <a:prstGeom prst="rect">
            <a:avLst/>
          </a:prstGeom>
        </p:spPr>
      </p:pic>
      <p:sp>
        <p:nvSpPr>
          <p:cNvPr id="138" name="Text 81"/>
          <p:cNvSpPr/>
          <p:nvPr/>
        </p:nvSpPr>
        <p:spPr>
          <a:xfrm>
            <a:off x="2887052" y="4315994"/>
            <a:ext cx="552808" cy="71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控制器 / 工业设备</a:t>
            </a:r>
            <a:endParaRPr lang="en-US" sz="460" dirty="0"/>
          </a:p>
        </p:txBody>
      </p:sp>
      <p:pic>
        <p:nvPicPr>
          <p:cNvPr id="139" name="Image 55" descr="preencoded.png">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3673326" y="4262118"/>
            <a:ext cx="930291" cy="179588"/>
          </a:xfrm>
          <a:prstGeom prst="rect">
            <a:avLst/>
          </a:prstGeom>
        </p:spPr>
      </p:pic>
      <p:sp>
        <p:nvSpPr>
          <p:cNvPr id="140" name="Text 82"/>
          <p:cNvSpPr/>
          <p:nvPr/>
        </p:nvSpPr>
        <p:spPr>
          <a:xfrm>
            <a:off x="3918420" y="4315994"/>
            <a:ext cx="440099" cy="71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移动设备 / PC</a:t>
            </a:r>
            <a:endParaRPr lang="en-US" sz="460" dirty="0"/>
          </a:p>
        </p:txBody>
      </p:sp>
      <p:pic>
        <p:nvPicPr>
          <p:cNvPr id="141" name="Image 56" descr="preencoded.png">    </p:cNvPr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4648342" y="4262118"/>
            <a:ext cx="930291" cy="179588"/>
          </a:xfrm>
          <a:prstGeom prst="rect">
            <a:avLst/>
          </a:prstGeom>
        </p:spPr>
      </p:pic>
      <p:sp>
        <p:nvSpPr>
          <p:cNvPr id="142" name="Text 83"/>
          <p:cNvSpPr/>
          <p:nvPr/>
        </p:nvSpPr>
        <p:spPr>
          <a:xfrm>
            <a:off x="4837085" y="4315994"/>
            <a:ext cx="552808" cy="71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服务器 / 边缘节点</a:t>
            </a:r>
            <a:endParaRPr lang="en-US" sz="460" dirty="0"/>
          </a:p>
        </p:txBody>
      </p:sp>
      <p:pic>
        <p:nvPicPr>
          <p:cNvPr id="143" name="Image 57" descr="preencoded.png">    </p:cNvPr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5623359" y="4262118"/>
            <a:ext cx="930291" cy="179588"/>
          </a:xfrm>
          <a:prstGeom prst="rect">
            <a:avLst/>
          </a:prstGeom>
        </p:spPr>
      </p:pic>
      <p:sp>
        <p:nvSpPr>
          <p:cNvPr id="144" name="Text 84"/>
          <p:cNvSpPr/>
          <p:nvPr/>
        </p:nvSpPr>
        <p:spPr>
          <a:xfrm>
            <a:off x="5898703" y="4315994"/>
            <a:ext cx="377134" cy="71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算力中心</a:t>
            </a:r>
            <a:endParaRPr lang="en-US" sz="460" dirty="0"/>
          </a:p>
        </p:txBody>
      </p:sp>
      <p:pic>
        <p:nvPicPr>
          <p:cNvPr id="145" name="Image 58" descr="preencoded.png">    </p:cNvPr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6598376" y="4262118"/>
            <a:ext cx="983962" cy="179588"/>
          </a:xfrm>
          <a:prstGeom prst="rect">
            <a:avLst/>
          </a:prstGeom>
        </p:spPr>
      </p:pic>
      <p:sp>
        <p:nvSpPr>
          <p:cNvPr id="146" name="Text 85"/>
          <p:cNvSpPr/>
          <p:nvPr/>
        </p:nvSpPr>
        <p:spPr>
          <a:xfrm>
            <a:off x="6822681" y="4315994"/>
            <a:ext cx="549538" cy="71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各类智能终端</a:t>
            </a:r>
            <a:endParaRPr lang="en-US" sz="460" dirty="0"/>
          </a:p>
        </p:txBody>
      </p:sp>
      <p:sp>
        <p:nvSpPr>
          <p:cNvPr id="147" name="Shape 86"/>
          <p:cNvSpPr/>
          <p:nvPr/>
        </p:nvSpPr>
        <p:spPr>
          <a:xfrm>
            <a:off x="7856208" y="2690727"/>
            <a:ext cx="525294" cy="134691"/>
          </a:xfrm>
          <a:prstGeom prst="roundRect">
            <a:avLst>
              <a:gd name="adj" fmla="val 26667"/>
            </a:avLst>
          </a:prstGeom>
          <a:solidFill>
            <a:srgbClr val="FFFFFF">
              <a:alpha val="0"/>
            </a:srgbClr>
          </a:solidFill>
          <a:ln w="4490">
            <a:solidFill>
              <a:srgbClr val="ACA1A1"/>
            </a:solidFill>
            <a:prstDash val="solid"/>
          </a:ln>
        </p:spPr>
      </p:sp>
      <p:sp>
        <p:nvSpPr>
          <p:cNvPr id="148" name="Shape 87"/>
          <p:cNvSpPr/>
          <p:nvPr/>
        </p:nvSpPr>
        <p:spPr>
          <a:xfrm>
            <a:off x="7856208" y="2906232"/>
            <a:ext cx="525294" cy="134691"/>
          </a:xfrm>
          <a:prstGeom prst="roundRect">
            <a:avLst>
              <a:gd name="adj" fmla="val 26667"/>
            </a:avLst>
          </a:prstGeom>
          <a:solidFill>
            <a:srgbClr val="FFFFFF">
              <a:alpha val="0"/>
            </a:srgbClr>
          </a:solidFill>
          <a:ln w="4490">
            <a:solidFill>
              <a:srgbClr val="ACA1A1"/>
            </a:solidFill>
            <a:prstDash val="solid"/>
          </a:ln>
        </p:spPr>
      </p:sp>
      <p:sp>
        <p:nvSpPr>
          <p:cNvPr id="149" name="Shape 88"/>
          <p:cNvSpPr/>
          <p:nvPr/>
        </p:nvSpPr>
        <p:spPr>
          <a:xfrm>
            <a:off x="7856208" y="3121737"/>
            <a:ext cx="525294" cy="134691"/>
          </a:xfrm>
          <a:prstGeom prst="roundRect">
            <a:avLst>
              <a:gd name="adj" fmla="val 26667"/>
            </a:avLst>
          </a:prstGeom>
          <a:solidFill>
            <a:srgbClr val="FFFFFF">
              <a:alpha val="0"/>
            </a:srgbClr>
          </a:solidFill>
          <a:ln w="4490">
            <a:solidFill>
              <a:srgbClr val="ACA1A1"/>
            </a:solidFill>
            <a:prstDash val="solid"/>
          </a:ln>
        </p:spPr>
      </p:sp>
      <p:sp>
        <p:nvSpPr>
          <p:cNvPr id="150" name="Text 89"/>
          <p:cNvSpPr/>
          <p:nvPr/>
        </p:nvSpPr>
        <p:spPr>
          <a:xfrm>
            <a:off x="7985960" y="2713175"/>
            <a:ext cx="274769" cy="76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95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合规</a:t>
            </a:r>
            <a:endParaRPr lang="en-US" sz="495" dirty="0"/>
          </a:p>
        </p:txBody>
      </p:sp>
      <p:sp>
        <p:nvSpPr>
          <p:cNvPr id="151" name="Text 90"/>
          <p:cNvSpPr/>
          <p:nvPr/>
        </p:nvSpPr>
        <p:spPr>
          <a:xfrm>
            <a:off x="7985960" y="2928680"/>
            <a:ext cx="274769" cy="76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95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监管</a:t>
            </a:r>
            <a:endParaRPr lang="en-US" sz="495" dirty="0"/>
          </a:p>
        </p:txBody>
      </p:sp>
      <p:sp>
        <p:nvSpPr>
          <p:cNvPr id="152" name="Text 91"/>
          <p:cNvSpPr/>
          <p:nvPr/>
        </p:nvSpPr>
        <p:spPr>
          <a:xfrm>
            <a:off x="7985960" y="3144185"/>
            <a:ext cx="274769" cy="76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95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治理</a:t>
            </a:r>
            <a:endParaRPr lang="en-US" sz="495" dirty="0"/>
          </a:p>
        </p:txBody>
      </p:sp>
      <p:pic>
        <p:nvPicPr>
          <p:cNvPr id="153" name="Image 59" descr="preencoded.png">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6926842" y="728733"/>
            <a:ext cx="314278" cy="103263"/>
          </a:xfrm>
          <a:prstGeom prst="rect">
            <a:avLst/>
          </a:prstGeom>
        </p:spPr>
      </p:pic>
      <p:pic>
        <p:nvPicPr>
          <p:cNvPr id="154" name="Image 60" descr="preencoded.png">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6271347" y="2026253"/>
            <a:ext cx="1257113" cy="224849"/>
          </a:xfrm>
          <a:prstGeom prst="rect">
            <a:avLst/>
          </a:prstGeom>
        </p:spPr>
      </p:pic>
      <p:sp>
        <p:nvSpPr>
          <p:cNvPr id="155" name="Text 92"/>
          <p:cNvSpPr/>
          <p:nvPr/>
        </p:nvSpPr>
        <p:spPr>
          <a:xfrm>
            <a:off x="6635910" y="2106559"/>
            <a:ext cx="527987" cy="68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95" b="1" dirty="0">
                <a:solidFill>
                  <a:srgbClr val="553C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智能体数字身份</a:t>
            </a:r>
            <a:endParaRPr lang="en-US" sz="495" dirty="0"/>
          </a:p>
        </p:txBody>
      </p:sp>
      <p:pic>
        <p:nvPicPr>
          <p:cNvPr id="156" name="Image 61" descr="preencoded.png">    </p:cNvPr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6271347" y="2309467"/>
            <a:ext cx="1257113" cy="224849"/>
          </a:xfrm>
          <a:prstGeom prst="rect">
            <a:avLst/>
          </a:prstGeom>
        </p:spPr>
      </p:pic>
      <p:sp>
        <p:nvSpPr>
          <p:cNvPr id="157" name="Text 93"/>
          <p:cNvSpPr/>
          <p:nvPr/>
        </p:nvSpPr>
        <p:spPr>
          <a:xfrm>
            <a:off x="6635910" y="2389769"/>
            <a:ext cx="527987" cy="68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95" b="1" dirty="0">
                <a:solidFill>
                  <a:srgbClr val="553C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智能体信用评级</a:t>
            </a:r>
            <a:endParaRPr lang="en-US" sz="495" dirty="0"/>
          </a:p>
        </p:txBody>
      </p:sp>
      <p:pic>
        <p:nvPicPr>
          <p:cNvPr id="158" name="Image 62" descr="preencoded.png">    </p:cNvPr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6271347" y="2592681"/>
            <a:ext cx="1257113" cy="224849"/>
          </a:xfrm>
          <a:prstGeom prst="rect">
            <a:avLst/>
          </a:prstGeom>
        </p:spPr>
      </p:pic>
      <p:sp>
        <p:nvSpPr>
          <p:cNvPr id="159" name="Text 94"/>
          <p:cNvSpPr/>
          <p:nvPr/>
        </p:nvSpPr>
        <p:spPr>
          <a:xfrm>
            <a:off x="6635910" y="2672985"/>
            <a:ext cx="527987" cy="68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95" b="1" dirty="0">
                <a:solidFill>
                  <a:srgbClr val="553C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分布式协同认证</a:t>
            </a:r>
            <a:endParaRPr lang="en-US" sz="495" dirty="0"/>
          </a:p>
        </p:txBody>
      </p:sp>
      <p:pic>
        <p:nvPicPr>
          <p:cNvPr id="160" name="Image 63" descr="preencoded.png">    </p:cNvPr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6271347" y="2875900"/>
            <a:ext cx="1257113" cy="240910"/>
          </a:xfrm>
          <a:prstGeom prst="rect">
            <a:avLst/>
          </a:prstGeom>
        </p:spPr>
      </p:pic>
      <p:sp>
        <p:nvSpPr>
          <p:cNvPr id="161" name="Text 95"/>
          <p:cNvSpPr/>
          <p:nvPr/>
        </p:nvSpPr>
        <p:spPr>
          <a:xfrm>
            <a:off x="6635910" y="2964234"/>
            <a:ext cx="527987" cy="68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95" b="1" dirty="0">
                <a:solidFill>
                  <a:srgbClr val="553C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模块化生态治理</a:t>
            </a:r>
            <a:endParaRPr lang="en-US" sz="49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智能体健康运营体系架构 3</dc:title>
  <dc:subject>由 Figma Frame 转换生成</dc:subject>
  <dc:creator>Frame2PPT</dc:creator>
  <cp:lastModifiedBy>Frame2PPT</cp:lastModifiedBy>
  <cp:revision>1</cp:revision>
  <dcterms:created xsi:type="dcterms:W3CDTF">2026-08-12T12:36:30Z</dcterms:created>
  <dcterms:modified xsi:type="dcterms:W3CDTF">2026-08-12T12:36:30Z</dcterms:modified>
</cp:coreProperties>
</file>